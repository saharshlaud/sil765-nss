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3"/>
  </p:sldMasterIdLst>
  <p:notesMasterIdLst>
    <p:notesMasterId r:id="rId66"/>
  </p:notesMasterIdLst>
  <p:handoutMasterIdLst>
    <p:handoutMasterId r:id="rId67"/>
  </p:handoutMasterIdLst>
  <p:sldIdLst>
    <p:sldId id="320" r:id="rId4"/>
    <p:sldId id="370" r:id="rId5"/>
    <p:sldId id="371" r:id="rId6"/>
    <p:sldId id="350" r:id="rId7"/>
    <p:sldId id="390" r:id="rId8"/>
    <p:sldId id="372" r:id="rId9"/>
    <p:sldId id="373" r:id="rId10"/>
    <p:sldId id="324" r:id="rId11"/>
    <p:sldId id="326" r:id="rId12"/>
    <p:sldId id="327" r:id="rId13"/>
    <p:sldId id="328" r:id="rId14"/>
    <p:sldId id="256" r:id="rId15"/>
    <p:sldId id="257" r:id="rId16"/>
    <p:sldId id="269" r:id="rId17"/>
    <p:sldId id="267" r:id="rId18"/>
    <p:sldId id="258" r:id="rId19"/>
    <p:sldId id="268" r:id="rId20"/>
    <p:sldId id="266" r:id="rId21"/>
    <p:sldId id="259" r:id="rId22"/>
    <p:sldId id="260" r:id="rId23"/>
    <p:sldId id="262" r:id="rId24"/>
    <p:sldId id="263" r:id="rId25"/>
    <p:sldId id="264" r:id="rId26"/>
    <p:sldId id="270" r:id="rId27"/>
    <p:sldId id="261" r:id="rId28"/>
    <p:sldId id="386" r:id="rId29"/>
    <p:sldId id="378" r:id="rId30"/>
    <p:sldId id="379" r:id="rId31"/>
    <p:sldId id="380" r:id="rId32"/>
    <p:sldId id="381" r:id="rId33"/>
    <p:sldId id="387" r:id="rId34"/>
    <p:sldId id="382" r:id="rId35"/>
    <p:sldId id="383" r:id="rId36"/>
    <p:sldId id="384" r:id="rId37"/>
    <p:sldId id="385" r:id="rId38"/>
    <p:sldId id="362" r:id="rId39"/>
    <p:sldId id="338" r:id="rId40"/>
    <p:sldId id="340" r:id="rId41"/>
    <p:sldId id="339" r:id="rId42"/>
    <p:sldId id="352" r:id="rId43"/>
    <p:sldId id="354" r:id="rId44"/>
    <p:sldId id="353" r:id="rId45"/>
    <p:sldId id="342" r:id="rId46"/>
    <p:sldId id="344" r:id="rId47"/>
    <p:sldId id="348" r:id="rId48"/>
    <p:sldId id="363" r:id="rId49"/>
    <p:sldId id="388" r:id="rId50"/>
    <p:sldId id="389" r:id="rId51"/>
    <p:sldId id="365" r:id="rId52"/>
    <p:sldId id="368" r:id="rId53"/>
    <p:sldId id="369" r:id="rId54"/>
    <p:sldId id="377" r:id="rId55"/>
    <p:sldId id="358" r:id="rId56"/>
    <p:sldId id="375" r:id="rId57"/>
    <p:sldId id="376" r:id="rId58"/>
    <p:sldId id="360" r:id="rId59"/>
    <p:sldId id="359" r:id="rId60"/>
    <p:sldId id="355" r:id="rId61"/>
    <p:sldId id="356" r:id="rId62"/>
    <p:sldId id="357" r:id="rId63"/>
    <p:sldId id="349" r:id="rId64"/>
    <p:sldId id="374" r:id="rId6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mn-ea"/>
        <a:cs typeface="+mn-cs"/>
      </a:defRPr>
    </a:lvl5pPr>
    <a:lvl6pPr marL="2286000" algn="l" defTabSz="914400" rtl="0" eaLnBrk="1" latinLnBrk="0" hangingPunct="1">
      <a:defRPr kern="1200">
        <a:solidFill>
          <a:schemeClr val="tx1"/>
        </a:solidFill>
        <a:latin typeface="Times New Roman" panose="02020603050405020304" pitchFamily="18" charset="0"/>
        <a:ea typeface="+mn-ea"/>
        <a:cs typeface="+mn-cs"/>
      </a:defRPr>
    </a:lvl6pPr>
    <a:lvl7pPr marL="2743200" algn="l" defTabSz="914400" rtl="0" eaLnBrk="1" latinLnBrk="0" hangingPunct="1">
      <a:defRPr kern="1200">
        <a:solidFill>
          <a:schemeClr val="tx1"/>
        </a:solidFill>
        <a:latin typeface="Times New Roman" panose="02020603050405020304" pitchFamily="18" charset="0"/>
        <a:ea typeface="+mn-ea"/>
        <a:cs typeface="+mn-cs"/>
      </a:defRPr>
    </a:lvl7pPr>
    <a:lvl8pPr marL="3200400" algn="l" defTabSz="914400" rtl="0" eaLnBrk="1" latinLnBrk="0" hangingPunct="1">
      <a:defRPr kern="1200">
        <a:solidFill>
          <a:schemeClr val="tx1"/>
        </a:solidFill>
        <a:latin typeface="Times New Roman" panose="02020603050405020304" pitchFamily="18" charset="0"/>
        <a:ea typeface="+mn-ea"/>
        <a:cs typeface="+mn-cs"/>
      </a:defRPr>
    </a:lvl8pPr>
    <a:lvl9pPr marL="3657600" algn="l" defTabSz="914400" rtl="0" eaLnBrk="1" latinLnBrk="0" hangingPunct="1">
      <a:defRPr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63" autoAdjust="0"/>
    <p:restoredTop sz="82313" autoAdjust="0"/>
  </p:normalViewPr>
  <p:slideViewPr>
    <p:cSldViewPr snapToGrid="0">
      <p:cViewPr varScale="1">
        <p:scale>
          <a:sx n="70" d="100"/>
          <a:sy n="70" d="100"/>
        </p:scale>
        <p:origin x="181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376"/>
    </p:cViewPr>
  </p:sorterViewPr>
  <p:notesViewPr>
    <p:cSldViewPr snapToGrid="0">
      <p:cViewPr varScale="1">
        <p:scale>
          <a:sx n="46" d="100"/>
          <a:sy n="46" d="100"/>
        </p:scale>
        <p:origin x="-1464" y="-8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C01325A4-ACAB-AA88-1D41-FF025D193C26}"/>
              </a:ext>
            </a:extLst>
          </p:cNvPr>
          <p:cNvSpPr>
            <a:spLocks noGrp="1" noChangeArrowheads="1"/>
          </p:cNvSpPr>
          <p:nvPr>
            <p:ph type="hdr" sz="quarter"/>
          </p:nvPr>
        </p:nvSpPr>
        <p:spPr bwMode="auto">
          <a:xfrm>
            <a:off x="0" y="0"/>
            <a:ext cx="2971800" cy="454025"/>
          </a:xfrm>
          <a:prstGeom prst="rect">
            <a:avLst/>
          </a:prstGeom>
          <a:noFill/>
          <a:ln w="9525">
            <a:noFill/>
            <a:miter lim="800000"/>
            <a:headEnd/>
            <a:tailEnd/>
          </a:ln>
          <a:effectLst/>
        </p:spPr>
        <p:txBody>
          <a:bodyPr vert="horz" wrap="square" lIns="91415" tIns="45708" rIns="91415" bIns="45708" numCol="1" anchor="t" anchorCtr="0" compatLnSpc="1">
            <a:prstTxWarp prst="textNoShape">
              <a:avLst/>
            </a:prstTxWarp>
          </a:bodyPr>
          <a:lstStyle>
            <a:lvl1pPr>
              <a:defRPr sz="1200">
                <a:effectLst>
                  <a:outerShdw blurRad="38100" dist="38100" dir="2700000" algn="tl">
                    <a:srgbClr val="C0C0C0"/>
                  </a:outerShdw>
                </a:effectLst>
              </a:defRPr>
            </a:lvl1pPr>
          </a:lstStyle>
          <a:p>
            <a:pPr>
              <a:defRPr/>
            </a:pPr>
            <a:endParaRPr lang="en-US"/>
          </a:p>
        </p:txBody>
      </p:sp>
      <p:sp>
        <p:nvSpPr>
          <p:cNvPr id="48131" name="Rectangle 3">
            <a:extLst>
              <a:ext uri="{FF2B5EF4-FFF2-40B4-BE49-F238E27FC236}">
                <a16:creationId xmlns:a16="http://schemas.microsoft.com/office/drawing/2014/main" id="{C0CB75BF-FB17-8CD7-754B-21F40D00477E}"/>
              </a:ext>
            </a:extLst>
          </p:cNvPr>
          <p:cNvSpPr>
            <a:spLocks noGrp="1" noChangeArrowheads="1"/>
          </p:cNvSpPr>
          <p:nvPr>
            <p:ph type="dt" sz="quarter" idx="1"/>
          </p:nvPr>
        </p:nvSpPr>
        <p:spPr bwMode="auto">
          <a:xfrm>
            <a:off x="3886200" y="0"/>
            <a:ext cx="2971800" cy="454025"/>
          </a:xfrm>
          <a:prstGeom prst="rect">
            <a:avLst/>
          </a:prstGeom>
          <a:noFill/>
          <a:ln w="9525">
            <a:noFill/>
            <a:miter lim="800000"/>
            <a:headEnd/>
            <a:tailEnd/>
          </a:ln>
          <a:effectLst/>
        </p:spPr>
        <p:txBody>
          <a:bodyPr vert="horz" wrap="square" lIns="91415" tIns="45708" rIns="91415" bIns="45708" numCol="1" anchor="t" anchorCtr="0" compatLnSpc="1">
            <a:prstTxWarp prst="textNoShape">
              <a:avLst/>
            </a:prstTxWarp>
          </a:bodyPr>
          <a:lstStyle>
            <a:lvl1pPr algn="r">
              <a:defRPr sz="1200">
                <a:effectLst>
                  <a:outerShdw blurRad="38100" dist="38100" dir="2700000" algn="tl">
                    <a:srgbClr val="C0C0C0"/>
                  </a:outerShdw>
                </a:effectLst>
              </a:defRPr>
            </a:lvl1pPr>
          </a:lstStyle>
          <a:p>
            <a:pPr>
              <a:defRPr/>
            </a:pPr>
            <a:endParaRPr lang="en-US"/>
          </a:p>
        </p:txBody>
      </p:sp>
      <p:sp>
        <p:nvSpPr>
          <p:cNvPr id="48132" name="Rectangle 4">
            <a:extLst>
              <a:ext uri="{FF2B5EF4-FFF2-40B4-BE49-F238E27FC236}">
                <a16:creationId xmlns:a16="http://schemas.microsoft.com/office/drawing/2014/main" id="{14736F64-8A5D-E750-A38E-242039E83873}"/>
              </a:ext>
            </a:extLst>
          </p:cNvPr>
          <p:cNvSpPr>
            <a:spLocks noGrp="1" noChangeArrowheads="1"/>
          </p:cNvSpPr>
          <p:nvPr>
            <p:ph type="ftr" sz="quarter" idx="2"/>
          </p:nvPr>
        </p:nvSpPr>
        <p:spPr bwMode="auto">
          <a:xfrm>
            <a:off x="0" y="8689975"/>
            <a:ext cx="2971800" cy="454025"/>
          </a:xfrm>
          <a:prstGeom prst="rect">
            <a:avLst/>
          </a:prstGeom>
          <a:noFill/>
          <a:ln w="9525">
            <a:noFill/>
            <a:miter lim="800000"/>
            <a:headEnd/>
            <a:tailEnd/>
          </a:ln>
          <a:effectLst/>
        </p:spPr>
        <p:txBody>
          <a:bodyPr vert="horz" wrap="square" lIns="91415" tIns="45708" rIns="91415" bIns="45708" numCol="1" anchor="b" anchorCtr="0" compatLnSpc="1">
            <a:prstTxWarp prst="textNoShape">
              <a:avLst/>
            </a:prstTxWarp>
          </a:bodyPr>
          <a:lstStyle>
            <a:lvl1pPr>
              <a:defRPr sz="1200">
                <a:effectLst>
                  <a:outerShdw blurRad="38100" dist="38100" dir="2700000" algn="tl">
                    <a:srgbClr val="C0C0C0"/>
                  </a:outerShdw>
                </a:effectLst>
              </a:defRPr>
            </a:lvl1pPr>
          </a:lstStyle>
          <a:p>
            <a:pPr>
              <a:defRPr/>
            </a:pPr>
            <a:endParaRPr lang="en-US"/>
          </a:p>
        </p:txBody>
      </p:sp>
      <p:sp>
        <p:nvSpPr>
          <p:cNvPr id="48133" name="Rectangle 5">
            <a:extLst>
              <a:ext uri="{FF2B5EF4-FFF2-40B4-BE49-F238E27FC236}">
                <a16:creationId xmlns:a16="http://schemas.microsoft.com/office/drawing/2014/main" id="{7ADDCE40-65FE-6339-675B-010FE7FBB6EF}"/>
              </a:ext>
            </a:extLst>
          </p:cNvPr>
          <p:cNvSpPr>
            <a:spLocks noGrp="1" noChangeArrowheads="1"/>
          </p:cNvSpPr>
          <p:nvPr>
            <p:ph type="sldNum" sz="quarter" idx="3"/>
          </p:nvPr>
        </p:nvSpPr>
        <p:spPr bwMode="auto">
          <a:xfrm>
            <a:off x="3886200" y="8689975"/>
            <a:ext cx="2971800" cy="454025"/>
          </a:xfrm>
          <a:prstGeom prst="rect">
            <a:avLst/>
          </a:prstGeom>
          <a:noFill/>
          <a:ln w="9525">
            <a:noFill/>
            <a:miter lim="800000"/>
            <a:headEnd/>
            <a:tailEnd/>
          </a:ln>
          <a:effectLst/>
        </p:spPr>
        <p:txBody>
          <a:bodyPr vert="horz" wrap="square" lIns="91415" tIns="45708" rIns="91415" bIns="45708" numCol="1" anchor="b" anchorCtr="0" compatLnSpc="1">
            <a:prstTxWarp prst="textNoShape">
              <a:avLst/>
            </a:prstTxWarp>
          </a:bodyPr>
          <a:lstStyle>
            <a:lvl1pPr algn="r">
              <a:defRPr sz="1200" smtClean="0">
                <a:effectLst>
                  <a:outerShdw blurRad="38100" dist="38100" dir="2700000" algn="tl">
                    <a:srgbClr val="C0C0C0"/>
                  </a:outerShdw>
                </a:effectLst>
              </a:defRPr>
            </a:lvl1pPr>
          </a:lstStyle>
          <a:p>
            <a:pPr>
              <a:defRPr/>
            </a:pPr>
            <a:fld id="{C58679CE-2949-460B-B078-43F5B1C58E1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mailto:chris.weber@foundstone.com"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A8B0F7FD-92C0-BDCB-D666-ABB67E1B6588}"/>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6" name="Rectangle 3">
            <a:extLst>
              <a:ext uri="{FF2B5EF4-FFF2-40B4-BE49-F238E27FC236}">
                <a16:creationId xmlns:a16="http://schemas.microsoft.com/office/drawing/2014/main" id="{BB7F26A2-5ABB-8D3D-0C00-A292DD0DC929}"/>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Using IPSec in Windows 2000 and XP, Part 1</a:t>
            </a:r>
            <a:br>
              <a:rPr lang="en-US" altLang="en-US"/>
            </a:br>
            <a:r>
              <a:rPr lang="en-US" altLang="en-US" i="1">
                <a:hlinkClick r:id="rId3"/>
              </a:rPr>
              <a:t>Chris Weber</a:t>
            </a:r>
            <a:r>
              <a:rPr lang="en-US" altLang="en-US"/>
              <a:t> 2001-12-05</a:t>
            </a:r>
            <a:br>
              <a:rPr lang="en-US" altLang="en-US"/>
            </a:br>
            <a:endParaRPr lang="en-US" altLang="en-US"/>
          </a:p>
          <a:p>
            <a:r>
              <a:rPr lang="en-US" altLang="en-US"/>
              <a:t>http://www.securityfocus.com/infocus/1519</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D26E74F6-1686-D859-D7E5-F50426553FBC}"/>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8434" name="Rectangle 3">
            <a:extLst>
              <a:ext uri="{FF2B5EF4-FFF2-40B4-BE49-F238E27FC236}">
                <a16:creationId xmlns:a16="http://schemas.microsoft.com/office/drawing/2014/main" id="{5F648EC9-3C53-E24E-C2CA-7875CCE93CE9}"/>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latin typeface="Times-Roman" charset="0"/>
              </a:rPr>
              <a:t>The Internet community has developed application-specific security mechanisms in a number of application areas, including electronic mail (S/MIME, PGP), client/server (Kerberos), Web access (Secure Sockets Layer), and others. However users have some security concerns that cut across protocol layers. By implementing security at the IP level, an organization can ensure secure networking not only for applications that have security mechanisms but also for the many security-ignorant applications.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D8768610-B825-A30E-497B-B9CA513AB631}"/>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0482" name="Rectangle 3">
            <a:extLst>
              <a:ext uri="{FF2B5EF4-FFF2-40B4-BE49-F238E27FC236}">
                <a16:creationId xmlns:a16="http://schemas.microsoft.com/office/drawing/2014/main" id="{63895A33-3948-E972-C10A-53F994282602}"/>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latin typeface="Times-Roman" charset="0"/>
              </a:rPr>
              <a:t>IP-level security encompasses three functional areas: authentication, confidentiality, and key management. The authentication mechanism assures that a received packet was transmitted by the party identified as the source in the packet header, and that the packet has not been altered in transit. The confidentiality facility enables communicating nodes to encrypt messages to prevent eavesdropping by third parties. The key management facility is concerned with the secure exchange of keys. IPSec provides the capability to secure communications across a LAN, across private and public WANs, and across the Internet.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C72DC20A-D4F6-C3A3-20A0-3EE0A4F66DE4}"/>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2530" name="Rectangle 3">
            <a:extLst>
              <a:ext uri="{FF2B5EF4-FFF2-40B4-BE49-F238E27FC236}">
                <a16:creationId xmlns:a16="http://schemas.microsoft.com/office/drawing/2014/main" id="{20607882-5433-045C-D716-E13354FED294}"/>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t>Stallings Figure 16.1 illustrates a typical IP Security scenario. </a:t>
            </a:r>
            <a:r>
              <a:rPr lang="en-US" altLang="en-US">
                <a:latin typeface="Times-Roman" charset="0"/>
              </a:rPr>
              <a:t>An organization maintains LANs at dispersed locations. Nonsecure IP traffic is conducted on each LAN. For traffic offsite, through some sort of private or public WAN, IPSec protocols are used. These protocols operate in networking devices, such as a router or firewall, that connect each LAN to the outside world. The IPSec networking device will typically encrypt and compress all traffic going into the WAN, and decrypt and decompress traffic coming from the WAN; these operations are transparent to workstations and servers on the LAN. Secure transmission is also possible with individual users who dial into the WAN. Such user workstations must implement the IPSec protocols to provide security.</a:t>
            </a:r>
            <a:r>
              <a:rPr lang="en-US" altLang="en-US">
                <a:latin typeface="Helvetica" panose="020B0604020202020204" pitchFamily="34" charset="0"/>
              </a:rPr>
              <a:t> </a:t>
            </a:r>
            <a:endParaRPr lang="en-US" altLang="en-US"/>
          </a:p>
          <a:p>
            <a:endParaRPr lang="en-AU" altLang="en-US"/>
          </a:p>
          <a:p>
            <a:r>
              <a:rPr lang="en-US" altLang="en-US"/>
              <a:t>Security Associations</a:t>
            </a:r>
          </a:p>
          <a:p>
            <a:r>
              <a:rPr lang="en-US" altLang="en-US"/>
              <a:t>A one-way relationship between sender &amp; receiver that affords security for traffic flow</a:t>
            </a:r>
          </a:p>
          <a:p>
            <a:r>
              <a:rPr lang="en-US" altLang="en-US"/>
              <a:t>Can be between </a:t>
            </a:r>
          </a:p>
          <a:p>
            <a:pPr lvl="1"/>
            <a:r>
              <a:rPr lang="en-US" altLang="en-US"/>
              <a:t>A pair of hosts</a:t>
            </a:r>
          </a:p>
          <a:p>
            <a:pPr lvl="1"/>
            <a:r>
              <a:rPr lang="en-US" altLang="en-US"/>
              <a:t>A host and a security gateway</a:t>
            </a:r>
          </a:p>
          <a:p>
            <a:pPr lvl="1"/>
            <a:r>
              <a:rPr lang="en-US" altLang="en-US"/>
              <a:t>A pair of security gateways</a:t>
            </a:r>
            <a:endParaRPr lang="en-AU"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81D0743-6120-1DD7-2CFD-EE69C558391D}"/>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5602" name="Rectangle 3">
            <a:extLst>
              <a:ext uri="{FF2B5EF4-FFF2-40B4-BE49-F238E27FC236}">
                <a16:creationId xmlns:a16="http://schemas.microsoft.com/office/drawing/2014/main" id="{DC9D8EB3-3FFD-7F49-71FE-A58941803FC9}"/>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latin typeface="Times-Roman" charset="0"/>
              </a:rPr>
              <a:t>[MARK97] lists the benefits shown for IPSec. It also plays a vital role in the routing architecture required for internetworking.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FACF59C-D10F-91D6-139F-0A1921D5FAE7}"/>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27650" name="Rectangle 3">
            <a:extLst>
              <a:ext uri="{FF2B5EF4-FFF2-40B4-BE49-F238E27FC236}">
                <a16:creationId xmlns:a16="http://schemas.microsoft.com/office/drawing/2014/main" id="{ABB2727F-E39F-4269-45C4-D99C880287E9}"/>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latin typeface="Times-Roman" charset="0"/>
              </a:rPr>
              <a:t>The IPSec specification has become quite complex. The IPSec specification consists of numerous documents. The most important of these,issued in November of 1998, are </a:t>
            </a:r>
          </a:p>
          <a:p>
            <a:r>
              <a:rPr lang="en-US" altLang="en-US">
                <a:latin typeface="Times-Roman" charset="0"/>
              </a:rPr>
              <a:t>• RFC 2401: An overview of a security architecture</a:t>
            </a:r>
          </a:p>
          <a:p>
            <a:r>
              <a:rPr lang="en-US" altLang="en-US">
                <a:latin typeface="Times-Roman" charset="0"/>
              </a:rPr>
              <a:t>• RFC 2402: Description of a packet authentication extension to IPv4 and IPv6</a:t>
            </a:r>
          </a:p>
          <a:p>
            <a:r>
              <a:rPr lang="en-US" altLang="en-US">
                <a:latin typeface="Times-Roman" charset="0"/>
              </a:rPr>
              <a:t>• RFC 2406: Description of a packet encryption extension to IPv4 and IPv6</a:t>
            </a:r>
          </a:p>
          <a:p>
            <a:r>
              <a:rPr lang="en-US" altLang="en-US">
                <a:latin typeface="Times-Roman" charset="0"/>
              </a:rPr>
              <a:t>• RFC 2408: Specification of key management capabilities</a:t>
            </a:r>
          </a:p>
          <a:p>
            <a:r>
              <a:rPr lang="en-US" altLang="en-US">
                <a:latin typeface="Times-Roman" charset="0"/>
              </a:rPr>
              <a:t>In addition to these four RFCs, a number of additional drafts have been published by the IP Security Protocol Working Group set up by the IETF. The documents are divided into seven groups.</a:t>
            </a:r>
          </a:p>
          <a:p>
            <a:r>
              <a:rPr lang="en-US" altLang="en-US">
                <a:latin typeface="Times-Roman" charset="0"/>
              </a:rPr>
              <a:t>Support for these features is mandatory for IPv6 and optional for IPv4.</a:t>
            </a:r>
          </a:p>
          <a:p>
            <a:r>
              <a:rPr lang="en-US" altLang="en-US">
                <a:latin typeface="Times-Roman" charset="0"/>
              </a:rPr>
              <a:t>In both cases, the security features are implemented as extension headers that follow the main IP header. The extension header for authentication is known as the Authentication Header (AH); that for encryption is known as the Encapsulating Security Payload (ESP) header.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4A40C103-64E6-DA9C-0BBA-6836571B3AD8}"/>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2" name="Rectangle 3">
            <a:extLst>
              <a:ext uri="{FF2B5EF4-FFF2-40B4-BE49-F238E27FC236}">
                <a16:creationId xmlns:a16="http://schemas.microsoft.com/office/drawing/2014/main" id="{00D0CB01-3B35-659E-FD4F-17624FB7FD70}"/>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Stallings Figure 16.5 shows the difference between end-to-end (transport) mode and end-to-intermediate (tunnel) mode.</a:t>
            </a:r>
          </a:p>
          <a:p>
            <a:r>
              <a:rPr lang="en-US" altLang="en-US">
                <a:latin typeface="Times-Roman" charset="0"/>
              </a:rPr>
              <a:t>Transport mode provides protection primarily for upper-layer protocol payloads, by inserting the AH after the original IP header and before the IP payload. Typically, transport mode is used for end-to-end communication between two hosts.</a:t>
            </a:r>
          </a:p>
          <a:p>
            <a:r>
              <a:rPr lang="en-US" altLang="en-US">
                <a:latin typeface="Times-Roman" charset="0"/>
              </a:rPr>
              <a:t>Tunnel mode provides protection to the entire IP, after the AH or ESP fields are added to the IP packet, the entire packet plus security fields is treated as the payload of new “outer”IP packet with a new outer IP header. Tunnel mode is used when one or both ends of an SA are a security gateway, such as a firewall or router that implements IPSec. </a:t>
            </a:r>
            <a:endParaRPr lang="en-AU" altLang="en-US">
              <a:latin typeface="Times-Roman" charset="0"/>
            </a:endParaRPr>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29C8C9C7-EBDC-848F-24E0-B0D522D98F77}"/>
              </a:ext>
            </a:extLst>
          </p:cNvPr>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Notes Placeholder 2">
            <a:extLst>
              <a:ext uri="{FF2B5EF4-FFF2-40B4-BE49-F238E27FC236}">
                <a16:creationId xmlns:a16="http://schemas.microsoft.com/office/drawing/2014/main" id="{4CD487AF-EC0B-191A-9539-D0BE2666DDB2}"/>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Defined by 3 parameters:</a:t>
            </a:r>
          </a:p>
          <a:p>
            <a:pPr lvl="1"/>
            <a:r>
              <a:rPr lang="en-AU" altLang="en-US"/>
              <a:t>Security Parameters Index (SPI)</a:t>
            </a:r>
          </a:p>
          <a:p>
            <a:pPr lvl="1"/>
            <a:r>
              <a:rPr lang="en-AU" altLang="en-US"/>
              <a:t>IP Destination Address</a:t>
            </a:r>
          </a:p>
          <a:p>
            <a:pPr lvl="1"/>
            <a:r>
              <a:rPr lang="en-AU" altLang="en-US"/>
              <a:t>Security Protocol Identifier</a:t>
            </a:r>
          </a:p>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17172CE0-7089-B4AF-4E09-6E0A82A41F22}"/>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Rectangle 3">
            <a:extLst>
              <a:ext uri="{FF2B5EF4-FFF2-40B4-BE49-F238E27FC236}">
                <a16:creationId xmlns:a16="http://schemas.microsoft.com/office/drawing/2014/main" id="{60446245-6E71-4630-8BA5-7A3A098FB5C7}"/>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Dest IP can be a security gateway.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6CC4E4A2-900E-DF69-E4A5-3A7EA9121C67}"/>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54274" name="Rectangle 3">
            <a:extLst>
              <a:ext uri="{FF2B5EF4-FFF2-40B4-BE49-F238E27FC236}">
                <a16:creationId xmlns:a16="http://schemas.microsoft.com/office/drawing/2014/main" id="{29AA1A26-2729-9397-985F-ABF4A418FD80}"/>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See page 168, Stallings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5F6DCAB6-292A-62A4-520D-67DD10DD4F84}"/>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56322" name="Rectangle 3">
            <a:extLst>
              <a:ext uri="{FF2B5EF4-FFF2-40B4-BE49-F238E27FC236}">
                <a16:creationId xmlns:a16="http://schemas.microsoft.com/office/drawing/2014/main" id="{1AE5D5BD-107B-AB9C-D17E-3AB012E38978}"/>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See page 169, Stallings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40F1FE11-0928-398F-32B2-A9A0FE110E85}"/>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58370" name="Rectangle 3">
            <a:extLst>
              <a:ext uri="{FF2B5EF4-FFF2-40B4-BE49-F238E27FC236}">
                <a16:creationId xmlns:a16="http://schemas.microsoft.com/office/drawing/2014/main" id="{210EFFCE-3567-2D84-1C92-A0CB61D35F39}"/>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See page 169, Stallings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0FAD2C9A-4E4A-EC1C-BEAD-0C7363E4F40E}"/>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60418" name="Rectangle 3">
            <a:extLst>
              <a:ext uri="{FF2B5EF4-FFF2-40B4-BE49-F238E27FC236}">
                <a16:creationId xmlns:a16="http://schemas.microsoft.com/office/drawing/2014/main" id="{4EC55636-A754-113E-A547-477F85DB3AA0}"/>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Doraswamy &amp; Harkins, page 45</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AD615AD6-4F72-531C-FF05-5821F5B13C59}"/>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62466" name="Rectangle 3">
            <a:extLst>
              <a:ext uri="{FF2B5EF4-FFF2-40B4-BE49-F238E27FC236}">
                <a16:creationId xmlns:a16="http://schemas.microsoft.com/office/drawing/2014/main" id="{52BCB552-33DC-C30D-2D60-80287EED2CD8}"/>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Doraswamy &amp; Harkins, page 46</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4761D0EF-9E6B-82E2-2C3B-F3E823973411}"/>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64514" name="Rectangle 3">
            <a:extLst>
              <a:ext uri="{FF2B5EF4-FFF2-40B4-BE49-F238E27FC236}">
                <a16:creationId xmlns:a16="http://schemas.microsoft.com/office/drawing/2014/main" id="{01AA20B4-0F00-6052-93C7-3252FECD513C}"/>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SA Selectors figure out which policy in SPD applies to traffic</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a:extLst>
              <a:ext uri="{FF2B5EF4-FFF2-40B4-BE49-F238E27FC236}">
                <a16:creationId xmlns:a16="http://schemas.microsoft.com/office/drawing/2014/main" id="{B252BDBE-CDDF-752E-C579-21C512F8ABE8}"/>
              </a:ext>
            </a:extLst>
          </p:cNvPr>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0" name="Notes Placeholder 2">
            <a:extLst>
              <a:ext uri="{FF2B5EF4-FFF2-40B4-BE49-F238E27FC236}">
                <a16:creationId xmlns:a16="http://schemas.microsoft.com/office/drawing/2014/main" id="{8870D5DA-F60F-31BF-72C3-A3F9F47AB3AD}"/>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57400" lvl="4" indent="-228600" eaLnBrk="1" hangingPunct="1">
              <a:spcBef>
                <a:spcPct val="0"/>
              </a:spcBef>
            </a:pPr>
            <a:r>
              <a:rPr lang="en-US" altLang="en-US">
                <a:latin typeface="Calibri" panose="020F0502020204030204" pitchFamily="34" charset="0"/>
              </a:rPr>
              <a:t>Use MAC to authenticate</a:t>
            </a:r>
          </a:p>
          <a:p>
            <a:pPr marL="2057400" lvl="4" indent="-228600" eaLnBrk="1" hangingPunct="1">
              <a:spcBef>
                <a:spcPct val="0"/>
              </a:spcBef>
            </a:pPr>
            <a:r>
              <a:rPr lang="en-US" altLang="en-US">
                <a:latin typeface="Calibri" panose="020F0502020204030204" pitchFamily="34" charset="0"/>
              </a:rPr>
              <a:t>Symmetric encryption, e.g, DES</a:t>
            </a:r>
          </a:p>
          <a:p>
            <a:pPr marL="2057400" lvl="4" indent="-228600" eaLnBrk="1" hangingPunct="1">
              <a:spcBef>
                <a:spcPct val="0"/>
              </a:spcBef>
            </a:pPr>
            <a:r>
              <a:rPr lang="en-US" altLang="en-US">
                <a:latin typeface="Calibri" panose="020F0502020204030204" pitchFamily="34" charset="0"/>
              </a:rPr>
              <a:t>One-way hash functions, e.g, HMAC-MD5-96 or HMAC-SHA-1-96</a:t>
            </a:r>
          </a:p>
          <a:p>
            <a:endParaRPr lang="en-US" altLang="en-US"/>
          </a:p>
          <a:p>
            <a:r>
              <a:rPr lang="en-US" altLang="en-US"/>
              <a:t>Key Exchange: Diffie-Hellman</a:t>
            </a:r>
          </a:p>
          <a:p>
            <a:r>
              <a:rPr lang="en-US" altLang="en-US"/>
              <a:t>􀁻Encryption: DES-CBS</a:t>
            </a:r>
          </a:p>
          <a:p>
            <a:r>
              <a:rPr lang="en-US" altLang="en-US"/>
              <a:t>􀁻Authentication: HMAC</a:t>
            </a:r>
          </a:p>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52115E2F-525D-F1C7-9417-51AC0178A463}"/>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8" name="Rectangle 3">
            <a:extLst>
              <a:ext uri="{FF2B5EF4-FFF2-40B4-BE49-F238E27FC236}">
                <a16:creationId xmlns:a16="http://schemas.microsoft.com/office/drawing/2014/main" id="{5E1F9F21-5CE8-843C-3D5B-E8B65ADE424A}"/>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Stallings Figure 16.3 shows the </a:t>
            </a:r>
            <a:r>
              <a:rPr lang="en-US" altLang="en-US">
                <a:latin typeface="Times-Roman" charset="0"/>
              </a:rPr>
              <a:t>Authentication Header fields:</a:t>
            </a:r>
          </a:p>
          <a:p>
            <a:r>
              <a:rPr lang="en-US" altLang="en-US">
                <a:latin typeface="Times-Roman" charset="0"/>
              </a:rPr>
              <a:t>•</a:t>
            </a:r>
            <a:r>
              <a:rPr lang="en-US" altLang="en-US">
                <a:latin typeface="Helvetica" panose="020B0604020202020204" pitchFamily="34" charset="0"/>
              </a:rPr>
              <a:t> </a:t>
            </a:r>
            <a:r>
              <a:rPr lang="en-US" altLang="en-US">
                <a:latin typeface="Times-Roman" charset="0"/>
              </a:rPr>
              <a:t>Next Header (8 bits):</a:t>
            </a:r>
            <a:r>
              <a:rPr lang="en-US" altLang="en-US">
                <a:latin typeface="Helvetica" panose="020B0604020202020204" pitchFamily="34" charset="0"/>
              </a:rPr>
              <a:t> </a:t>
            </a:r>
            <a:r>
              <a:rPr lang="en-US" altLang="en-US">
                <a:latin typeface="Times-Roman" charset="0"/>
              </a:rPr>
              <a:t>Identifies the type of header immediately following this header</a:t>
            </a:r>
          </a:p>
          <a:p>
            <a:r>
              <a:rPr lang="en-US" altLang="en-US">
                <a:latin typeface="Times-Roman" charset="0"/>
              </a:rPr>
              <a:t>•</a:t>
            </a:r>
            <a:r>
              <a:rPr lang="en-US" altLang="en-US">
                <a:latin typeface="Helvetica" panose="020B0604020202020204" pitchFamily="34" charset="0"/>
              </a:rPr>
              <a:t> </a:t>
            </a:r>
            <a:r>
              <a:rPr lang="en-US" altLang="en-US">
                <a:latin typeface="Times-Roman" charset="0"/>
              </a:rPr>
              <a:t>Payload Length (8 bits):</a:t>
            </a:r>
            <a:r>
              <a:rPr lang="en-US" altLang="en-US">
                <a:latin typeface="Helvetica" panose="020B0604020202020204" pitchFamily="34" charset="0"/>
              </a:rPr>
              <a:t> </a:t>
            </a:r>
            <a:r>
              <a:rPr lang="en-US" altLang="en-US">
                <a:latin typeface="Times-Roman" charset="0"/>
              </a:rPr>
              <a:t>Length of Authentication Header in 32-bit words, minus 2. </a:t>
            </a:r>
          </a:p>
          <a:p>
            <a:r>
              <a:rPr lang="en-US" altLang="en-US">
                <a:latin typeface="Times-Roman" charset="0"/>
              </a:rPr>
              <a:t>•</a:t>
            </a:r>
            <a:r>
              <a:rPr lang="en-US" altLang="en-US">
                <a:latin typeface="Helvetica" panose="020B0604020202020204" pitchFamily="34" charset="0"/>
              </a:rPr>
              <a:t> </a:t>
            </a:r>
            <a:r>
              <a:rPr lang="en-US" altLang="en-US">
                <a:latin typeface="Times-Roman" charset="0"/>
              </a:rPr>
              <a:t>Reserved (16 bits):</a:t>
            </a:r>
            <a:r>
              <a:rPr lang="en-US" altLang="en-US">
                <a:latin typeface="Helvetica" panose="020B0604020202020204" pitchFamily="34" charset="0"/>
              </a:rPr>
              <a:t> </a:t>
            </a:r>
            <a:r>
              <a:rPr lang="en-US" altLang="en-US">
                <a:latin typeface="Times-Roman" charset="0"/>
              </a:rPr>
              <a:t>For future use</a:t>
            </a:r>
          </a:p>
          <a:p>
            <a:r>
              <a:rPr lang="en-US" altLang="en-US">
                <a:latin typeface="Times-Roman" charset="0"/>
              </a:rPr>
              <a:t>•</a:t>
            </a:r>
            <a:r>
              <a:rPr lang="en-US" altLang="en-US">
                <a:latin typeface="Helvetica" panose="020B0604020202020204" pitchFamily="34" charset="0"/>
              </a:rPr>
              <a:t> </a:t>
            </a:r>
            <a:r>
              <a:rPr lang="en-US" altLang="en-US">
                <a:latin typeface="Times-Roman" charset="0"/>
              </a:rPr>
              <a:t>Security Parameters Index (32 bits):</a:t>
            </a:r>
            <a:r>
              <a:rPr lang="en-US" altLang="en-US">
                <a:latin typeface="Helvetica" panose="020B0604020202020204" pitchFamily="34" charset="0"/>
              </a:rPr>
              <a:t> </a:t>
            </a:r>
            <a:r>
              <a:rPr lang="en-US" altLang="en-US">
                <a:latin typeface="Times-Roman" charset="0"/>
              </a:rPr>
              <a:t>Identifies a security association</a:t>
            </a:r>
          </a:p>
          <a:p>
            <a:r>
              <a:rPr lang="en-US" altLang="en-US">
                <a:latin typeface="Times-Roman" charset="0"/>
              </a:rPr>
              <a:t>•</a:t>
            </a:r>
            <a:r>
              <a:rPr lang="en-US" altLang="en-US">
                <a:latin typeface="Helvetica" panose="020B0604020202020204" pitchFamily="34" charset="0"/>
              </a:rPr>
              <a:t> </a:t>
            </a:r>
            <a:r>
              <a:rPr lang="en-US" altLang="en-US">
                <a:latin typeface="Times-Roman" charset="0"/>
              </a:rPr>
              <a:t>Sequence Number (32 bits):</a:t>
            </a:r>
            <a:r>
              <a:rPr lang="en-US" altLang="en-US">
                <a:latin typeface="Helvetica" panose="020B0604020202020204" pitchFamily="34" charset="0"/>
              </a:rPr>
              <a:t> </a:t>
            </a:r>
            <a:r>
              <a:rPr lang="en-US" altLang="en-US">
                <a:latin typeface="Times-Roman" charset="0"/>
              </a:rPr>
              <a:t>A monotonically increasing counter value</a:t>
            </a:r>
          </a:p>
          <a:p>
            <a:r>
              <a:rPr lang="en-US" altLang="en-US">
                <a:latin typeface="Times-Roman" charset="0"/>
              </a:rPr>
              <a:t>•</a:t>
            </a:r>
            <a:r>
              <a:rPr lang="en-US" altLang="en-US">
                <a:latin typeface="Helvetica" panose="020B0604020202020204" pitchFamily="34" charset="0"/>
              </a:rPr>
              <a:t> </a:t>
            </a:r>
            <a:r>
              <a:rPr lang="en-US" altLang="en-US">
                <a:latin typeface="Times-Roman" charset="0"/>
              </a:rPr>
              <a:t>Authentication Data (variable):</a:t>
            </a:r>
            <a:r>
              <a:rPr lang="en-US" altLang="en-US">
                <a:latin typeface="Helvetica" panose="020B0604020202020204" pitchFamily="34" charset="0"/>
              </a:rPr>
              <a:t> </a:t>
            </a:r>
            <a:r>
              <a:rPr lang="en-US" altLang="en-US">
                <a:latin typeface="Times-Roman" charset="0"/>
              </a:rPr>
              <a:t>A variable-length field (must be an integral number of 32-bit words) that contains the Integrity Check Value (ICV), or MAC,for this packet</a:t>
            </a:r>
            <a:endParaRPr lang="en-AU" altLang="en-US">
              <a:latin typeface="Times-Roman" charset="0"/>
            </a:endParaRPr>
          </a:p>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142DD5E0-1B73-9AAC-420C-39FDEC77B367}"/>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0" name="Rectangle 3">
            <a:extLst>
              <a:ext uri="{FF2B5EF4-FFF2-40B4-BE49-F238E27FC236}">
                <a16:creationId xmlns:a16="http://schemas.microsoft.com/office/drawing/2014/main" id="{5FD77967-9A4B-79C5-FD5C-820708216578}"/>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 no matter transport mode, tunnel mode, AH or ESP.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E1F6640A-ED53-DDD2-1B6B-7A32C55FB31F}"/>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2" name="Rectangle 3">
            <a:extLst>
              <a:ext uri="{FF2B5EF4-FFF2-40B4-BE49-F238E27FC236}">
                <a16:creationId xmlns:a16="http://schemas.microsoft.com/office/drawing/2014/main" id="{7BA89033-41DA-9103-4D71-8E61BD0C3019}"/>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09EC4566-D326-93B8-A9DB-E2519E0A395F}"/>
              </a:ext>
            </a:extLst>
          </p:cNvPr>
          <p:cNvSpPr>
            <a:spLocks noRo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090" name="Rectangle 3">
            <a:extLst>
              <a:ext uri="{FF2B5EF4-FFF2-40B4-BE49-F238E27FC236}">
                <a16:creationId xmlns:a16="http://schemas.microsoft.com/office/drawing/2014/main" id="{AAA8945A-DA1E-B09E-57A2-EAB2EEDD5198}"/>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Transport mode, </a:t>
            </a:r>
          </a:p>
          <a:p>
            <a:r>
              <a:rPr lang="en-US" altLang="en-US"/>
              <a:t>AH, no</a:t>
            </a:r>
          </a:p>
          <a:p>
            <a:r>
              <a:rPr lang="en-US" altLang="en-US"/>
              <a:t>ESP, no (b/c port # and checksum need to be changed)</a:t>
            </a:r>
          </a:p>
          <a:p>
            <a:r>
              <a:rPr lang="en-US" altLang="zh-CN"/>
              <a:t>IPsec ESP transport mode is imcompatible with NAT. In the case of TCP/UDP packets,</a:t>
            </a:r>
          </a:p>
          <a:p>
            <a:r>
              <a:rPr lang="en-US" altLang="zh-CN"/>
              <a:t>NAT would need to update the checksum in TCP/UDP headers, when an address in IP header is changed. However, as the TCP/UDP header is encrypted by the ESP, NAT would not be able to make this checksum update. As a result, TCP/UDP packets encrypted in transport mode ESP, traversing a NAT device will fail the TCP/UDP checksum validation on the receiving end and will simply not reach the target application.</a:t>
            </a:r>
          </a:p>
          <a:p>
            <a:endParaRPr lang="en-US" altLang="en-US"/>
          </a:p>
          <a:p>
            <a:r>
              <a:rPr lang="en-US" altLang="en-US"/>
              <a:t>For tunnel modes.</a:t>
            </a:r>
          </a:p>
          <a:p>
            <a:r>
              <a:rPr lang="en-US" altLang="en-US"/>
              <a:t>For config a: yes for both AH and ESP</a:t>
            </a:r>
          </a:p>
          <a:p>
            <a:r>
              <a:rPr lang="en-US" altLang="en-US"/>
              <a:t>For config b: No for both AH and ESP (b/c port # cannot be changed), unless specific reasons are given for ESP tunnel modes, e.g., UDP encapsulation.   </a:t>
            </a:r>
          </a:p>
          <a:p>
            <a:r>
              <a:rPr lang="en-US" altLang="en-US"/>
              <a:t>But for NAT w/o port #, config b can work w/ ESP.</a:t>
            </a:r>
          </a:p>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9E954879-FB2E-3390-4AEB-8A8905BC84CE}"/>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1138" name="Rectangle 3">
            <a:extLst>
              <a:ext uri="{FF2B5EF4-FFF2-40B4-BE49-F238E27FC236}">
                <a16:creationId xmlns:a16="http://schemas.microsoft.com/office/drawing/2014/main" id="{8F5C4EFF-6B12-FA37-6F55-D590C38DC8D1}"/>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latin typeface="Times-Roman" charset="0"/>
              </a:rPr>
              <a:t>An individual SA can implement either the AH or ESP protocol but not both. Sometimes a particular traffic flow will call for the services provided by both AH and ESP. Further, a particular traffic flow may require IPSec services between hosts and ,for that same flow, separate services between security gateways, such as firewalls. In all of these cases, multiple SAs must be employed for the same traffic flow to achieve the desired IPSec services. The term security association bundle</a:t>
            </a:r>
            <a:r>
              <a:rPr lang="en-US" altLang="en-US">
                <a:latin typeface="Helvetica" panose="020B0604020202020204" pitchFamily="34" charset="0"/>
              </a:rPr>
              <a:t> </a:t>
            </a:r>
            <a:r>
              <a:rPr lang="en-US" altLang="en-US">
                <a:latin typeface="Times-Roman" charset="0"/>
              </a:rPr>
              <a:t>refers to a sequence of SAs through which traffic must be processed to provide a desired set of IPSec services. The SAs in a bundle may terminate at different endpoints or at the same endpoints. </a:t>
            </a:r>
          </a:p>
          <a:p>
            <a:r>
              <a:rPr lang="en-US" altLang="en-US">
                <a:latin typeface="Times-Roman" charset="0"/>
              </a:rPr>
              <a:t>Security associations may be combined into bundles in two ways: </a:t>
            </a:r>
          </a:p>
          <a:p>
            <a:r>
              <a:rPr lang="en-US" altLang="en-US">
                <a:latin typeface="Times-Roman" charset="0"/>
              </a:rPr>
              <a:t>•</a:t>
            </a:r>
            <a:r>
              <a:rPr lang="en-US" altLang="en-US">
                <a:latin typeface="Helvetica" panose="020B0604020202020204" pitchFamily="34" charset="0"/>
              </a:rPr>
              <a:t> </a:t>
            </a:r>
            <a:r>
              <a:rPr lang="en-US" altLang="en-US">
                <a:latin typeface="Times-Roman" charset="0"/>
              </a:rPr>
              <a:t>Transport adjacency:</a:t>
            </a:r>
            <a:r>
              <a:rPr lang="en-US" altLang="en-US">
                <a:latin typeface="Helvetica" panose="020B0604020202020204" pitchFamily="34" charset="0"/>
              </a:rPr>
              <a:t> </a:t>
            </a:r>
            <a:r>
              <a:rPr lang="en-US" altLang="en-US">
                <a:latin typeface="Times-Roman" charset="0"/>
              </a:rPr>
              <a:t>more than one security protocol on same IP packet, without invoking tunneling</a:t>
            </a:r>
          </a:p>
          <a:p>
            <a:r>
              <a:rPr lang="en-US" altLang="en-US">
                <a:latin typeface="Times-Roman" charset="0"/>
              </a:rPr>
              <a:t>•</a:t>
            </a:r>
            <a:r>
              <a:rPr lang="en-US" altLang="en-US">
                <a:latin typeface="Helvetica" panose="020B0604020202020204" pitchFamily="34" charset="0"/>
              </a:rPr>
              <a:t> </a:t>
            </a:r>
            <a:r>
              <a:rPr lang="en-US" altLang="en-US">
                <a:latin typeface="Times-Roman" charset="0"/>
              </a:rPr>
              <a:t>Iterated tunneling:</a:t>
            </a:r>
            <a:r>
              <a:rPr lang="en-US" altLang="en-US">
                <a:latin typeface="Helvetica" panose="020B0604020202020204" pitchFamily="34" charset="0"/>
              </a:rPr>
              <a:t> </a:t>
            </a:r>
            <a:r>
              <a:rPr lang="en-US" altLang="en-US">
                <a:latin typeface="Times-Roman" charset="0"/>
              </a:rPr>
              <a:t>application of multiple layers of security protocols effected through IP tunneling</a:t>
            </a:r>
          </a:p>
          <a:p>
            <a:r>
              <a:rPr lang="en-US" altLang="en-US">
                <a:latin typeface="Times-Roman" charset="0"/>
              </a:rPr>
              <a:t>One interesting issue is the order in which authentication and encryption may be applied between a given pair of endpoints.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BBE1BCA6-8845-8726-D14D-47EE9B976454}"/>
              </a:ext>
            </a:extLst>
          </p:cNvPr>
          <p:cNvSpPr>
            <a:spLocks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3186" name="Rectangle 3">
            <a:extLst>
              <a:ext uri="{FF2B5EF4-FFF2-40B4-BE49-F238E27FC236}">
                <a16:creationId xmlns:a16="http://schemas.microsoft.com/office/drawing/2014/main" id="{DEE8BF56-805C-7D52-85EC-E2E25B73AD81}"/>
              </a:ext>
            </a:extLst>
          </p:cNvPr>
          <p:cNvSpPr>
            <a:spLocks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en-US" altLang="en-US">
                <a:latin typeface="Times-Roman" charset="0"/>
              </a:rPr>
              <a:t>The IPSec Architecture document lists four examples of combinations of SAs that must be supported by compliant IPSec hosts or security gateways. These are illustrated in </a:t>
            </a:r>
            <a:r>
              <a:rPr lang="en-US" altLang="en-US"/>
              <a:t>Stallings </a:t>
            </a:r>
            <a:r>
              <a:rPr lang="en-US" altLang="en-US">
                <a:latin typeface="Times-Roman" charset="0"/>
              </a:rPr>
              <a:t>Figure 16.10. Note the *’d devices implement IPSec. The cases are:</a:t>
            </a:r>
          </a:p>
          <a:p>
            <a:r>
              <a:rPr lang="en-US" altLang="en-US">
                <a:latin typeface="Times-Roman" charset="0"/>
              </a:rPr>
              <a:t>Case 1 security is provided between end systems that implement IPSec.</a:t>
            </a:r>
          </a:p>
          <a:p>
            <a:r>
              <a:rPr lang="en-US" altLang="en-US">
                <a:latin typeface="Times-Roman" charset="0"/>
              </a:rPr>
              <a:t>Case 2 security is provided only between gateways (routers,firewalls,etc.) and no hosts implement IPSec.</a:t>
            </a:r>
          </a:p>
          <a:p>
            <a:r>
              <a:rPr lang="en-US" altLang="en-US">
                <a:latin typeface="Times-Roman" charset="0"/>
              </a:rPr>
              <a:t>Case 3 builds on Case 2 by adding end-to-end security .The same combinations discussed for cases 1 and 2 are allowed here.</a:t>
            </a:r>
          </a:p>
          <a:p>
            <a:r>
              <a:rPr lang="en-US" altLang="en-US">
                <a:latin typeface="Times-Roman" charset="0"/>
              </a:rPr>
              <a:t>Case 4 provides support for a remote host that uses the Internet to reach an organization’s firewall and then to gain access to some server or workstation behind the firewall. Only tunnel mode is required between the remote host and the firewall. </a:t>
            </a:r>
            <a:endParaRPr lang="en-AU" altLang="en-US">
              <a:latin typeface="Times-Roman"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039C4E80-9427-BDD0-4E71-594334AC0587}"/>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95234" name="Rectangle 3">
            <a:extLst>
              <a:ext uri="{FF2B5EF4-FFF2-40B4-BE49-F238E27FC236}">
                <a16:creationId xmlns:a16="http://schemas.microsoft.com/office/drawing/2014/main" id="{A84334F5-F2C8-DD12-CFE7-5A06DB52D8E9}"/>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a:extLst>
              <a:ext uri="{FF2B5EF4-FFF2-40B4-BE49-F238E27FC236}">
                <a16:creationId xmlns:a16="http://schemas.microsoft.com/office/drawing/2014/main" id="{CDFB4F04-5427-084F-51D5-45F76DFDD872}"/>
              </a:ext>
            </a:extLst>
          </p:cNvPr>
          <p:cNvSpPr>
            <a:spLocks noChangeArrowheads="1" noTextEdit="1"/>
          </p:cNvSpPr>
          <p:nvPr>
            <p:ph type="sldImg"/>
          </p:nvPr>
        </p:nvSpPr>
        <p:spPr bwMode="auto">
          <a:xfrm>
            <a:off x="1150938" y="692150"/>
            <a:ext cx="4556125" cy="3416300"/>
          </a:xfrm>
          <a:prstGeom prst="rect">
            <a:avLst/>
          </a:prstGeom>
          <a:solidFill>
            <a:srgbClr val="FFFFFF"/>
          </a:solidFill>
          <a:ln>
            <a:solidFill>
              <a:srgbClr val="000000"/>
            </a:solidFill>
            <a:miter lim="800000"/>
            <a:headEnd/>
            <a:tailEnd/>
          </a:ln>
        </p:spPr>
      </p:sp>
      <p:sp>
        <p:nvSpPr>
          <p:cNvPr id="100354" name="Rectangle 3">
            <a:extLst>
              <a:ext uri="{FF2B5EF4-FFF2-40B4-BE49-F238E27FC236}">
                <a16:creationId xmlns:a16="http://schemas.microsoft.com/office/drawing/2014/main" id="{6BDB2074-F70B-7E75-31CD-2C0CC3ECE9E4}"/>
              </a:ext>
            </a:extLst>
          </p:cNvPr>
          <p:cNvSpPr>
            <a:spLocks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9950" tIns="44975" rIns="89950" bIns="44975"/>
          <a:lstStyle/>
          <a:p>
            <a:r>
              <a:rPr lang="en-US" altLang="en-US"/>
              <a:t>D &amp; H, p 47</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3">
            <a:extLst>
              <a:ext uri="{FF2B5EF4-FFF2-40B4-BE49-F238E27FC236}">
                <a16:creationId xmlns:a16="http://schemas.microsoft.com/office/drawing/2014/main" id="{9972E7DB-C607-A4DC-7F96-97EF00AB84B3}"/>
              </a:ext>
            </a:extLst>
          </p:cNvPr>
          <p:cNvGrpSpPr>
            <a:grpSpLocks/>
          </p:cNvGrpSpPr>
          <p:nvPr/>
        </p:nvGrpSpPr>
        <p:grpSpPr bwMode="auto">
          <a:xfrm>
            <a:off x="0" y="0"/>
            <a:ext cx="1085850" cy="6854825"/>
            <a:chOff x="0" y="0"/>
            <a:chExt cx="684" cy="4318"/>
          </a:xfrm>
        </p:grpSpPr>
        <p:sp>
          <p:nvSpPr>
            <p:cNvPr id="3" name="Rectangle 2">
              <a:extLst>
                <a:ext uri="{FF2B5EF4-FFF2-40B4-BE49-F238E27FC236}">
                  <a16:creationId xmlns:a16="http://schemas.microsoft.com/office/drawing/2014/main" id="{84372893-3D2F-B6BF-CEB5-00A25A2E1702}"/>
                </a:ext>
              </a:extLst>
            </p:cNvPr>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4" name="Group 32">
              <a:extLst>
                <a:ext uri="{FF2B5EF4-FFF2-40B4-BE49-F238E27FC236}">
                  <a16:creationId xmlns:a16="http://schemas.microsoft.com/office/drawing/2014/main" id="{E4B45E1D-2835-6E1E-F8A6-6320C387E4A8}"/>
                </a:ext>
              </a:extLst>
            </p:cNvPr>
            <p:cNvGrpSpPr>
              <a:grpSpLocks/>
            </p:cNvGrpSpPr>
            <p:nvPr/>
          </p:nvGrpSpPr>
          <p:grpSpPr bwMode="auto">
            <a:xfrm>
              <a:off x="48" y="103"/>
              <a:ext cx="96" cy="4126"/>
              <a:chOff x="48" y="103"/>
              <a:chExt cx="96" cy="4126"/>
            </a:xfrm>
          </p:grpSpPr>
          <p:sp>
            <p:nvSpPr>
              <p:cNvPr id="5" name="Rectangle 3">
                <a:extLst>
                  <a:ext uri="{FF2B5EF4-FFF2-40B4-BE49-F238E27FC236}">
                    <a16:creationId xmlns:a16="http://schemas.microsoft.com/office/drawing/2014/main" id="{A84F14D3-139D-C74E-1A40-D99AAA6C9E30}"/>
                  </a:ext>
                </a:extLst>
              </p:cNvPr>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 name="Rectangle 4">
                <a:extLst>
                  <a:ext uri="{FF2B5EF4-FFF2-40B4-BE49-F238E27FC236}">
                    <a16:creationId xmlns:a16="http://schemas.microsoft.com/office/drawing/2014/main" id="{98130EC0-6FFF-FDE9-EBD2-ECB364D8A994}"/>
                  </a:ext>
                </a:extLst>
              </p:cNvPr>
              <p:cNvSpPr>
                <a:spLocks noChangeArrowheads="1"/>
              </p:cNvSpPr>
              <p:nvPr/>
            </p:nvSpPr>
            <p:spPr bwMode="auto">
              <a:xfrm>
                <a:off x="48" y="1250"/>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 name="Rectangle 5">
                <a:extLst>
                  <a:ext uri="{FF2B5EF4-FFF2-40B4-BE49-F238E27FC236}">
                    <a16:creationId xmlns:a16="http://schemas.microsoft.com/office/drawing/2014/main" id="{D7B7CED1-9A99-2F65-3D34-93CDAE2574C4}"/>
                  </a:ext>
                </a:extLst>
              </p:cNvPr>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 name="Rectangle 6">
                <a:extLst>
                  <a:ext uri="{FF2B5EF4-FFF2-40B4-BE49-F238E27FC236}">
                    <a16:creationId xmlns:a16="http://schemas.microsoft.com/office/drawing/2014/main" id="{68725F5E-AC26-818C-34C1-C13FF8C87A98}"/>
                  </a:ext>
                </a:extLst>
              </p:cNvPr>
              <p:cNvSpPr>
                <a:spLocks noChangeArrowheads="1"/>
              </p:cNvSpPr>
              <p:nvPr/>
            </p:nvSpPr>
            <p:spPr bwMode="auto">
              <a:xfrm>
                <a:off x="48" y="1538"/>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 name="Rectangle 7">
                <a:extLst>
                  <a:ext uri="{FF2B5EF4-FFF2-40B4-BE49-F238E27FC236}">
                    <a16:creationId xmlns:a16="http://schemas.microsoft.com/office/drawing/2014/main" id="{8180AAFD-C98B-D1D1-B929-0EC6255ED3F6}"/>
                  </a:ext>
                </a:extLst>
              </p:cNvPr>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 name="Rectangle 8">
                <a:extLst>
                  <a:ext uri="{FF2B5EF4-FFF2-40B4-BE49-F238E27FC236}">
                    <a16:creationId xmlns:a16="http://schemas.microsoft.com/office/drawing/2014/main" id="{B72A5720-95A2-7ED7-280C-D9E580DAC3C6}"/>
                  </a:ext>
                </a:extLst>
              </p:cNvPr>
              <p:cNvSpPr>
                <a:spLocks noChangeArrowheads="1"/>
              </p:cNvSpPr>
              <p:nvPr/>
            </p:nvSpPr>
            <p:spPr bwMode="auto">
              <a:xfrm>
                <a:off x="48" y="1826"/>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1" name="Rectangle 9">
                <a:extLst>
                  <a:ext uri="{FF2B5EF4-FFF2-40B4-BE49-F238E27FC236}">
                    <a16:creationId xmlns:a16="http://schemas.microsoft.com/office/drawing/2014/main" id="{BB831BF3-4D72-11C3-3453-53EDBA498187}"/>
                  </a:ext>
                </a:extLst>
              </p:cNvPr>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 name="Rectangle 10">
                <a:extLst>
                  <a:ext uri="{FF2B5EF4-FFF2-40B4-BE49-F238E27FC236}">
                    <a16:creationId xmlns:a16="http://schemas.microsoft.com/office/drawing/2014/main" id="{EB18DDE0-5807-2911-55EC-26858ED489C8}"/>
                  </a:ext>
                </a:extLst>
              </p:cNvPr>
              <p:cNvSpPr>
                <a:spLocks noChangeArrowheads="1"/>
              </p:cNvSpPr>
              <p:nvPr/>
            </p:nvSpPr>
            <p:spPr bwMode="auto">
              <a:xfrm>
                <a:off x="48" y="2116"/>
                <a:ext cx="96" cy="94"/>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3" name="Rectangle 11">
                <a:extLst>
                  <a:ext uri="{FF2B5EF4-FFF2-40B4-BE49-F238E27FC236}">
                    <a16:creationId xmlns:a16="http://schemas.microsoft.com/office/drawing/2014/main" id="{581A1754-4D6C-6792-9C43-A5A7F29FD70E}"/>
                  </a:ext>
                </a:extLst>
              </p:cNvPr>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4" name="Rectangle 12">
                <a:extLst>
                  <a:ext uri="{FF2B5EF4-FFF2-40B4-BE49-F238E27FC236}">
                    <a16:creationId xmlns:a16="http://schemas.microsoft.com/office/drawing/2014/main" id="{5E9F5F2C-7ECE-AF22-CE69-38A0DCA985CB}"/>
                  </a:ext>
                </a:extLst>
              </p:cNvPr>
              <p:cNvSpPr>
                <a:spLocks noChangeArrowheads="1"/>
              </p:cNvSpPr>
              <p:nvPr/>
            </p:nvSpPr>
            <p:spPr bwMode="auto">
              <a:xfrm>
                <a:off x="48" y="2404"/>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5" name="Rectangle 13">
                <a:extLst>
                  <a:ext uri="{FF2B5EF4-FFF2-40B4-BE49-F238E27FC236}">
                    <a16:creationId xmlns:a16="http://schemas.microsoft.com/office/drawing/2014/main" id="{B472BE61-7201-EE5B-4064-D3B905198901}"/>
                  </a:ext>
                </a:extLst>
              </p:cNvPr>
              <p:cNvSpPr>
                <a:spLocks noChangeArrowheads="1"/>
              </p:cNvSpPr>
              <p:nvPr/>
            </p:nvSpPr>
            <p:spPr bwMode="auto">
              <a:xfrm>
                <a:off x="48" y="2549"/>
                <a:ext cx="96" cy="94"/>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6" name="Rectangle 14">
                <a:extLst>
                  <a:ext uri="{FF2B5EF4-FFF2-40B4-BE49-F238E27FC236}">
                    <a16:creationId xmlns:a16="http://schemas.microsoft.com/office/drawing/2014/main" id="{0A3F48D6-9FF2-5670-6C01-1D03C301F339}"/>
                  </a:ext>
                </a:extLst>
              </p:cNvPr>
              <p:cNvSpPr>
                <a:spLocks noChangeArrowheads="1"/>
              </p:cNvSpPr>
              <p:nvPr/>
            </p:nvSpPr>
            <p:spPr bwMode="auto">
              <a:xfrm>
                <a:off x="48" y="2691"/>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7" name="Rectangle 15">
                <a:extLst>
                  <a:ext uri="{FF2B5EF4-FFF2-40B4-BE49-F238E27FC236}">
                    <a16:creationId xmlns:a16="http://schemas.microsoft.com/office/drawing/2014/main" id="{7EEF4308-CDBE-8843-4F00-98A59624F764}"/>
                  </a:ext>
                </a:extLst>
              </p:cNvPr>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8" name="Rectangle 16">
                <a:extLst>
                  <a:ext uri="{FF2B5EF4-FFF2-40B4-BE49-F238E27FC236}">
                    <a16:creationId xmlns:a16="http://schemas.microsoft.com/office/drawing/2014/main" id="{6CDE3FBE-9043-B529-A943-8D36CE814681}"/>
                  </a:ext>
                </a:extLst>
              </p:cNvPr>
              <p:cNvSpPr>
                <a:spLocks noChangeArrowheads="1"/>
              </p:cNvSpPr>
              <p:nvPr/>
            </p:nvSpPr>
            <p:spPr bwMode="auto">
              <a:xfrm>
                <a:off x="48" y="2979"/>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9" name="Rectangle 17">
                <a:extLst>
                  <a:ext uri="{FF2B5EF4-FFF2-40B4-BE49-F238E27FC236}">
                    <a16:creationId xmlns:a16="http://schemas.microsoft.com/office/drawing/2014/main" id="{11225C83-6D8E-D535-C088-36F2F5B5CC6A}"/>
                  </a:ext>
                </a:extLst>
              </p:cNvPr>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0" name="Rectangle 18">
                <a:extLst>
                  <a:ext uri="{FF2B5EF4-FFF2-40B4-BE49-F238E27FC236}">
                    <a16:creationId xmlns:a16="http://schemas.microsoft.com/office/drawing/2014/main" id="{02790475-54C7-D118-03A0-2981F8EA4949}"/>
                  </a:ext>
                </a:extLst>
              </p:cNvPr>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1" name="Rectangle 19">
                <a:extLst>
                  <a:ext uri="{FF2B5EF4-FFF2-40B4-BE49-F238E27FC236}">
                    <a16:creationId xmlns:a16="http://schemas.microsoft.com/office/drawing/2014/main" id="{8EAD6EFF-49D6-288B-3145-B444392721C0}"/>
                  </a:ext>
                </a:extLst>
              </p:cNvPr>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2" name="Rectangle 20">
                <a:extLst>
                  <a:ext uri="{FF2B5EF4-FFF2-40B4-BE49-F238E27FC236}">
                    <a16:creationId xmlns:a16="http://schemas.microsoft.com/office/drawing/2014/main" id="{9044A06D-9264-2AD8-C043-661F0E3C1A2C}"/>
                  </a:ext>
                </a:extLst>
              </p:cNvPr>
              <p:cNvSpPr>
                <a:spLocks noChangeArrowheads="1"/>
              </p:cNvSpPr>
              <p:nvPr/>
            </p:nvSpPr>
            <p:spPr bwMode="auto">
              <a:xfrm>
                <a:off x="48" y="3557"/>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3" name="Rectangle 21">
                <a:extLst>
                  <a:ext uri="{FF2B5EF4-FFF2-40B4-BE49-F238E27FC236}">
                    <a16:creationId xmlns:a16="http://schemas.microsoft.com/office/drawing/2014/main" id="{D765D173-20A7-A7A0-86EA-EC1B63BB376F}"/>
                  </a:ext>
                </a:extLst>
              </p:cNvPr>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4" name="Rectangle 22">
                <a:extLst>
                  <a:ext uri="{FF2B5EF4-FFF2-40B4-BE49-F238E27FC236}">
                    <a16:creationId xmlns:a16="http://schemas.microsoft.com/office/drawing/2014/main" id="{B7A29658-8BED-C880-C0C7-53000176A058}"/>
                  </a:ext>
                </a:extLst>
              </p:cNvPr>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5" name="Rectangle 23">
                <a:extLst>
                  <a:ext uri="{FF2B5EF4-FFF2-40B4-BE49-F238E27FC236}">
                    <a16:creationId xmlns:a16="http://schemas.microsoft.com/office/drawing/2014/main" id="{3B45030B-5D46-4319-8719-DE6DC1E7AE55}"/>
                  </a:ext>
                </a:extLst>
              </p:cNvPr>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6" name="Rectangle 24">
                <a:extLst>
                  <a:ext uri="{FF2B5EF4-FFF2-40B4-BE49-F238E27FC236}">
                    <a16:creationId xmlns:a16="http://schemas.microsoft.com/office/drawing/2014/main" id="{9D62DAC1-C95F-2883-B07C-B30A1E292182}"/>
                  </a:ext>
                </a:extLst>
              </p:cNvPr>
              <p:cNvSpPr>
                <a:spLocks noChangeArrowheads="1"/>
              </p:cNvSpPr>
              <p:nvPr/>
            </p:nvSpPr>
            <p:spPr bwMode="auto">
              <a:xfrm>
                <a:off x="48" y="4134"/>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7" name="Rectangle 25">
                <a:extLst>
                  <a:ext uri="{FF2B5EF4-FFF2-40B4-BE49-F238E27FC236}">
                    <a16:creationId xmlns:a16="http://schemas.microsoft.com/office/drawing/2014/main" id="{CBC46498-B480-616C-A4BA-D8E2AB5A9C04}"/>
                  </a:ext>
                </a:extLst>
              </p:cNvPr>
              <p:cNvSpPr>
                <a:spLocks noChangeArrowheads="1"/>
              </p:cNvSpPr>
              <p:nvPr/>
            </p:nvSpPr>
            <p:spPr bwMode="auto">
              <a:xfrm>
                <a:off x="48" y="103"/>
                <a:ext cx="96" cy="94"/>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8" name="Rectangle 26">
                <a:extLst>
                  <a:ext uri="{FF2B5EF4-FFF2-40B4-BE49-F238E27FC236}">
                    <a16:creationId xmlns:a16="http://schemas.microsoft.com/office/drawing/2014/main" id="{A7DEC26C-0544-6836-74E9-563B970723D7}"/>
                  </a:ext>
                </a:extLst>
              </p:cNvPr>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9" name="Rectangle 27">
                <a:extLst>
                  <a:ext uri="{FF2B5EF4-FFF2-40B4-BE49-F238E27FC236}">
                    <a16:creationId xmlns:a16="http://schemas.microsoft.com/office/drawing/2014/main" id="{01DDCC28-17EB-2A13-201E-F5A40001FE2B}"/>
                  </a:ext>
                </a:extLst>
              </p:cNvPr>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0" name="Rectangle 28">
                <a:extLst>
                  <a:ext uri="{FF2B5EF4-FFF2-40B4-BE49-F238E27FC236}">
                    <a16:creationId xmlns:a16="http://schemas.microsoft.com/office/drawing/2014/main" id="{C5392B74-7AFE-95B3-0B18-2ADD66F21640}"/>
                  </a:ext>
                </a:extLst>
              </p:cNvPr>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1" name="Rectangle 29">
                <a:extLst>
                  <a:ext uri="{FF2B5EF4-FFF2-40B4-BE49-F238E27FC236}">
                    <a16:creationId xmlns:a16="http://schemas.microsoft.com/office/drawing/2014/main" id="{F5768032-2D95-230E-2EA9-F6745977834A}"/>
                  </a:ext>
                </a:extLst>
              </p:cNvPr>
              <p:cNvSpPr>
                <a:spLocks noChangeArrowheads="1"/>
              </p:cNvSpPr>
              <p:nvPr/>
            </p:nvSpPr>
            <p:spPr bwMode="auto">
              <a:xfrm>
                <a:off x="48" y="678"/>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2" name="Rectangle 30">
                <a:extLst>
                  <a:ext uri="{FF2B5EF4-FFF2-40B4-BE49-F238E27FC236}">
                    <a16:creationId xmlns:a16="http://schemas.microsoft.com/office/drawing/2014/main" id="{08F5FA99-793F-C5D6-3FC0-A3EDE78CFC26}"/>
                  </a:ext>
                </a:extLst>
              </p:cNvPr>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3" name="Rectangle 31">
                <a:extLst>
                  <a:ext uri="{FF2B5EF4-FFF2-40B4-BE49-F238E27FC236}">
                    <a16:creationId xmlns:a16="http://schemas.microsoft.com/office/drawing/2014/main" id="{6AE90FB1-4ACA-8EEC-C351-82742D6476D9}"/>
                  </a:ext>
                </a:extLst>
              </p:cNvPr>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grpSp>
      <p:sp>
        <p:nvSpPr>
          <p:cNvPr id="3106" name="Rectangle 34"/>
          <p:cNvSpPr>
            <a:spLocks noGrp="1" noChangeArrowheads="1"/>
          </p:cNvSpPr>
          <p:nvPr>
            <p:ph type="ctrTitle" sz="quarter"/>
          </p:nvPr>
        </p:nvSpPr>
        <p:spPr>
          <a:xfrm>
            <a:off x="1143000" y="2286000"/>
            <a:ext cx="7772400" cy="1143000"/>
          </a:xfrm>
        </p:spPr>
        <p:txBody>
          <a:bodyPr/>
          <a:lstStyle>
            <a:lvl1pPr>
              <a:defRPr/>
            </a:lvl1pPr>
          </a:lstStyle>
          <a:p>
            <a:r>
              <a:rPr lang="en-US"/>
              <a:t>Click to edit Master title style</a:t>
            </a:r>
          </a:p>
        </p:txBody>
      </p:sp>
      <p:sp>
        <p:nvSpPr>
          <p:cNvPr id="3107" name="Rectangle 35"/>
          <p:cNvSpPr>
            <a:spLocks noGrp="1" noChangeArrowheads="1"/>
          </p:cNvSpPr>
          <p:nvPr>
            <p:ph type="subTitle" sz="quarter" idx="1"/>
          </p:nvPr>
        </p:nvSpPr>
        <p:spPr>
          <a:xfrm>
            <a:off x="1828800" y="3886200"/>
            <a:ext cx="6400800" cy="1752600"/>
          </a:xfrm>
        </p:spPr>
        <p:txBody>
          <a:bodyPr/>
          <a:lstStyle>
            <a:lvl1pPr marL="0" indent="0" algn="ctr">
              <a:buFont typeface="Monotype Sorts" pitchFamily="2" charset="2"/>
              <a:buNone/>
              <a:defRPr/>
            </a:lvl1pPr>
          </a:lstStyle>
          <a:p>
            <a:r>
              <a:rPr lang="en-US"/>
              <a:t>Click to edit Master subtitle style</a:t>
            </a:r>
          </a:p>
        </p:txBody>
      </p:sp>
      <p:sp>
        <p:nvSpPr>
          <p:cNvPr id="34" name="Rectangle 36">
            <a:extLst>
              <a:ext uri="{FF2B5EF4-FFF2-40B4-BE49-F238E27FC236}">
                <a16:creationId xmlns:a16="http://schemas.microsoft.com/office/drawing/2014/main" id="{697F8D45-4924-D490-9BF6-3DC2FAEC5FE3}"/>
              </a:ext>
            </a:extLst>
          </p:cNvPr>
          <p:cNvSpPr>
            <a:spLocks noGrp="1" noChangeArrowheads="1"/>
          </p:cNvSpPr>
          <p:nvPr>
            <p:ph type="dt" sz="quarter" idx="10"/>
          </p:nvPr>
        </p:nvSpPr>
        <p:spPr/>
        <p:txBody>
          <a:bodyPr/>
          <a:lstStyle>
            <a:lvl1pPr>
              <a:defRPr/>
            </a:lvl1pPr>
          </a:lstStyle>
          <a:p>
            <a:pPr>
              <a:defRPr/>
            </a:pPr>
            <a:endParaRPr lang="en-US"/>
          </a:p>
        </p:txBody>
      </p:sp>
      <p:sp>
        <p:nvSpPr>
          <p:cNvPr id="35" name="Rectangle 37">
            <a:extLst>
              <a:ext uri="{FF2B5EF4-FFF2-40B4-BE49-F238E27FC236}">
                <a16:creationId xmlns:a16="http://schemas.microsoft.com/office/drawing/2014/main" id="{1925E357-7877-4283-A1CF-1A10518A1F9B}"/>
              </a:ext>
            </a:extLst>
          </p:cNvPr>
          <p:cNvSpPr>
            <a:spLocks noGrp="1" noChangeArrowheads="1"/>
          </p:cNvSpPr>
          <p:nvPr>
            <p:ph type="ftr" sz="quarter" idx="11"/>
          </p:nvPr>
        </p:nvSpPr>
        <p:spPr/>
        <p:txBody>
          <a:bodyPr/>
          <a:lstStyle>
            <a:lvl1pPr>
              <a:defRPr/>
            </a:lvl1pPr>
          </a:lstStyle>
          <a:p>
            <a:pPr>
              <a:defRPr/>
            </a:pPr>
            <a:endParaRPr lang="en-US"/>
          </a:p>
        </p:txBody>
      </p:sp>
      <p:sp>
        <p:nvSpPr>
          <p:cNvPr id="36" name="Rectangle 38">
            <a:extLst>
              <a:ext uri="{FF2B5EF4-FFF2-40B4-BE49-F238E27FC236}">
                <a16:creationId xmlns:a16="http://schemas.microsoft.com/office/drawing/2014/main" id="{74F89CE9-7393-7BA2-666E-43A96D2BA33B}"/>
              </a:ext>
            </a:extLst>
          </p:cNvPr>
          <p:cNvSpPr>
            <a:spLocks noGrp="1" noChangeArrowheads="1"/>
          </p:cNvSpPr>
          <p:nvPr>
            <p:ph type="sldNum" sz="quarter" idx="12"/>
          </p:nvPr>
        </p:nvSpPr>
        <p:spPr/>
        <p:txBody>
          <a:bodyPr/>
          <a:lstStyle>
            <a:lvl1pPr>
              <a:defRPr smtClean="0"/>
            </a:lvl1pPr>
          </a:lstStyle>
          <a:p>
            <a:pPr>
              <a:defRPr/>
            </a:pPr>
            <a:fld id="{18344428-825C-4A37-BB3F-D0E24BEC40BF}" type="slidenum">
              <a:rPr lang="en-US" altLang="en-US"/>
              <a:pPr>
                <a:defRPr/>
              </a:pPr>
              <a:t>‹#›</a:t>
            </a:fld>
            <a:endParaRPr lang="en-US" altLang="en-US"/>
          </a:p>
        </p:txBody>
      </p:sp>
    </p:spTree>
    <p:extLst>
      <p:ext uri="{BB962C8B-B14F-4D97-AF65-F5344CB8AC3E}">
        <p14:creationId xmlns:p14="http://schemas.microsoft.com/office/powerpoint/2010/main" val="27310706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6">
            <a:extLst>
              <a:ext uri="{FF2B5EF4-FFF2-40B4-BE49-F238E27FC236}">
                <a16:creationId xmlns:a16="http://schemas.microsoft.com/office/drawing/2014/main" id="{543C2093-F2EA-4AD6-3384-B6ECCD9A980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7">
            <a:extLst>
              <a:ext uri="{FF2B5EF4-FFF2-40B4-BE49-F238E27FC236}">
                <a16:creationId xmlns:a16="http://schemas.microsoft.com/office/drawing/2014/main" id="{2E329CD8-12AE-B14F-2285-CB472819138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38">
            <a:extLst>
              <a:ext uri="{FF2B5EF4-FFF2-40B4-BE49-F238E27FC236}">
                <a16:creationId xmlns:a16="http://schemas.microsoft.com/office/drawing/2014/main" id="{0D48E70D-FBA6-0D79-A19D-1A4F3012FFA2}"/>
              </a:ext>
            </a:extLst>
          </p:cNvPr>
          <p:cNvSpPr>
            <a:spLocks noGrp="1" noChangeArrowheads="1"/>
          </p:cNvSpPr>
          <p:nvPr>
            <p:ph type="sldNum" sz="quarter" idx="12"/>
          </p:nvPr>
        </p:nvSpPr>
        <p:spPr>
          <a:ln/>
        </p:spPr>
        <p:txBody>
          <a:bodyPr/>
          <a:lstStyle>
            <a:lvl1pPr>
              <a:defRPr/>
            </a:lvl1pPr>
          </a:lstStyle>
          <a:p>
            <a:pPr>
              <a:defRPr/>
            </a:pPr>
            <a:fld id="{7C9039C4-B2D0-4AFD-8092-75799FCECF75}" type="slidenum">
              <a:rPr lang="en-US" altLang="en-US"/>
              <a:pPr>
                <a:defRPr/>
              </a:pPr>
              <a:t>‹#›</a:t>
            </a:fld>
            <a:endParaRPr lang="en-US" altLang="en-US"/>
          </a:p>
        </p:txBody>
      </p:sp>
    </p:spTree>
    <p:extLst>
      <p:ext uri="{BB962C8B-B14F-4D97-AF65-F5344CB8AC3E}">
        <p14:creationId xmlns:p14="http://schemas.microsoft.com/office/powerpoint/2010/main" val="4150290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6">
            <a:extLst>
              <a:ext uri="{FF2B5EF4-FFF2-40B4-BE49-F238E27FC236}">
                <a16:creationId xmlns:a16="http://schemas.microsoft.com/office/drawing/2014/main" id="{74318227-CAC3-67FC-6683-FE01E3C5FB6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7">
            <a:extLst>
              <a:ext uri="{FF2B5EF4-FFF2-40B4-BE49-F238E27FC236}">
                <a16:creationId xmlns:a16="http://schemas.microsoft.com/office/drawing/2014/main" id="{C7F680EC-A75F-2A26-EB76-BDAFD11FEAF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38">
            <a:extLst>
              <a:ext uri="{FF2B5EF4-FFF2-40B4-BE49-F238E27FC236}">
                <a16:creationId xmlns:a16="http://schemas.microsoft.com/office/drawing/2014/main" id="{E3053D98-27BA-BA95-2525-1FD9E231CA88}"/>
              </a:ext>
            </a:extLst>
          </p:cNvPr>
          <p:cNvSpPr>
            <a:spLocks noGrp="1" noChangeArrowheads="1"/>
          </p:cNvSpPr>
          <p:nvPr>
            <p:ph type="sldNum" sz="quarter" idx="12"/>
          </p:nvPr>
        </p:nvSpPr>
        <p:spPr>
          <a:ln/>
        </p:spPr>
        <p:txBody>
          <a:bodyPr/>
          <a:lstStyle>
            <a:lvl1pPr>
              <a:defRPr/>
            </a:lvl1pPr>
          </a:lstStyle>
          <a:p>
            <a:pPr>
              <a:defRPr/>
            </a:pPr>
            <a:fld id="{E4C0BD16-14A6-4B77-86F9-74E6556E7A61}" type="slidenum">
              <a:rPr lang="en-US" altLang="en-US"/>
              <a:pPr>
                <a:defRPr/>
              </a:pPr>
              <a:t>‹#›</a:t>
            </a:fld>
            <a:endParaRPr lang="en-US" altLang="en-US"/>
          </a:p>
        </p:txBody>
      </p:sp>
    </p:spTree>
    <p:extLst>
      <p:ext uri="{BB962C8B-B14F-4D97-AF65-F5344CB8AC3E}">
        <p14:creationId xmlns:p14="http://schemas.microsoft.com/office/powerpoint/2010/main" val="3141182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6">
            <a:extLst>
              <a:ext uri="{FF2B5EF4-FFF2-40B4-BE49-F238E27FC236}">
                <a16:creationId xmlns:a16="http://schemas.microsoft.com/office/drawing/2014/main" id="{3A72DA05-F0B4-0A32-03F4-8DDFB39C58C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7">
            <a:extLst>
              <a:ext uri="{FF2B5EF4-FFF2-40B4-BE49-F238E27FC236}">
                <a16:creationId xmlns:a16="http://schemas.microsoft.com/office/drawing/2014/main" id="{8AA416D4-BEB7-3541-C129-C9E2219C535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38">
            <a:extLst>
              <a:ext uri="{FF2B5EF4-FFF2-40B4-BE49-F238E27FC236}">
                <a16:creationId xmlns:a16="http://schemas.microsoft.com/office/drawing/2014/main" id="{74A1A039-C9BE-99B5-8CEB-C8942583D918}"/>
              </a:ext>
            </a:extLst>
          </p:cNvPr>
          <p:cNvSpPr>
            <a:spLocks noGrp="1" noChangeArrowheads="1"/>
          </p:cNvSpPr>
          <p:nvPr>
            <p:ph type="sldNum" sz="quarter" idx="12"/>
          </p:nvPr>
        </p:nvSpPr>
        <p:spPr>
          <a:ln/>
        </p:spPr>
        <p:txBody>
          <a:bodyPr/>
          <a:lstStyle>
            <a:lvl1pPr>
              <a:defRPr/>
            </a:lvl1pPr>
          </a:lstStyle>
          <a:p>
            <a:pPr>
              <a:defRPr/>
            </a:pPr>
            <a:fld id="{D9613BC0-4C3E-41E6-AC9D-7118270A98F6}" type="slidenum">
              <a:rPr lang="en-US" altLang="en-US"/>
              <a:pPr>
                <a:defRPr/>
              </a:pPr>
              <a:t>‹#›</a:t>
            </a:fld>
            <a:endParaRPr lang="en-US" altLang="en-US"/>
          </a:p>
        </p:txBody>
      </p:sp>
    </p:spTree>
    <p:extLst>
      <p:ext uri="{BB962C8B-B14F-4D97-AF65-F5344CB8AC3E}">
        <p14:creationId xmlns:p14="http://schemas.microsoft.com/office/powerpoint/2010/main" val="3426086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6">
            <a:extLst>
              <a:ext uri="{FF2B5EF4-FFF2-40B4-BE49-F238E27FC236}">
                <a16:creationId xmlns:a16="http://schemas.microsoft.com/office/drawing/2014/main" id="{1A79343F-C2FA-9CFD-3691-2D03FA150E3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7">
            <a:extLst>
              <a:ext uri="{FF2B5EF4-FFF2-40B4-BE49-F238E27FC236}">
                <a16:creationId xmlns:a16="http://schemas.microsoft.com/office/drawing/2014/main" id="{D489F4B5-CB4C-B8A8-EA16-F2A8083CB0A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38">
            <a:extLst>
              <a:ext uri="{FF2B5EF4-FFF2-40B4-BE49-F238E27FC236}">
                <a16:creationId xmlns:a16="http://schemas.microsoft.com/office/drawing/2014/main" id="{610E15CE-2A95-A8E0-A540-629AE61C2EB5}"/>
              </a:ext>
            </a:extLst>
          </p:cNvPr>
          <p:cNvSpPr>
            <a:spLocks noGrp="1" noChangeArrowheads="1"/>
          </p:cNvSpPr>
          <p:nvPr>
            <p:ph type="sldNum" sz="quarter" idx="12"/>
          </p:nvPr>
        </p:nvSpPr>
        <p:spPr>
          <a:ln/>
        </p:spPr>
        <p:txBody>
          <a:bodyPr/>
          <a:lstStyle>
            <a:lvl1pPr>
              <a:defRPr/>
            </a:lvl1pPr>
          </a:lstStyle>
          <a:p>
            <a:pPr>
              <a:defRPr/>
            </a:pPr>
            <a:fld id="{D959FD10-B892-46F1-86C2-E1ADFD502CD5}" type="slidenum">
              <a:rPr lang="en-US" altLang="en-US"/>
              <a:pPr>
                <a:defRPr/>
              </a:pPr>
              <a:t>‹#›</a:t>
            </a:fld>
            <a:endParaRPr lang="en-US" altLang="en-US"/>
          </a:p>
        </p:txBody>
      </p:sp>
    </p:spTree>
    <p:extLst>
      <p:ext uri="{BB962C8B-B14F-4D97-AF65-F5344CB8AC3E}">
        <p14:creationId xmlns:p14="http://schemas.microsoft.com/office/powerpoint/2010/main" val="532821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6">
            <a:extLst>
              <a:ext uri="{FF2B5EF4-FFF2-40B4-BE49-F238E27FC236}">
                <a16:creationId xmlns:a16="http://schemas.microsoft.com/office/drawing/2014/main" id="{1A05B7F1-C3E2-1F6C-C928-D66BA672283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7">
            <a:extLst>
              <a:ext uri="{FF2B5EF4-FFF2-40B4-BE49-F238E27FC236}">
                <a16:creationId xmlns:a16="http://schemas.microsoft.com/office/drawing/2014/main" id="{72E8FBB1-53DA-46D1-3AE6-35DEA450C2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38">
            <a:extLst>
              <a:ext uri="{FF2B5EF4-FFF2-40B4-BE49-F238E27FC236}">
                <a16:creationId xmlns:a16="http://schemas.microsoft.com/office/drawing/2014/main" id="{484CF8D2-213F-2C12-306F-2F5E88B56C65}"/>
              </a:ext>
            </a:extLst>
          </p:cNvPr>
          <p:cNvSpPr>
            <a:spLocks noGrp="1" noChangeArrowheads="1"/>
          </p:cNvSpPr>
          <p:nvPr>
            <p:ph type="sldNum" sz="quarter" idx="12"/>
          </p:nvPr>
        </p:nvSpPr>
        <p:spPr>
          <a:ln/>
        </p:spPr>
        <p:txBody>
          <a:bodyPr/>
          <a:lstStyle>
            <a:lvl1pPr>
              <a:defRPr/>
            </a:lvl1pPr>
          </a:lstStyle>
          <a:p>
            <a:pPr>
              <a:defRPr/>
            </a:pPr>
            <a:fld id="{C6AFD195-CE3B-43DE-82F1-E3452A2282E9}" type="slidenum">
              <a:rPr lang="en-US" altLang="en-US"/>
              <a:pPr>
                <a:defRPr/>
              </a:pPr>
              <a:t>‹#›</a:t>
            </a:fld>
            <a:endParaRPr lang="en-US" altLang="en-US"/>
          </a:p>
        </p:txBody>
      </p:sp>
    </p:spTree>
    <p:extLst>
      <p:ext uri="{BB962C8B-B14F-4D97-AF65-F5344CB8AC3E}">
        <p14:creationId xmlns:p14="http://schemas.microsoft.com/office/powerpoint/2010/main" val="2183619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6">
            <a:extLst>
              <a:ext uri="{FF2B5EF4-FFF2-40B4-BE49-F238E27FC236}">
                <a16:creationId xmlns:a16="http://schemas.microsoft.com/office/drawing/2014/main" id="{7DD4656C-4BC5-47B6-C4B9-581DF0E7D7D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7">
            <a:extLst>
              <a:ext uri="{FF2B5EF4-FFF2-40B4-BE49-F238E27FC236}">
                <a16:creationId xmlns:a16="http://schemas.microsoft.com/office/drawing/2014/main" id="{0E7CC38A-9503-E905-308A-50BF634E340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38">
            <a:extLst>
              <a:ext uri="{FF2B5EF4-FFF2-40B4-BE49-F238E27FC236}">
                <a16:creationId xmlns:a16="http://schemas.microsoft.com/office/drawing/2014/main" id="{0D353D1C-64C0-53C5-4D64-CBAD94F01D7F}"/>
              </a:ext>
            </a:extLst>
          </p:cNvPr>
          <p:cNvSpPr>
            <a:spLocks noGrp="1" noChangeArrowheads="1"/>
          </p:cNvSpPr>
          <p:nvPr>
            <p:ph type="sldNum" sz="quarter" idx="12"/>
          </p:nvPr>
        </p:nvSpPr>
        <p:spPr>
          <a:ln/>
        </p:spPr>
        <p:txBody>
          <a:bodyPr/>
          <a:lstStyle>
            <a:lvl1pPr>
              <a:defRPr/>
            </a:lvl1pPr>
          </a:lstStyle>
          <a:p>
            <a:pPr>
              <a:defRPr/>
            </a:pPr>
            <a:fld id="{169017B0-FCC1-4393-AC1A-B1F733A16921}" type="slidenum">
              <a:rPr lang="en-US" altLang="en-US"/>
              <a:pPr>
                <a:defRPr/>
              </a:pPr>
              <a:t>‹#›</a:t>
            </a:fld>
            <a:endParaRPr lang="en-US" altLang="en-US"/>
          </a:p>
        </p:txBody>
      </p:sp>
    </p:spTree>
    <p:extLst>
      <p:ext uri="{BB962C8B-B14F-4D97-AF65-F5344CB8AC3E}">
        <p14:creationId xmlns:p14="http://schemas.microsoft.com/office/powerpoint/2010/main" val="956039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6">
            <a:extLst>
              <a:ext uri="{FF2B5EF4-FFF2-40B4-BE49-F238E27FC236}">
                <a16:creationId xmlns:a16="http://schemas.microsoft.com/office/drawing/2014/main" id="{A6A8D743-EEB7-6F9F-A3BC-452A0673D28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7">
            <a:extLst>
              <a:ext uri="{FF2B5EF4-FFF2-40B4-BE49-F238E27FC236}">
                <a16:creationId xmlns:a16="http://schemas.microsoft.com/office/drawing/2014/main" id="{6FB76667-CB1C-302F-8BA7-23DAB30F0D0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38">
            <a:extLst>
              <a:ext uri="{FF2B5EF4-FFF2-40B4-BE49-F238E27FC236}">
                <a16:creationId xmlns:a16="http://schemas.microsoft.com/office/drawing/2014/main" id="{A315263E-4B4B-B17A-48EF-AAB329C9AE61}"/>
              </a:ext>
            </a:extLst>
          </p:cNvPr>
          <p:cNvSpPr>
            <a:spLocks noGrp="1" noChangeArrowheads="1"/>
          </p:cNvSpPr>
          <p:nvPr>
            <p:ph type="sldNum" sz="quarter" idx="12"/>
          </p:nvPr>
        </p:nvSpPr>
        <p:spPr>
          <a:ln/>
        </p:spPr>
        <p:txBody>
          <a:bodyPr/>
          <a:lstStyle>
            <a:lvl1pPr>
              <a:defRPr/>
            </a:lvl1pPr>
          </a:lstStyle>
          <a:p>
            <a:pPr>
              <a:defRPr/>
            </a:pPr>
            <a:fld id="{03F8C646-CEB0-4588-ABFF-B4A5CF0ECB18}" type="slidenum">
              <a:rPr lang="en-US" altLang="en-US"/>
              <a:pPr>
                <a:defRPr/>
              </a:pPr>
              <a:t>‹#›</a:t>
            </a:fld>
            <a:endParaRPr lang="en-US" altLang="en-US"/>
          </a:p>
        </p:txBody>
      </p:sp>
    </p:spTree>
    <p:extLst>
      <p:ext uri="{BB962C8B-B14F-4D97-AF65-F5344CB8AC3E}">
        <p14:creationId xmlns:p14="http://schemas.microsoft.com/office/powerpoint/2010/main" val="1450668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6">
            <a:extLst>
              <a:ext uri="{FF2B5EF4-FFF2-40B4-BE49-F238E27FC236}">
                <a16:creationId xmlns:a16="http://schemas.microsoft.com/office/drawing/2014/main" id="{F08424B6-6B48-5975-0275-CE1BC518684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7">
            <a:extLst>
              <a:ext uri="{FF2B5EF4-FFF2-40B4-BE49-F238E27FC236}">
                <a16:creationId xmlns:a16="http://schemas.microsoft.com/office/drawing/2014/main" id="{60581A98-AB24-139B-40C0-A3123F3F30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38">
            <a:extLst>
              <a:ext uri="{FF2B5EF4-FFF2-40B4-BE49-F238E27FC236}">
                <a16:creationId xmlns:a16="http://schemas.microsoft.com/office/drawing/2014/main" id="{399365D7-EC29-C04D-7538-CD60FA8827AC}"/>
              </a:ext>
            </a:extLst>
          </p:cNvPr>
          <p:cNvSpPr>
            <a:spLocks noGrp="1" noChangeArrowheads="1"/>
          </p:cNvSpPr>
          <p:nvPr>
            <p:ph type="sldNum" sz="quarter" idx="12"/>
          </p:nvPr>
        </p:nvSpPr>
        <p:spPr>
          <a:ln/>
        </p:spPr>
        <p:txBody>
          <a:bodyPr/>
          <a:lstStyle>
            <a:lvl1pPr>
              <a:defRPr/>
            </a:lvl1pPr>
          </a:lstStyle>
          <a:p>
            <a:pPr>
              <a:defRPr/>
            </a:pPr>
            <a:fld id="{FA7E86BB-0CA5-4BE3-889F-5C0BF5D6D25A}" type="slidenum">
              <a:rPr lang="en-US" altLang="en-US"/>
              <a:pPr>
                <a:defRPr/>
              </a:pPr>
              <a:t>‹#›</a:t>
            </a:fld>
            <a:endParaRPr lang="en-US" altLang="en-US"/>
          </a:p>
        </p:txBody>
      </p:sp>
    </p:spTree>
    <p:extLst>
      <p:ext uri="{BB962C8B-B14F-4D97-AF65-F5344CB8AC3E}">
        <p14:creationId xmlns:p14="http://schemas.microsoft.com/office/powerpoint/2010/main" val="1743295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6">
            <a:extLst>
              <a:ext uri="{FF2B5EF4-FFF2-40B4-BE49-F238E27FC236}">
                <a16:creationId xmlns:a16="http://schemas.microsoft.com/office/drawing/2014/main" id="{0B94DCB4-9433-FA91-AA8A-2DD3B11ADC1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7">
            <a:extLst>
              <a:ext uri="{FF2B5EF4-FFF2-40B4-BE49-F238E27FC236}">
                <a16:creationId xmlns:a16="http://schemas.microsoft.com/office/drawing/2014/main" id="{1150C70B-A6F5-4E34-AB76-CE8B1CD5703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38">
            <a:extLst>
              <a:ext uri="{FF2B5EF4-FFF2-40B4-BE49-F238E27FC236}">
                <a16:creationId xmlns:a16="http://schemas.microsoft.com/office/drawing/2014/main" id="{4A66E6A0-2D94-BE9D-D626-A1E7BC7F1C81}"/>
              </a:ext>
            </a:extLst>
          </p:cNvPr>
          <p:cNvSpPr>
            <a:spLocks noGrp="1" noChangeArrowheads="1"/>
          </p:cNvSpPr>
          <p:nvPr>
            <p:ph type="sldNum" sz="quarter" idx="12"/>
          </p:nvPr>
        </p:nvSpPr>
        <p:spPr>
          <a:ln/>
        </p:spPr>
        <p:txBody>
          <a:bodyPr/>
          <a:lstStyle>
            <a:lvl1pPr>
              <a:defRPr/>
            </a:lvl1pPr>
          </a:lstStyle>
          <a:p>
            <a:pPr>
              <a:defRPr/>
            </a:pPr>
            <a:fld id="{0999AC0B-E8F0-49BE-ACC1-06FA4AEEF823}" type="slidenum">
              <a:rPr lang="en-US" altLang="en-US"/>
              <a:pPr>
                <a:defRPr/>
              </a:pPr>
              <a:t>‹#›</a:t>
            </a:fld>
            <a:endParaRPr lang="en-US" altLang="en-US"/>
          </a:p>
        </p:txBody>
      </p:sp>
    </p:spTree>
    <p:extLst>
      <p:ext uri="{BB962C8B-B14F-4D97-AF65-F5344CB8AC3E}">
        <p14:creationId xmlns:p14="http://schemas.microsoft.com/office/powerpoint/2010/main" val="163004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23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6">
            <a:extLst>
              <a:ext uri="{FF2B5EF4-FFF2-40B4-BE49-F238E27FC236}">
                <a16:creationId xmlns:a16="http://schemas.microsoft.com/office/drawing/2014/main" id="{E8DB9578-6AB9-54A9-74FD-EC6079C9A31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7">
            <a:extLst>
              <a:ext uri="{FF2B5EF4-FFF2-40B4-BE49-F238E27FC236}">
                <a16:creationId xmlns:a16="http://schemas.microsoft.com/office/drawing/2014/main" id="{8BE1AC11-4CA9-A401-A97A-845F5C3535D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38">
            <a:extLst>
              <a:ext uri="{FF2B5EF4-FFF2-40B4-BE49-F238E27FC236}">
                <a16:creationId xmlns:a16="http://schemas.microsoft.com/office/drawing/2014/main" id="{ED2C0CF4-B4B9-AC81-B8E2-45131CE0B688}"/>
              </a:ext>
            </a:extLst>
          </p:cNvPr>
          <p:cNvSpPr>
            <a:spLocks noGrp="1" noChangeArrowheads="1"/>
          </p:cNvSpPr>
          <p:nvPr>
            <p:ph type="sldNum" sz="quarter" idx="12"/>
          </p:nvPr>
        </p:nvSpPr>
        <p:spPr>
          <a:ln/>
        </p:spPr>
        <p:txBody>
          <a:bodyPr/>
          <a:lstStyle>
            <a:lvl1pPr>
              <a:defRPr/>
            </a:lvl1pPr>
          </a:lstStyle>
          <a:p>
            <a:pPr>
              <a:defRPr/>
            </a:pPr>
            <a:fld id="{E47EC165-DC45-44A1-BFBE-6150FB89C25B}" type="slidenum">
              <a:rPr lang="en-US" altLang="en-US"/>
              <a:pPr>
                <a:defRPr/>
              </a:pPr>
              <a:t>‹#›</a:t>
            </a:fld>
            <a:endParaRPr lang="en-US" altLang="en-US"/>
          </a:p>
        </p:txBody>
      </p:sp>
    </p:spTree>
    <p:extLst>
      <p:ext uri="{BB962C8B-B14F-4D97-AF65-F5344CB8AC3E}">
        <p14:creationId xmlns:p14="http://schemas.microsoft.com/office/powerpoint/2010/main" val="28952913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33">
            <a:extLst>
              <a:ext uri="{FF2B5EF4-FFF2-40B4-BE49-F238E27FC236}">
                <a16:creationId xmlns:a16="http://schemas.microsoft.com/office/drawing/2014/main" id="{F5F9A914-16DB-0510-87F9-7E803324907F}"/>
              </a:ext>
            </a:extLst>
          </p:cNvPr>
          <p:cNvGrpSpPr>
            <a:grpSpLocks/>
          </p:cNvGrpSpPr>
          <p:nvPr/>
        </p:nvGrpSpPr>
        <p:grpSpPr bwMode="auto">
          <a:xfrm>
            <a:off x="0" y="0"/>
            <a:ext cx="1085850" cy="6854825"/>
            <a:chOff x="0" y="0"/>
            <a:chExt cx="684" cy="4318"/>
          </a:xfrm>
        </p:grpSpPr>
        <p:sp>
          <p:nvSpPr>
            <p:cNvPr id="2" name="Rectangle 2">
              <a:extLst>
                <a:ext uri="{FF2B5EF4-FFF2-40B4-BE49-F238E27FC236}">
                  <a16:creationId xmlns:a16="http://schemas.microsoft.com/office/drawing/2014/main" id="{7457F696-3E94-A0EA-B2A1-79510FE7904F}"/>
                </a:ext>
              </a:extLst>
            </p:cNvPr>
            <p:cNvSpPr>
              <a:spLocks noChangeArrowheads="1"/>
            </p:cNvSpPr>
            <p:nvPr/>
          </p:nvSpPr>
          <p:spPr bwMode="invGray">
            <a:xfrm>
              <a:off x="0" y="0"/>
              <a:ext cx="684" cy="4318"/>
            </a:xfrm>
            <a:prstGeom prst="rect">
              <a:avLst/>
            </a:prstGeom>
            <a:gradFill rotWithShape="0">
              <a:gsLst>
                <a:gs pos="0">
                  <a:schemeClr val="bg1"/>
                </a:gs>
                <a:gs pos="50000">
                  <a:schemeClr val="bg2"/>
                </a:gs>
                <a:gs pos="100000">
                  <a:schemeClr val="bg1"/>
                </a:gs>
              </a:gsLst>
              <a:lin ang="5400000" scaled="1"/>
            </a:gra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1033" name="Group 32">
              <a:extLst>
                <a:ext uri="{FF2B5EF4-FFF2-40B4-BE49-F238E27FC236}">
                  <a16:creationId xmlns:a16="http://schemas.microsoft.com/office/drawing/2014/main" id="{4A7AAAE6-E51E-E3E7-C606-601F84AD380B}"/>
                </a:ext>
              </a:extLst>
            </p:cNvPr>
            <p:cNvGrpSpPr>
              <a:grpSpLocks/>
            </p:cNvGrpSpPr>
            <p:nvPr/>
          </p:nvGrpSpPr>
          <p:grpSpPr bwMode="auto">
            <a:xfrm>
              <a:off x="48" y="102"/>
              <a:ext cx="96" cy="4128"/>
              <a:chOff x="48" y="102"/>
              <a:chExt cx="96" cy="4128"/>
            </a:xfrm>
          </p:grpSpPr>
          <p:sp>
            <p:nvSpPr>
              <p:cNvPr id="3" name="Rectangle 3">
                <a:extLst>
                  <a:ext uri="{FF2B5EF4-FFF2-40B4-BE49-F238E27FC236}">
                    <a16:creationId xmlns:a16="http://schemas.microsoft.com/office/drawing/2014/main" id="{B27CF709-838C-7CF3-BABC-93FEFD90BB1D}"/>
                  </a:ext>
                </a:extLst>
              </p:cNvPr>
              <p:cNvSpPr>
                <a:spLocks noChangeArrowheads="1"/>
              </p:cNvSpPr>
              <p:nvPr/>
            </p:nvSpPr>
            <p:spPr bwMode="auto">
              <a:xfrm>
                <a:off x="48" y="1105"/>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28" name="Rectangle 4">
                <a:extLst>
                  <a:ext uri="{FF2B5EF4-FFF2-40B4-BE49-F238E27FC236}">
                    <a16:creationId xmlns:a16="http://schemas.microsoft.com/office/drawing/2014/main" id="{BD55EE00-5103-E186-9F9D-AA5F356931F9}"/>
                  </a:ext>
                </a:extLst>
              </p:cNvPr>
              <p:cNvSpPr>
                <a:spLocks noChangeArrowheads="1"/>
              </p:cNvSpPr>
              <p:nvPr/>
            </p:nvSpPr>
            <p:spPr bwMode="auto">
              <a:xfrm>
                <a:off x="48" y="1250"/>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29" name="Rectangle 5">
                <a:extLst>
                  <a:ext uri="{FF2B5EF4-FFF2-40B4-BE49-F238E27FC236}">
                    <a16:creationId xmlns:a16="http://schemas.microsoft.com/office/drawing/2014/main" id="{241C8853-447B-EFC6-FD1C-33B76515716B}"/>
                  </a:ext>
                </a:extLst>
              </p:cNvPr>
              <p:cNvSpPr>
                <a:spLocks noChangeArrowheads="1"/>
              </p:cNvSpPr>
              <p:nvPr/>
            </p:nvSpPr>
            <p:spPr bwMode="auto">
              <a:xfrm>
                <a:off x="48" y="1393"/>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0" name="Rectangle 6">
                <a:extLst>
                  <a:ext uri="{FF2B5EF4-FFF2-40B4-BE49-F238E27FC236}">
                    <a16:creationId xmlns:a16="http://schemas.microsoft.com/office/drawing/2014/main" id="{B42E29DC-C6CB-213A-FD69-1C37EE25DF65}"/>
                  </a:ext>
                </a:extLst>
              </p:cNvPr>
              <p:cNvSpPr>
                <a:spLocks noChangeArrowheads="1"/>
              </p:cNvSpPr>
              <p:nvPr/>
            </p:nvSpPr>
            <p:spPr bwMode="auto">
              <a:xfrm>
                <a:off x="48" y="1538"/>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1" name="Rectangle 7">
                <a:extLst>
                  <a:ext uri="{FF2B5EF4-FFF2-40B4-BE49-F238E27FC236}">
                    <a16:creationId xmlns:a16="http://schemas.microsoft.com/office/drawing/2014/main" id="{B0954142-C9DE-52E4-187B-182EF1F2D771}"/>
                  </a:ext>
                </a:extLst>
              </p:cNvPr>
              <p:cNvSpPr>
                <a:spLocks noChangeArrowheads="1"/>
              </p:cNvSpPr>
              <p:nvPr/>
            </p:nvSpPr>
            <p:spPr bwMode="auto">
              <a:xfrm>
                <a:off x="48" y="1683"/>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2" name="Rectangle 8">
                <a:extLst>
                  <a:ext uri="{FF2B5EF4-FFF2-40B4-BE49-F238E27FC236}">
                    <a16:creationId xmlns:a16="http://schemas.microsoft.com/office/drawing/2014/main" id="{8116C5D5-8E7B-92F8-4A57-4D792CF4DAAC}"/>
                  </a:ext>
                </a:extLst>
              </p:cNvPr>
              <p:cNvSpPr>
                <a:spLocks noChangeArrowheads="1"/>
              </p:cNvSpPr>
              <p:nvPr/>
            </p:nvSpPr>
            <p:spPr bwMode="auto">
              <a:xfrm>
                <a:off x="48" y="1826"/>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 name="Rectangle 9">
                <a:extLst>
                  <a:ext uri="{FF2B5EF4-FFF2-40B4-BE49-F238E27FC236}">
                    <a16:creationId xmlns:a16="http://schemas.microsoft.com/office/drawing/2014/main" id="{5C91A9B4-F4A7-8131-EDAC-1E16AD6D3C8A}"/>
                  </a:ext>
                </a:extLst>
              </p:cNvPr>
              <p:cNvSpPr>
                <a:spLocks noChangeArrowheads="1"/>
              </p:cNvSpPr>
              <p:nvPr/>
            </p:nvSpPr>
            <p:spPr bwMode="auto">
              <a:xfrm>
                <a:off x="48" y="1971"/>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4" name="Rectangle 10">
                <a:extLst>
                  <a:ext uri="{FF2B5EF4-FFF2-40B4-BE49-F238E27FC236}">
                    <a16:creationId xmlns:a16="http://schemas.microsoft.com/office/drawing/2014/main" id="{9EB854A4-79FF-229A-1E40-949D1BBD1ED0}"/>
                  </a:ext>
                </a:extLst>
              </p:cNvPr>
              <p:cNvSpPr>
                <a:spLocks noChangeArrowheads="1"/>
              </p:cNvSpPr>
              <p:nvPr/>
            </p:nvSpPr>
            <p:spPr bwMode="auto">
              <a:xfrm>
                <a:off x="48" y="2115"/>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5" name="Rectangle 11">
                <a:extLst>
                  <a:ext uri="{FF2B5EF4-FFF2-40B4-BE49-F238E27FC236}">
                    <a16:creationId xmlns:a16="http://schemas.microsoft.com/office/drawing/2014/main" id="{9FB01D38-3A63-5A9C-07E4-3C7753FA7524}"/>
                  </a:ext>
                </a:extLst>
              </p:cNvPr>
              <p:cNvSpPr>
                <a:spLocks noChangeArrowheads="1"/>
              </p:cNvSpPr>
              <p:nvPr/>
            </p:nvSpPr>
            <p:spPr bwMode="auto">
              <a:xfrm>
                <a:off x="48" y="2259"/>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6" name="Rectangle 12">
                <a:extLst>
                  <a:ext uri="{FF2B5EF4-FFF2-40B4-BE49-F238E27FC236}">
                    <a16:creationId xmlns:a16="http://schemas.microsoft.com/office/drawing/2014/main" id="{454ED723-D6A6-5FC1-8CB3-F7F027873775}"/>
                  </a:ext>
                </a:extLst>
              </p:cNvPr>
              <p:cNvSpPr>
                <a:spLocks noChangeArrowheads="1"/>
              </p:cNvSpPr>
              <p:nvPr/>
            </p:nvSpPr>
            <p:spPr bwMode="auto">
              <a:xfrm>
                <a:off x="48" y="2403"/>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7" name="Rectangle 13">
                <a:extLst>
                  <a:ext uri="{FF2B5EF4-FFF2-40B4-BE49-F238E27FC236}">
                    <a16:creationId xmlns:a16="http://schemas.microsoft.com/office/drawing/2014/main" id="{022DCB2C-79A0-91D4-155E-B0B4DD1A524E}"/>
                  </a:ext>
                </a:extLst>
              </p:cNvPr>
              <p:cNvSpPr>
                <a:spLocks noChangeArrowheads="1"/>
              </p:cNvSpPr>
              <p:nvPr/>
            </p:nvSpPr>
            <p:spPr bwMode="auto">
              <a:xfrm>
                <a:off x="48" y="2548"/>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8" name="Rectangle 14">
                <a:extLst>
                  <a:ext uri="{FF2B5EF4-FFF2-40B4-BE49-F238E27FC236}">
                    <a16:creationId xmlns:a16="http://schemas.microsoft.com/office/drawing/2014/main" id="{7D49C79B-7015-835A-3063-8EC7E46779F6}"/>
                  </a:ext>
                </a:extLst>
              </p:cNvPr>
              <p:cNvSpPr>
                <a:spLocks noChangeArrowheads="1"/>
              </p:cNvSpPr>
              <p:nvPr/>
            </p:nvSpPr>
            <p:spPr bwMode="auto">
              <a:xfrm>
                <a:off x="48" y="2692"/>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39" name="Rectangle 15">
                <a:extLst>
                  <a:ext uri="{FF2B5EF4-FFF2-40B4-BE49-F238E27FC236}">
                    <a16:creationId xmlns:a16="http://schemas.microsoft.com/office/drawing/2014/main" id="{0595D9FA-B4AC-73C5-4B23-AFBB49B12938}"/>
                  </a:ext>
                </a:extLst>
              </p:cNvPr>
              <p:cNvSpPr>
                <a:spLocks noChangeArrowheads="1"/>
              </p:cNvSpPr>
              <p:nvPr/>
            </p:nvSpPr>
            <p:spPr bwMode="auto">
              <a:xfrm>
                <a:off x="48" y="2836"/>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0" name="Rectangle 16">
                <a:extLst>
                  <a:ext uri="{FF2B5EF4-FFF2-40B4-BE49-F238E27FC236}">
                    <a16:creationId xmlns:a16="http://schemas.microsoft.com/office/drawing/2014/main" id="{1B0D2510-DC89-530D-AD76-9417E9291437}"/>
                  </a:ext>
                </a:extLst>
              </p:cNvPr>
              <p:cNvSpPr>
                <a:spLocks noChangeArrowheads="1"/>
              </p:cNvSpPr>
              <p:nvPr/>
            </p:nvSpPr>
            <p:spPr bwMode="auto">
              <a:xfrm>
                <a:off x="48" y="2980"/>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1" name="Rectangle 17">
                <a:extLst>
                  <a:ext uri="{FF2B5EF4-FFF2-40B4-BE49-F238E27FC236}">
                    <a16:creationId xmlns:a16="http://schemas.microsoft.com/office/drawing/2014/main" id="{31423E62-497E-4E3F-98DE-5FBE84A4C674}"/>
                  </a:ext>
                </a:extLst>
              </p:cNvPr>
              <p:cNvSpPr>
                <a:spLocks noChangeArrowheads="1"/>
              </p:cNvSpPr>
              <p:nvPr/>
            </p:nvSpPr>
            <p:spPr bwMode="auto">
              <a:xfrm>
                <a:off x="48" y="3124"/>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2" name="Rectangle 18">
                <a:extLst>
                  <a:ext uri="{FF2B5EF4-FFF2-40B4-BE49-F238E27FC236}">
                    <a16:creationId xmlns:a16="http://schemas.microsoft.com/office/drawing/2014/main" id="{DB537C31-58EB-FC68-86FF-BFAFD8BAC7D5}"/>
                  </a:ext>
                </a:extLst>
              </p:cNvPr>
              <p:cNvSpPr>
                <a:spLocks noChangeArrowheads="1"/>
              </p:cNvSpPr>
              <p:nvPr/>
            </p:nvSpPr>
            <p:spPr bwMode="auto">
              <a:xfrm>
                <a:off x="48" y="3269"/>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3" name="Rectangle 19">
                <a:extLst>
                  <a:ext uri="{FF2B5EF4-FFF2-40B4-BE49-F238E27FC236}">
                    <a16:creationId xmlns:a16="http://schemas.microsoft.com/office/drawing/2014/main" id="{870DC175-42F8-7376-DFB8-BFEB612A4465}"/>
                  </a:ext>
                </a:extLst>
              </p:cNvPr>
              <p:cNvSpPr>
                <a:spLocks noChangeArrowheads="1"/>
              </p:cNvSpPr>
              <p:nvPr/>
            </p:nvSpPr>
            <p:spPr bwMode="auto">
              <a:xfrm>
                <a:off x="48" y="3412"/>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4" name="Rectangle 20">
                <a:extLst>
                  <a:ext uri="{FF2B5EF4-FFF2-40B4-BE49-F238E27FC236}">
                    <a16:creationId xmlns:a16="http://schemas.microsoft.com/office/drawing/2014/main" id="{2D5720A2-C4B6-9DB5-735B-52D5432DDE61}"/>
                  </a:ext>
                </a:extLst>
              </p:cNvPr>
              <p:cNvSpPr>
                <a:spLocks noChangeArrowheads="1"/>
              </p:cNvSpPr>
              <p:nvPr/>
            </p:nvSpPr>
            <p:spPr bwMode="auto">
              <a:xfrm>
                <a:off x="48" y="3557"/>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5" name="Rectangle 21">
                <a:extLst>
                  <a:ext uri="{FF2B5EF4-FFF2-40B4-BE49-F238E27FC236}">
                    <a16:creationId xmlns:a16="http://schemas.microsoft.com/office/drawing/2014/main" id="{2505466C-547F-5E5C-64A4-280618848720}"/>
                  </a:ext>
                </a:extLst>
              </p:cNvPr>
              <p:cNvSpPr>
                <a:spLocks noChangeArrowheads="1"/>
              </p:cNvSpPr>
              <p:nvPr/>
            </p:nvSpPr>
            <p:spPr bwMode="auto">
              <a:xfrm>
                <a:off x="48" y="3702"/>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6" name="Rectangle 22">
                <a:extLst>
                  <a:ext uri="{FF2B5EF4-FFF2-40B4-BE49-F238E27FC236}">
                    <a16:creationId xmlns:a16="http://schemas.microsoft.com/office/drawing/2014/main" id="{2CDA087F-DD67-3145-D924-7CDDF5D4398D}"/>
                  </a:ext>
                </a:extLst>
              </p:cNvPr>
              <p:cNvSpPr>
                <a:spLocks noChangeArrowheads="1"/>
              </p:cNvSpPr>
              <p:nvPr/>
            </p:nvSpPr>
            <p:spPr bwMode="auto">
              <a:xfrm>
                <a:off x="48" y="3845"/>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7" name="Rectangle 23">
                <a:extLst>
                  <a:ext uri="{FF2B5EF4-FFF2-40B4-BE49-F238E27FC236}">
                    <a16:creationId xmlns:a16="http://schemas.microsoft.com/office/drawing/2014/main" id="{605132C1-E0D8-209D-CD47-DEFB590A0B3A}"/>
                  </a:ext>
                </a:extLst>
              </p:cNvPr>
              <p:cNvSpPr>
                <a:spLocks noChangeArrowheads="1"/>
              </p:cNvSpPr>
              <p:nvPr/>
            </p:nvSpPr>
            <p:spPr bwMode="auto">
              <a:xfrm>
                <a:off x="48" y="3990"/>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8" name="Rectangle 24">
                <a:extLst>
                  <a:ext uri="{FF2B5EF4-FFF2-40B4-BE49-F238E27FC236}">
                    <a16:creationId xmlns:a16="http://schemas.microsoft.com/office/drawing/2014/main" id="{7ACFB45F-9EC3-67AF-7AE1-D2DE2492C9D2}"/>
                  </a:ext>
                </a:extLst>
              </p:cNvPr>
              <p:cNvSpPr>
                <a:spLocks noChangeArrowheads="1"/>
              </p:cNvSpPr>
              <p:nvPr/>
            </p:nvSpPr>
            <p:spPr bwMode="auto">
              <a:xfrm>
                <a:off x="48" y="4133"/>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49" name="Rectangle 25">
                <a:extLst>
                  <a:ext uri="{FF2B5EF4-FFF2-40B4-BE49-F238E27FC236}">
                    <a16:creationId xmlns:a16="http://schemas.microsoft.com/office/drawing/2014/main" id="{C043D6F5-0E9C-8E52-619C-0F36616476FB}"/>
                  </a:ext>
                </a:extLst>
              </p:cNvPr>
              <p:cNvSpPr>
                <a:spLocks noChangeArrowheads="1"/>
              </p:cNvSpPr>
              <p:nvPr/>
            </p:nvSpPr>
            <p:spPr bwMode="auto">
              <a:xfrm>
                <a:off x="48" y="102"/>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50" name="Rectangle 26">
                <a:extLst>
                  <a:ext uri="{FF2B5EF4-FFF2-40B4-BE49-F238E27FC236}">
                    <a16:creationId xmlns:a16="http://schemas.microsoft.com/office/drawing/2014/main" id="{34ECC57F-E8A8-01C7-B9F1-4027868010E0}"/>
                  </a:ext>
                </a:extLst>
              </p:cNvPr>
              <p:cNvSpPr>
                <a:spLocks noChangeArrowheads="1"/>
              </p:cNvSpPr>
              <p:nvPr/>
            </p:nvSpPr>
            <p:spPr bwMode="auto">
              <a:xfrm>
                <a:off x="48" y="246"/>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51" name="Rectangle 27">
                <a:extLst>
                  <a:ext uri="{FF2B5EF4-FFF2-40B4-BE49-F238E27FC236}">
                    <a16:creationId xmlns:a16="http://schemas.microsoft.com/office/drawing/2014/main" id="{57C1B039-8362-0403-D4DA-175730CCEF89}"/>
                  </a:ext>
                </a:extLst>
              </p:cNvPr>
              <p:cNvSpPr>
                <a:spLocks noChangeArrowheads="1"/>
              </p:cNvSpPr>
              <p:nvPr/>
            </p:nvSpPr>
            <p:spPr bwMode="auto">
              <a:xfrm>
                <a:off x="48" y="391"/>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52" name="Rectangle 28">
                <a:extLst>
                  <a:ext uri="{FF2B5EF4-FFF2-40B4-BE49-F238E27FC236}">
                    <a16:creationId xmlns:a16="http://schemas.microsoft.com/office/drawing/2014/main" id="{12867D7D-B14C-89D1-1ADD-76BAFD90A509}"/>
                  </a:ext>
                </a:extLst>
              </p:cNvPr>
              <p:cNvSpPr>
                <a:spLocks noChangeArrowheads="1"/>
              </p:cNvSpPr>
              <p:nvPr/>
            </p:nvSpPr>
            <p:spPr bwMode="auto">
              <a:xfrm>
                <a:off x="48" y="535"/>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53" name="Rectangle 29">
                <a:extLst>
                  <a:ext uri="{FF2B5EF4-FFF2-40B4-BE49-F238E27FC236}">
                    <a16:creationId xmlns:a16="http://schemas.microsoft.com/office/drawing/2014/main" id="{B830DD6F-9661-7497-5296-D4FA34918678}"/>
                  </a:ext>
                </a:extLst>
              </p:cNvPr>
              <p:cNvSpPr>
                <a:spLocks noChangeArrowheads="1"/>
              </p:cNvSpPr>
              <p:nvPr/>
            </p:nvSpPr>
            <p:spPr bwMode="auto">
              <a:xfrm>
                <a:off x="48" y="679"/>
                <a:ext cx="96" cy="96"/>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54" name="Rectangle 30">
                <a:extLst>
                  <a:ext uri="{FF2B5EF4-FFF2-40B4-BE49-F238E27FC236}">
                    <a16:creationId xmlns:a16="http://schemas.microsoft.com/office/drawing/2014/main" id="{AA95C429-B24F-EF44-73A9-D6EB488A7C7B}"/>
                  </a:ext>
                </a:extLst>
              </p:cNvPr>
              <p:cNvSpPr>
                <a:spLocks noChangeArrowheads="1"/>
              </p:cNvSpPr>
              <p:nvPr/>
            </p:nvSpPr>
            <p:spPr bwMode="auto">
              <a:xfrm>
                <a:off x="48" y="823"/>
                <a:ext cx="96" cy="97"/>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055" name="Rectangle 31">
                <a:extLst>
                  <a:ext uri="{FF2B5EF4-FFF2-40B4-BE49-F238E27FC236}">
                    <a16:creationId xmlns:a16="http://schemas.microsoft.com/office/drawing/2014/main" id="{CAC2EB1C-647B-D96B-62D6-55FE121FB483}"/>
                  </a:ext>
                </a:extLst>
              </p:cNvPr>
              <p:cNvSpPr>
                <a:spLocks noChangeArrowheads="1"/>
              </p:cNvSpPr>
              <p:nvPr/>
            </p:nvSpPr>
            <p:spPr bwMode="auto">
              <a:xfrm>
                <a:off x="48" y="968"/>
                <a:ext cx="96" cy="95"/>
              </a:xfrm>
              <a:prstGeom prst="rect">
                <a:avLst/>
              </a:prstGeom>
              <a:solidFill>
                <a:schemeClr val="bg1">
                  <a:alpha val="50000"/>
                </a:schemeClr>
              </a:solidFill>
              <a:ln w="9525">
                <a:noFill/>
                <a:miter lim="800000"/>
                <a:headEnd/>
                <a:tailEnd/>
              </a:ln>
              <a:effectLst/>
            </p:spPr>
            <p:txBody>
              <a:bodyPr wrap="none" anchor="ctr"/>
              <a:lstStyle/>
              <a:p>
                <a:pPr>
                  <a:defRPr/>
                </a:pPr>
                <a:endParaRPr lang="en-US">
                  <a:effectLst>
                    <a:outerShdw blurRad="38100" dist="38100" dir="2700000" algn="tl">
                      <a:srgbClr val="000000">
                        <a:alpha val="43137"/>
                      </a:srgbClr>
                    </a:outerShdw>
                  </a:effectLst>
                </a:endParaRPr>
              </a:p>
            </p:txBody>
          </p:sp>
        </p:grpSp>
      </p:grpSp>
      <p:sp>
        <p:nvSpPr>
          <p:cNvPr id="1027" name="Rectangle 34">
            <a:extLst>
              <a:ext uri="{FF2B5EF4-FFF2-40B4-BE49-F238E27FC236}">
                <a16:creationId xmlns:a16="http://schemas.microsoft.com/office/drawing/2014/main" id="{7FD6F43A-0BF1-349B-FFA6-4E6AB410E787}"/>
              </a:ext>
            </a:extLst>
          </p:cNvPr>
          <p:cNvSpPr>
            <a:spLocks noGrp="1" noChangeArrowheads="1"/>
          </p:cNvSpPr>
          <p:nvPr>
            <p:ph type="title"/>
          </p:nvPr>
        </p:nvSpPr>
        <p:spPr bwMode="auto">
          <a:xfrm>
            <a:off x="11430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59" name="Rectangle 35">
            <a:extLst>
              <a:ext uri="{FF2B5EF4-FFF2-40B4-BE49-F238E27FC236}">
                <a16:creationId xmlns:a16="http://schemas.microsoft.com/office/drawing/2014/main" id="{77F43D2F-89E7-3205-F56D-10A60B47C84D}"/>
              </a:ext>
            </a:extLst>
          </p:cNvPr>
          <p:cNvSpPr>
            <a:spLocks noGrp="1" noChangeArrowheads="1"/>
          </p:cNvSpPr>
          <p:nvPr>
            <p:ph type="body" idx="1"/>
          </p:nvPr>
        </p:nvSpPr>
        <p:spPr bwMode="auto">
          <a:xfrm>
            <a:off x="1143000" y="1981200"/>
            <a:ext cx="7772400" cy="4114800"/>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60" name="Rectangle 36">
            <a:extLst>
              <a:ext uri="{FF2B5EF4-FFF2-40B4-BE49-F238E27FC236}">
                <a16:creationId xmlns:a16="http://schemas.microsoft.com/office/drawing/2014/main" id="{3FA7DEF2-4177-6C32-54DD-4657DA526CF0}"/>
              </a:ext>
            </a:extLst>
          </p:cNvPr>
          <p:cNvSpPr>
            <a:spLocks noGrp="1" noChangeArrowheads="1"/>
          </p:cNvSpPr>
          <p:nvPr>
            <p:ph type="dt" sz="half" idx="2"/>
          </p:nvPr>
        </p:nvSpPr>
        <p:spPr bwMode="auto">
          <a:xfrm>
            <a:off x="11430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a:effectLst/>
              </a:defRPr>
            </a:lvl1pPr>
          </a:lstStyle>
          <a:p>
            <a:pPr>
              <a:defRPr/>
            </a:pPr>
            <a:endParaRPr lang="en-US"/>
          </a:p>
        </p:txBody>
      </p:sp>
      <p:sp>
        <p:nvSpPr>
          <p:cNvPr id="1061" name="Rectangle 37">
            <a:extLst>
              <a:ext uri="{FF2B5EF4-FFF2-40B4-BE49-F238E27FC236}">
                <a16:creationId xmlns:a16="http://schemas.microsoft.com/office/drawing/2014/main" id="{1346572A-D9B4-185A-BD37-85BE3A3638D2}"/>
              </a:ext>
            </a:extLst>
          </p:cNvPr>
          <p:cNvSpPr>
            <a:spLocks noGrp="1" noChangeArrowheads="1"/>
          </p:cNvSpPr>
          <p:nvPr>
            <p:ph type="ftr" sz="quarter" idx="3"/>
          </p:nvPr>
        </p:nvSpPr>
        <p:spPr bwMode="auto">
          <a:xfrm>
            <a:off x="35814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1400">
                <a:effectLst/>
              </a:defRPr>
            </a:lvl1pPr>
          </a:lstStyle>
          <a:p>
            <a:pPr>
              <a:defRPr/>
            </a:pPr>
            <a:endParaRPr lang="en-US"/>
          </a:p>
        </p:txBody>
      </p:sp>
      <p:sp>
        <p:nvSpPr>
          <p:cNvPr id="1062" name="Rectangle 38">
            <a:extLst>
              <a:ext uri="{FF2B5EF4-FFF2-40B4-BE49-F238E27FC236}">
                <a16:creationId xmlns:a16="http://schemas.microsoft.com/office/drawing/2014/main" id="{9C2C9D76-47F6-A442-3EF6-2DDC8A10FC07}"/>
              </a:ext>
            </a:extLst>
          </p:cNvPr>
          <p:cNvSpPr>
            <a:spLocks noGrp="1" noChangeArrowheads="1"/>
          </p:cNvSpPr>
          <p:nvPr>
            <p:ph type="sldNum" sz="quarter" idx="4"/>
          </p:nvPr>
        </p:nvSpPr>
        <p:spPr bwMode="auto">
          <a:xfrm>
            <a:off x="70104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smtClean="0">
                <a:effectLst/>
              </a:defRPr>
            </a:lvl1pPr>
          </a:lstStyle>
          <a:p>
            <a:pPr>
              <a:defRPr/>
            </a:pPr>
            <a:fld id="{E387C37F-C8B5-47C0-B681-D0DE8E529233}"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695"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imes New Roman" pitchFamily="18" charset="0"/>
        </a:defRPr>
      </a:lvl2pPr>
      <a:lvl3pPr algn="l" rtl="0" eaLnBrk="0" fontAlgn="base" hangingPunct="0">
        <a:spcBef>
          <a:spcPct val="0"/>
        </a:spcBef>
        <a:spcAft>
          <a:spcPct val="0"/>
        </a:spcAft>
        <a:defRPr sz="4400">
          <a:solidFill>
            <a:schemeClr val="tx2"/>
          </a:solidFill>
          <a:latin typeface="Times New Roman" pitchFamily="18" charset="0"/>
        </a:defRPr>
      </a:lvl3pPr>
      <a:lvl4pPr algn="l" rtl="0" eaLnBrk="0" fontAlgn="base" hangingPunct="0">
        <a:spcBef>
          <a:spcPct val="0"/>
        </a:spcBef>
        <a:spcAft>
          <a:spcPct val="0"/>
        </a:spcAft>
        <a:defRPr sz="4400">
          <a:solidFill>
            <a:schemeClr val="tx2"/>
          </a:solidFill>
          <a:latin typeface="Times New Roman" pitchFamily="18" charset="0"/>
        </a:defRPr>
      </a:lvl4pPr>
      <a:lvl5pPr algn="l" rtl="0" eaLnBrk="0" fontAlgn="base" hangingPunct="0">
        <a:spcBef>
          <a:spcPct val="0"/>
        </a:spcBef>
        <a:spcAft>
          <a:spcPct val="0"/>
        </a:spcAft>
        <a:defRPr sz="4400">
          <a:solidFill>
            <a:schemeClr val="tx2"/>
          </a:solidFill>
          <a:latin typeface="Times New Roman" pitchFamily="18" charset="0"/>
        </a:defRPr>
      </a:lvl5pPr>
      <a:lvl6pPr marL="457200" algn="l" rtl="0" eaLnBrk="0" fontAlgn="base" hangingPunct="0">
        <a:spcBef>
          <a:spcPct val="0"/>
        </a:spcBef>
        <a:spcAft>
          <a:spcPct val="0"/>
        </a:spcAft>
        <a:defRPr sz="4400">
          <a:solidFill>
            <a:schemeClr val="tx2"/>
          </a:solidFill>
          <a:latin typeface="Times New Roman" pitchFamily="18" charset="0"/>
        </a:defRPr>
      </a:lvl6pPr>
      <a:lvl7pPr marL="914400" algn="l" rtl="0" eaLnBrk="0" fontAlgn="base" hangingPunct="0">
        <a:spcBef>
          <a:spcPct val="0"/>
        </a:spcBef>
        <a:spcAft>
          <a:spcPct val="0"/>
        </a:spcAft>
        <a:defRPr sz="4400">
          <a:solidFill>
            <a:schemeClr val="tx2"/>
          </a:solidFill>
          <a:latin typeface="Times New Roman" pitchFamily="18" charset="0"/>
        </a:defRPr>
      </a:lvl7pPr>
      <a:lvl8pPr marL="1371600" algn="l" rtl="0" eaLnBrk="0" fontAlgn="base" hangingPunct="0">
        <a:spcBef>
          <a:spcPct val="0"/>
        </a:spcBef>
        <a:spcAft>
          <a:spcPct val="0"/>
        </a:spcAft>
        <a:defRPr sz="4400">
          <a:solidFill>
            <a:schemeClr val="tx2"/>
          </a:solidFill>
          <a:latin typeface="Times New Roman" pitchFamily="18" charset="0"/>
        </a:defRPr>
      </a:lvl8pPr>
      <a:lvl9pPr marL="1828800" algn="l"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75000"/>
        <a:buFont typeface="Monotype Sorts" pitchFamily="2" charset="2"/>
        <a:buChar char="u"/>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tx2"/>
        </a:buClr>
        <a:buSzPct val="65000"/>
        <a:buFont typeface="Monotype Sorts" pitchFamily="2" charset="2"/>
        <a:buChar char="F"/>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defRPr>
      </a:lvl5pPr>
      <a:lvl6pPr marL="25146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defRPr>
      </a:lvl6pPr>
      <a:lvl7pPr marL="29718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defRPr>
      </a:lvl7pPr>
      <a:lvl8pPr marL="34290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defRPr>
      </a:lvl8pPr>
      <a:lvl9pPr marL="3886200" indent="-228600" algn="l" rtl="0" eaLnBrk="0" fontAlgn="base" hangingPunct="0">
        <a:spcBef>
          <a:spcPct val="20000"/>
        </a:spcBef>
        <a:spcAft>
          <a:spcPct val="0"/>
        </a:spcAft>
        <a:buClr>
          <a:schemeClr val="tx1"/>
        </a:buClr>
        <a:buSzPct val="100000"/>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017C4F88-F11F-B2EC-0B8F-C5B89E9C08C5}"/>
              </a:ext>
            </a:extLst>
          </p:cNvPr>
          <p:cNvSpPr>
            <a:spLocks noChangeArrowheads="1"/>
          </p:cNvSpPr>
          <p:nvPr/>
        </p:nvSpPr>
        <p:spPr bwMode="auto">
          <a:xfrm>
            <a:off x="914400" y="1524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en-US" sz="4400">
              <a:solidFill>
                <a:schemeClr val="tx2"/>
              </a:solidFill>
            </a:endParaRPr>
          </a:p>
        </p:txBody>
      </p:sp>
      <p:sp>
        <p:nvSpPr>
          <p:cNvPr id="15362" name="Rectangle 5">
            <a:extLst>
              <a:ext uri="{FF2B5EF4-FFF2-40B4-BE49-F238E27FC236}">
                <a16:creationId xmlns:a16="http://schemas.microsoft.com/office/drawing/2014/main" id="{53E93B04-84F9-C484-2FAA-0DAB1373E4A5}"/>
              </a:ext>
            </a:extLst>
          </p:cNvPr>
          <p:cNvSpPr>
            <a:spLocks noChangeArrowheads="1"/>
          </p:cNvSpPr>
          <p:nvPr/>
        </p:nvSpPr>
        <p:spPr bwMode="auto">
          <a:xfrm>
            <a:off x="1504950" y="1905000"/>
            <a:ext cx="66532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4400"/>
          </a:p>
        </p:txBody>
      </p:sp>
      <p:sp>
        <p:nvSpPr>
          <p:cNvPr id="15363" name="Rectangle 6">
            <a:extLst>
              <a:ext uri="{FF2B5EF4-FFF2-40B4-BE49-F238E27FC236}">
                <a16:creationId xmlns:a16="http://schemas.microsoft.com/office/drawing/2014/main" id="{6BC62C59-0E10-E271-854D-4541D84CE4F7}"/>
              </a:ext>
            </a:extLst>
          </p:cNvPr>
          <p:cNvSpPr>
            <a:spLocks noChangeArrowheads="1"/>
          </p:cNvSpPr>
          <p:nvPr/>
        </p:nvSpPr>
        <p:spPr bwMode="auto">
          <a:xfrm>
            <a:off x="3529013" y="2130425"/>
            <a:ext cx="26828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4400"/>
              <a:t>IP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F1470C7D-F4B7-23A3-D974-EBFBD8269C48}"/>
              </a:ext>
            </a:extLst>
          </p:cNvPr>
          <p:cNvSpPr>
            <a:spLocks noGrp="1" noChangeArrowheads="1"/>
          </p:cNvSpPr>
          <p:nvPr>
            <p:ph type="title"/>
          </p:nvPr>
        </p:nvSpPr>
        <p:spPr/>
        <p:txBody>
          <a:bodyPr/>
          <a:lstStyle/>
          <a:p>
            <a:r>
              <a:rPr lang="en-US" altLang="en-US"/>
              <a:t>IP Security</a:t>
            </a:r>
            <a:endParaRPr lang="en-AU" altLang="en-US"/>
          </a:p>
        </p:txBody>
      </p:sp>
      <p:sp>
        <p:nvSpPr>
          <p:cNvPr id="928771" name="Rectangle 3">
            <a:extLst>
              <a:ext uri="{FF2B5EF4-FFF2-40B4-BE49-F238E27FC236}">
                <a16:creationId xmlns:a16="http://schemas.microsoft.com/office/drawing/2014/main" id="{EB92F501-84B7-E205-1B00-B4A512B49D73}"/>
              </a:ext>
            </a:extLst>
          </p:cNvPr>
          <p:cNvSpPr>
            <a:spLocks noGrp="1" noChangeArrowheads="1"/>
          </p:cNvSpPr>
          <p:nvPr>
            <p:ph type="body" idx="1"/>
          </p:nvPr>
        </p:nvSpPr>
        <p:spPr/>
        <p:txBody>
          <a:bodyPr/>
          <a:lstStyle/>
          <a:p>
            <a:pPr>
              <a:defRPr/>
            </a:pPr>
            <a:r>
              <a:rPr lang="en-US"/>
              <a:t>Have a range of application specific security mechanisms</a:t>
            </a:r>
          </a:p>
          <a:p>
            <a:pPr lvl="1">
              <a:defRPr/>
            </a:pPr>
            <a:r>
              <a:rPr lang="en-US"/>
              <a:t>eg. S/MIME, PGP, Kerberos, SSL/HTTPS</a:t>
            </a:r>
          </a:p>
          <a:p>
            <a:pPr>
              <a:defRPr/>
            </a:pPr>
            <a:r>
              <a:rPr lang="en-US"/>
              <a:t>However there are security concerns that cut across protocol layers</a:t>
            </a:r>
          </a:p>
          <a:p>
            <a:pPr>
              <a:defRPr/>
            </a:pPr>
            <a:r>
              <a:rPr lang="en-US"/>
              <a:t>Would like security implemented by the network for all applications</a:t>
            </a:r>
            <a:endParaRPr lang="en-A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BAD52341-35BB-A726-AA32-39162BB41AD7}"/>
              </a:ext>
            </a:extLst>
          </p:cNvPr>
          <p:cNvSpPr>
            <a:spLocks noGrp="1" noChangeArrowheads="1"/>
          </p:cNvSpPr>
          <p:nvPr>
            <p:ph type="title"/>
          </p:nvPr>
        </p:nvSpPr>
        <p:spPr/>
        <p:txBody>
          <a:bodyPr/>
          <a:lstStyle/>
          <a:p>
            <a:r>
              <a:rPr lang="en-US" altLang="en-US"/>
              <a:t>IPSec</a:t>
            </a:r>
            <a:endParaRPr lang="en-AU" altLang="en-US"/>
          </a:p>
        </p:txBody>
      </p:sp>
      <p:sp>
        <p:nvSpPr>
          <p:cNvPr id="930819" name="Rectangle 3">
            <a:extLst>
              <a:ext uri="{FF2B5EF4-FFF2-40B4-BE49-F238E27FC236}">
                <a16:creationId xmlns:a16="http://schemas.microsoft.com/office/drawing/2014/main" id="{EB85A924-1CAE-0709-006F-6841A9BB17AB}"/>
              </a:ext>
            </a:extLst>
          </p:cNvPr>
          <p:cNvSpPr>
            <a:spLocks noGrp="1" noChangeArrowheads="1"/>
          </p:cNvSpPr>
          <p:nvPr>
            <p:ph type="body" idx="1"/>
          </p:nvPr>
        </p:nvSpPr>
        <p:spPr/>
        <p:txBody>
          <a:bodyPr/>
          <a:lstStyle/>
          <a:p>
            <a:pPr>
              <a:defRPr/>
            </a:pPr>
            <a:r>
              <a:rPr lang="en-US"/>
              <a:t>General IP Security mechanisms</a:t>
            </a:r>
          </a:p>
          <a:p>
            <a:pPr>
              <a:defRPr/>
            </a:pPr>
            <a:r>
              <a:rPr lang="en-US"/>
              <a:t>Provides</a:t>
            </a:r>
          </a:p>
          <a:p>
            <a:pPr lvl="1">
              <a:defRPr/>
            </a:pPr>
            <a:r>
              <a:rPr lang="en-US"/>
              <a:t>authentication</a:t>
            </a:r>
          </a:p>
          <a:p>
            <a:pPr lvl="1">
              <a:defRPr/>
            </a:pPr>
            <a:r>
              <a:rPr lang="en-US"/>
              <a:t>confidentiality</a:t>
            </a:r>
          </a:p>
          <a:p>
            <a:pPr lvl="1">
              <a:defRPr/>
            </a:pPr>
            <a:r>
              <a:rPr lang="en-US"/>
              <a:t>key management</a:t>
            </a:r>
          </a:p>
          <a:p>
            <a:pPr>
              <a:defRPr/>
            </a:pPr>
            <a:r>
              <a:rPr lang="en-US"/>
              <a:t>Applicable to use over LANs, across public &amp; private WANs, &amp; for the Internet</a:t>
            </a:r>
            <a:endParaRPr lang="en-A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30AC8FDB-3A99-6CB3-8324-896168FA2522}"/>
              </a:ext>
            </a:extLst>
          </p:cNvPr>
          <p:cNvSpPr>
            <a:spLocks noGrp="1" noChangeArrowheads="1"/>
          </p:cNvSpPr>
          <p:nvPr>
            <p:ph type="title"/>
          </p:nvPr>
        </p:nvSpPr>
        <p:spPr>
          <a:xfrm>
            <a:off x="989013" y="254000"/>
            <a:ext cx="7772400" cy="1143000"/>
          </a:xfrm>
        </p:spPr>
        <p:txBody>
          <a:bodyPr/>
          <a:lstStyle/>
          <a:p>
            <a:r>
              <a:rPr lang="en-US" altLang="en-US"/>
              <a:t>IPSec Uses</a:t>
            </a:r>
            <a:endParaRPr lang="en-AU" altLang="en-US"/>
          </a:p>
        </p:txBody>
      </p:sp>
      <p:pic>
        <p:nvPicPr>
          <p:cNvPr id="21506" name="Picture 3">
            <a:extLst>
              <a:ext uri="{FF2B5EF4-FFF2-40B4-BE49-F238E27FC236}">
                <a16:creationId xmlns:a16="http://schemas.microsoft.com/office/drawing/2014/main" id="{7FF45ACD-4B52-3C22-D36A-8A1E3C6D300E}"/>
              </a:ext>
            </a:extLst>
          </p:cNvPr>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0" y="1506538"/>
            <a:ext cx="9099550" cy="4816475"/>
          </a:xfrm>
        </p:spPr>
      </p:pic>
      <p:grpSp>
        <p:nvGrpSpPr>
          <p:cNvPr id="2" name="Group 6">
            <a:extLst>
              <a:ext uri="{FF2B5EF4-FFF2-40B4-BE49-F238E27FC236}">
                <a16:creationId xmlns:a16="http://schemas.microsoft.com/office/drawing/2014/main" id="{C65D1D78-A1D8-DD2F-5AA8-C58CC3705756}"/>
              </a:ext>
            </a:extLst>
          </p:cNvPr>
          <p:cNvGrpSpPr>
            <a:grpSpLocks/>
          </p:cNvGrpSpPr>
          <p:nvPr/>
        </p:nvGrpSpPr>
        <p:grpSpPr bwMode="auto">
          <a:xfrm>
            <a:off x="2019300" y="3557588"/>
            <a:ext cx="1514475" cy="1047750"/>
            <a:chOff x="1272" y="2241"/>
            <a:chExt cx="954" cy="660"/>
          </a:xfrm>
        </p:grpSpPr>
        <p:sp>
          <p:nvSpPr>
            <p:cNvPr id="900100" name="AutoShape 4">
              <a:extLst>
                <a:ext uri="{FF2B5EF4-FFF2-40B4-BE49-F238E27FC236}">
                  <a16:creationId xmlns:a16="http://schemas.microsoft.com/office/drawing/2014/main" id="{B9176289-BD0C-A189-BC88-2803CA88AD88}"/>
                </a:ext>
              </a:extLst>
            </p:cNvPr>
            <p:cNvSpPr>
              <a:spLocks noChangeArrowheads="1"/>
            </p:cNvSpPr>
            <p:nvPr/>
          </p:nvSpPr>
          <p:spPr bwMode="auto">
            <a:xfrm>
              <a:off x="1272" y="2241"/>
              <a:ext cx="927" cy="660"/>
            </a:xfrm>
            <a:prstGeom prst="wedgeEllipseCallout">
              <a:avLst>
                <a:gd name="adj1" fmla="val 60787"/>
                <a:gd name="adj2" fmla="val 89241"/>
              </a:avLst>
            </a:prstGeom>
            <a:noFill/>
            <a:ln w="12700">
              <a:solidFill>
                <a:schemeClr val="bg2"/>
              </a:solidFill>
              <a:miter lim="800000"/>
              <a:headEnd type="none" w="sm" len="sm"/>
              <a:tailEnd type="none" w="sm" len="sm"/>
            </a:ln>
            <a:effectLst/>
          </p:spPr>
          <p:txBody>
            <a:bodyPr/>
            <a:lstStyle/>
            <a:p>
              <a:pPr algn="ctr">
                <a:defRPr/>
              </a:pPr>
              <a:endParaRPr lang="en-US">
                <a:effectLst>
                  <a:outerShdw blurRad="38100" dist="38100" dir="2700000" algn="tl">
                    <a:srgbClr val="000000"/>
                  </a:outerShdw>
                </a:effectLst>
              </a:endParaRPr>
            </a:p>
          </p:txBody>
        </p:sp>
        <p:sp>
          <p:nvSpPr>
            <p:cNvPr id="900101" name="Text Box 5">
              <a:extLst>
                <a:ext uri="{FF2B5EF4-FFF2-40B4-BE49-F238E27FC236}">
                  <a16:creationId xmlns:a16="http://schemas.microsoft.com/office/drawing/2014/main" id="{AC3FF965-A3AD-8BA1-2E99-101043147EBE}"/>
                </a:ext>
              </a:extLst>
            </p:cNvPr>
            <p:cNvSpPr txBox="1">
              <a:spLocks noChangeArrowheads="1"/>
            </p:cNvSpPr>
            <p:nvPr/>
          </p:nvSpPr>
          <p:spPr bwMode="auto">
            <a:xfrm>
              <a:off x="1290" y="2473"/>
              <a:ext cx="936" cy="231"/>
            </a:xfrm>
            <a:prstGeom prst="rect">
              <a:avLst/>
            </a:prstGeom>
            <a:noFill/>
            <a:ln w="12700">
              <a:noFill/>
              <a:miter lim="800000"/>
              <a:headEnd type="none" w="sm" len="sm"/>
              <a:tailEnd type="none" w="sm" len="sm"/>
            </a:ln>
            <a:effectLst/>
          </p:spPr>
          <p:txBody>
            <a:bodyPr wrap="none">
              <a:spAutoFit/>
            </a:bodyPr>
            <a:lstStyle/>
            <a:p>
              <a:pPr>
                <a:defRPr/>
              </a:pPr>
              <a:r>
                <a:rPr lang="en-US">
                  <a:solidFill>
                    <a:schemeClr val="bg2"/>
                  </a:solidFill>
                  <a:effectLst>
                    <a:outerShdw blurRad="38100" dist="38100" dir="2700000" algn="tl">
                      <a:srgbClr val="FFFFFF"/>
                    </a:outerShdw>
                  </a:effectLst>
                </a:rPr>
                <a:t>Transparency</a:t>
              </a:r>
              <a:r>
                <a:rPr lang="en-US">
                  <a:effectLst>
                    <a:outerShdw blurRad="38100" dist="38100" dir="2700000" algn="tl">
                      <a:srgbClr val="000000"/>
                    </a:outerShdw>
                  </a:effectLst>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DDE08F55-E737-6B4C-D450-7D70A6DFE2B5}"/>
              </a:ext>
            </a:extLst>
          </p:cNvPr>
          <p:cNvSpPr>
            <a:spLocks noGrp="1" noChangeArrowheads="1"/>
          </p:cNvSpPr>
          <p:nvPr>
            <p:ph type="title"/>
          </p:nvPr>
        </p:nvSpPr>
        <p:spPr/>
        <p:txBody>
          <a:bodyPr/>
          <a:lstStyle/>
          <a:p>
            <a:r>
              <a:rPr lang="en-US" altLang="en-US"/>
              <a:t>VPN</a:t>
            </a:r>
          </a:p>
        </p:txBody>
      </p:sp>
      <p:sp>
        <p:nvSpPr>
          <p:cNvPr id="23554" name="Rectangle 3">
            <a:extLst>
              <a:ext uri="{FF2B5EF4-FFF2-40B4-BE49-F238E27FC236}">
                <a16:creationId xmlns:a16="http://schemas.microsoft.com/office/drawing/2014/main" id="{AC554D48-AB79-C9C0-11AF-B649B5CFAA8E}"/>
              </a:ext>
            </a:extLst>
          </p:cNvPr>
          <p:cNvSpPr>
            <a:spLocks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Application-level VPN</a:t>
            </a:r>
          </a:p>
          <a:p>
            <a:pPr lvl="1"/>
            <a:r>
              <a:rPr lang="en-US" altLang="en-US">
                <a:effectLst/>
              </a:rPr>
              <a:t>E.g., tunnel through ssh</a:t>
            </a:r>
          </a:p>
          <a:p>
            <a:pPr lvl="1"/>
            <a:r>
              <a:rPr lang="en-US" altLang="en-US">
                <a:effectLst/>
              </a:rPr>
              <a:t>Analogous to app-level gateways</a:t>
            </a:r>
          </a:p>
          <a:p>
            <a:pPr lvl="1"/>
            <a:endParaRPr lang="en-US" altLang="en-US">
              <a:effectLst/>
            </a:endParaRPr>
          </a:p>
          <a:p>
            <a:r>
              <a:rPr lang="en-US" altLang="en-US">
                <a:effectLst/>
              </a:rPr>
              <a:t>IPSec-based VPN</a:t>
            </a:r>
          </a:p>
          <a:p>
            <a:pPr lvl="1"/>
            <a:r>
              <a:rPr lang="en-US" altLang="en-US">
                <a:effectLst/>
              </a:rPr>
              <a:t>Analogous to packet-filtering firewalls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A9944601-42D4-FDEC-8553-DEF4E65D5580}"/>
              </a:ext>
            </a:extLst>
          </p:cNvPr>
          <p:cNvSpPr>
            <a:spLocks noGrp="1" noChangeArrowheads="1"/>
          </p:cNvSpPr>
          <p:nvPr>
            <p:ph type="title"/>
          </p:nvPr>
        </p:nvSpPr>
        <p:spPr/>
        <p:txBody>
          <a:bodyPr/>
          <a:lstStyle/>
          <a:p>
            <a:r>
              <a:rPr lang="en-US" altLang="en-US"/>
              <a:t>Benefits of IPSec</a:t>
            </a:r>
            <a:endParaRPr lang="en-AU" altLang="en-US"/>
          </a:p>
        </p:txBody>
      </p:sp>
      <p:sp>
        <p:nvSpPr>
          <p:cNvPr id="932867" name="Rectangle 3">
            <a:extLst>
              <a:ext uri="{FF2B5EF4-FFF2-40B4-BE49-F238E27FC236}">
                <a16:creationId xmlns:a16="http://schemas.microsoft.com/office/drawing/2014/main" id="{EDF0FAEC-A58C-978E-5800-5E671ADD4A29}"/>
              </a:ext>
            </a:extLst>
          </p:cNvPr>
          <p:cNvSpPr>
            <a:spLocks noGrp="1" noChangeArrowheads="1"/>
          </p:cNvSpPr>
          <p:nvPr>
            <p:ph type="body" idx="1"/>
          </p:nvPr>
        </p:nvSpPr>
        <p:spPr>
          <a:xfrm>
            <a:off x="490538" y="1981200"/>
            <a:ext cx="8424862" cy="4275138"/>
          </a:xfrm>
        </p:spPr>
        <p:txBody>
          <a:bodyPr/>
          <a:lstStyle/>
          <a:p>
            <a:pPr>
              <a:lnSpc>
                <a:spcPct val="90000"/>
              </a:lnSpc>
              <a:defRPr/>
            </a:pPr>
            <a:r>
              <a:rPr lang="en-US"/>
              <a:t>In a firewall/router, provides strong security to all traffic crossing the perimeter</a:t>
            </a:r>
          </a:p>
          <a:p>
            <a:pPr>
              <a:lnSpc>
                <a:spcPct val="90000"/>
              </a:lnSpc>
              <a:defRPr/>
            </a:pPr>
            <a:r>
              <a:rPr lang="en-US"/>
              <a:t>Is below transport layer, hence transparent to applications</a:t>
            </a:r>
          </a:p>
          <a:p>
            <a:pPr>
              <a:lnSpc>
                <a:spcPct val="90000"/>
              </a:lnSpc>
              <a:defRPr/>
            </a:pPr>
            <a:r>
              <a:rPr lang="en-US"/>
              <a:t>Can be transparent to end users</a:t>
            </a:r>
          </a:p>
          <a:p>
            <a:pPr>
              <a:lnSpc>
                <a:spcPct val="90000"/>
              </a:lnSpc>
              <a:defRPr/>
            </a:pPr>
            <a:r>
              <a:rPr lang="en-US"/>
              <a:t>Can provide security for individual even mobile users</a:t>
            </a:r>
          </a:p>
          <a:p>
            <a:pPr>
              <a:lnSpc>
                <a:spcPct val="90000"/>
              </a:lnSpc>
              <a:defRPr/>
            </a:pPr>
            <a:r>
              <a:rPr lang="en-AU"/>
              <a:t>Secures routing 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A1F7CEC8-997D-AC27-285F-49E9E7AE3872}"/>
              </a:ext>
            </a:extLst>
          </p:cNvPr>
          <p:cNvSpPr>
            <a:spLocks noGrp="1" noChangeArrowheads="1"/>
          </p:cNvSpPr>
          <p:nvPr>
            <p:ph type="title"/>
          </p:nvPr>
        </p:nvSpPr>
        <p:spPr/>
        <p:txBody>
          <a:bodyPr/>
          <a:lstStyle/>
          <a:p>
            <a:r>
              <a:rPr lang="en-US" altLang="en-US"/>
              <a:t>IP Security Architecture</a:t>
            </a:r>
            <a:endParaRPr lang="en-AU" altLang="en-US"/>
          </a:p>
        </p:txBody>
      </p:sp>
      <p:sp>
        <p:nvSpPr>
          <p:cNvPr id="934915" name="Rectangle 3">
            <a:extLst>
              <a:ext uri="{FF2B5EF4-FFF2-40B4-BE49-F238E27FC236}">
                <a16:creationId xmlns:a16="http://schemas.microsoft.com/office/drawing/2014/main" id="{F299543E-55B3-100B-EA17-805546F88B94}"/>
              </a:ext>
            </a:extLst>
          </p:cNvPr>
          <p:cNvSpPr>
            <a:spLocks noGrp="1" noChangeArrowheads="1"/>
          </p:cNvSpPr>
          <p:nvPr>
            <p:ph type="body" idx="1"/>
          </p:nvPr>
        </p:nvSpPr>
        <p:spPr/>
        <p:txBody>
          <a:bodyPr/>
          <a:lstStyle/>
          <a:p>
            <a:pPr>
              <a:defRPr/>
            </a:pPr>
            <a:r>
              <a:rPr lang="en-US"/>
              <a:t>Specification is quite complex</a:t>
            </a:r>
          </a:p>
          <a:p>
            <a:pPr>
              <a:defRPr/>
            </a:pPr>
            <a:r>
              <a:rPr lang="en-US"/>
              <a:t>Defined in numerous RFC’s</a:t>
            </a:r>
          </a:p>
          <a:p>
            <a:pPr lvl="1">
              <a:defRPr/>
            </a:pPr>
            <a:r>
              <a:rPr lang="en-US"/>
              <a:t>incl. RFC 2401/2402/2406/2408</a:t>
            </a:r>
          </a:p>
          <a:p>
            <a:pPr lvl="1">
              <a:defRPr/>
            </a:pPr>
            <a:r>
              <a:rPr lang="en-US"/>
              <a:t>many others, grouped by category</a:t>
            </a:r>
          </a:p>
          <a:p>
            <a:pPr>
              <a:defRPr/>
            </a:pPr>
            <a:r>
              <a:rPr lang="en-US"/>
              <a:t>Mandatory in IPv6, optional in IPv4</a:t>
            </a:r>
          </a:p>
          <a:p>
            <a:pPr>
              <a:defRPr/>
            </a:pPr>
            <a:r>
              <a:rPr lang="en-US"/>
              <a:t>Have two security header extensions:</a:t>
            </a:r>
          </a:p>
          <a:p>
            <a:pPr lvl="1">
              <a:defRPr/>
            </a:pPr>
            <a:r>
              <a:rPr lang="en-US">
                <a:latin typeface="Times-Roman" charset="0"/>
              </a:rPr>
              <a:t>Authentication Header (AH)</a:t>
            </a:r>
          </a:p>
          <a:p>
            <a:pPr lvl="1">
              <a:defRPr/>
            </a:pPr>
            <a:r>
              <a:rPr lang="en-US">
                <a:latin typeface="Times-Roman" charset="0"/>
              </a:rPr>
              <a:t>Encapsulating Security Payload (ESP)</a:t>
            </a:r>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E301E1FA-845A-4012-0597-34D8D1971996}"/>
              </a:ext>
            </a:extLst>
          </p:cNvPr>
          <p:cNvSpPr>
            <a:spLocks noGrp="1" noChangeArrowheads="1"/>
          </p:cNvSpPr>
          <p:nvPr>
            <p:ph type="title"/>
          </p:nvPr>
        </p:nvSpPr>
        <p:spPr>
          <a:xfrm>
            <a:off x="1096963" y="258763"/>
            <a:ext cx="7772400" cy="1143000"/>
          </a:xfrm>
        </p:spPr>
        <p:txBody>
          <a:bodyPr/>
          <a:lstStyle/>
          <a:p>
            <a:r>
              <a:rPr lang="en-US" altLang="en-US"/>
              <a:t>Architecture &amp; Concepts</a:t>
            </a:r>
          </a:p>
        </p:txBody>
      </p:sp>
      <p:sp>
        <p:nvSpPr>
          <p:cNvPr id="832515" name="Rectangle 3">
            <a:extLst>
              <a:ext uri="{FF2B5EF4-FFF2-40B4-BE49-F238E27FC236}">
                <a16:creationId xmlns:a16="http://schemas.microsoft.com/office/drawing/2014/main" id="{7A603107-9C98-8D69-0CEF-2E77FDC61EB6}"/>
              </a:ext>
            </a:extLst>
          </p:cNvPr>
          <p:cNvSpPr>
            <a:spLocks noGrp="1" noChangeArrowheads="1"/>
          </p:cNvSpPr>
          <p:nvPr>
            <p:ph type="body" idx="1"/>
          </p:nvPr>
        </p:nvSpPr>
        <p:spPr>
          <a:xfrm>
            <a:off x="773113" y="1447800"/>
            <a:ext cx="7831137" cy="5068888"/>
          </a:xfrm>
        </p:spPr>
        <p:txBody>
          <a:bodyPr/>
          <a:lstStyle/>
          <a:p>
            <a:pPr>
              <a:defRPr/>
            </a:pPr>
            <a:r>
              <a:rPr lang="en-US"/>
              <a:t>Tunnel vs. Transport mode</a:t>
            </a:r>
          </a:p>
          <a:p>
            <a:pPr>
              <a:defRPr/>
            </a:pPr>
            <a:r>
              <a:rPr lang="en-US"/>
              <a:t>Security association (SA)</a:t>
            </a:r>
          </a:p>
          <a:p>
            <a:pPr lvl="1">
              <a:defRPr/>
            </a:pPr>
            <a:r>
              <a:rPr lang="en-US"/>
              <a:t>Security parameter index (SPI)</a:t>
            </a:r>
          </a:p>
          <a:p>
            <a:pPr lvl="1">
              <a:defRPr/>
            </a:pPr>
            <a:r>
              <a:rPr lang="en-US"/>
              <a:t>Security policy database (SPD)</a:t>
            </a:r>
          </a:p>
          <a:p>
            <a:pPr lvl="1">
              <a:defRPr/>
            </a:pPr>
            <a:r>
              <a:rPr lang="en-US"/>
              <a:t>SA database (SAD)</a:t>
            </a:r>
          </a:p>
          <a:p>
            <a:pPr>
              <a:defRPr/>
            </a:pPr>
            <a:r>
              <a:rPr lang="en-US"/>
              <a:t>Authentication header (AH)</a:t>
            </a:r>
          </a:p>
          <a:p>
            <a:pPr>
              <a:defRPr/>
            </a:pPr>
            <a:r>
              <a:rPr lang="en-US"/>
              <a:t>Encapsulating security payload (ESP)</a:t>
            </a:r>
          </a:p>
          <a:p>
            <a:pPr>
              <a:defRPr/>
            </a:pPr>
            <a:r>
              <a:rPr lang="en-US"/>
              <a:t>Practical issues w/ NAT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ext Box 2">
            <a:extLst>
              <a:ext uri="{FF2B5EF4-FFF2-40B4-BE49-F238E27FC236}">
                <a16:creationId xmlns:a16="http://schemas.microsoft.com/office/drawing/2014/main" id="{60FF0D73-87D9-BD6C-3869-A7DEB553629C}"/>
              </a:ext>
            </a:extLst>
          </p:cNvPr>
          <p:cNvSpPr txBox="1">
            <a:spLocks noChangeArrowheads="1"/>
          </p:cNvSpPr>
          <p:nvPr/>
        </p:nvSpPr>
        <p:spPr bwMode="auto">
          <a:xfrm>
            <a:off x="762000" y="4473575"/>
            <a:ext cx="450850" cy="528638"/>
          </a:xfrm>
          <a:prstGeom prst="rect">
            <a:avLst/>
          </a:prstGeom>
          <a:solidFill>
            <a:srgbClr val="800080"/>
          </a:solidFill>
          <a:ln w="9525">
            <a:solidFill>
              <a:schemeClr val="tx2"/>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A</a:t>
            </a:r>
          </a:p>
        </p:txBody>
      </p:sp>
      <p:sp>
        <p:nvSpPr>
          <p:cNvPr id="29698" name="Rectangle 3">
            <a:extLst>
              <a:ext uri="{FF2B5EF4-FFF2-40B4-BE49-F238E27FC236}">
                <a16:creationId xmlns:a16="http://schemas.microsoft.com/office/drawing/2014/main" id="{4B3D42E2-57C3-A812-FA80-8822C48F06FE}"/>
              </a:ext>
            </a:extLst>
          </p:cNvPr>
          <p:cNvSpPr>
            <a:spLocks noChangeArrowheads="1"/>
          </p:cNvSpPr>
          <p:nvPr/>
        </p:nvSpPr>
        <p:spPr bwMode="auto">
          <a:xfrm>
            <a:off x="7759700" y="4473575"/>
            <a:ext cx="450850" cy="528638"/>
          </a:xfrm>
          <a:prstGeom prst="rect">
            <a:avLst/>
          </a:prstGeom>
          <a:solidFill>
            <a:srgbClr val="FF0000"/>
          </a:solidFill>
          <a:ln w="9525">
            <a:solidFill>
              <a:schemeClr val="tx1"/>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B</a:t>
            </a:r>
          </a:p>
        </p:txBody>
      </p:sp>
      <p:grpSp>
        <p:nvGrpSpPr>
          <p:cNvPr id="29699" name="Group 4">
            <a:extLst>
              <a:ext uri="{FF2B5EF4-FFF2-40B4-BE49-F238E27FC236}">
                <a16:creationId xmlns:a16="http://schemas.microsoft.com/office/drawing/2014/main" id="{54A795F2-897A-436E-7FAD-99F166D71915}"/>
              </a:ext>
            </a:extLst>
          </p:cNvPr>
          <p:cNvGrpSpPr>
            <a:grpSpLocks/>
          </p:cNvGrpSpPr>
          <p:nvPr/>
        </p:nvGrpSpPr>
        <p:grpSpPr bwMode="auto">
          <a:xfrm>
            <a:off x="762000" y="3849688"/>
            <a:ext cx="638175" cy="550862"/>
            <a:chOff x="582" y="534"/>
            <a:chExt cx="614" cy="530"/>
          </a:xfrm>
        </p:grpSpPr>
        <p:sp>
          <p:nvSpPr>
            <p:cNvPr id="834565" name="Arc 5">
              <a:extLst>
                <a:ext uri="{FF2B5EF4-FFF2-40B4-BE49-F238E27FC236}">
                  <a16:creationId xmlns:a16="http://schemas.microsoft.com/office/drawing/2014/main" id="{B29E1FBF-8C92-3622-1CAC-9F5738E868FF}"/>
                </a:ext>
              </a:extLst>
            </p:cNvPr>
            <p:cNvSpPr>
              <a:spLocks/>
            </p:cNvSpPr>
            <p:nvPr/>
          </p:nvSpPr>
          <p:spPr bwMode="auto">
            <a:xfrm>
              <a:off x="1059" y="917"/>
              <a:ext cx="119" cy="81"/>
            </a:xfrm>
            <a:custGeom>
              <a:avLst/>
              <a:gdLst>
                <a:gd name="G0" fmla="+- 16576 0 0"/>
                <a:gd name="G1" fmla="+- 21600 0 0"/>
                <a:gd name="G2" fmla="+- 21600 0 0"/>
                <a:gd name="T0" fmla="*/ 0 w 38176"/>
                <a:gd name="T1" fmla="*/ 7751 h 34923"/>
                <a:gd name="T2" fmla="*/ 33578 w 38176"/>
                <a:gd name="T3" fmla="*/ 34923 h 34923"/>
                <a:gd name="T4" fmla="*/ 16576 w 38176"/>
                <a:gd name="T5" fmla="*/ 21600 h 34923"/>
              </a:gdLst>
              <a:ahLst/>
              <a:cxnLst>
                <a:cxn ang="0">
                  <a:pos x="T0" y="T1"/>
                </a:cxn>
                <a:cxn ang="0">
                  <a:pos x="T2" y="T3"/>
                </a:cxn>
                <a:cxn ang="0">
                  <a:pos x="T4" y="T5"/>
                </a:cxn>
              </a:cxnLst>
              <a:rect l="0" t="0" r="r" b="b"/>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close/>
                </a:path>
              </a:pathLst>
            </a:custGeom>
            <a:noFill/>
            <a:ln w="20638">
              <a:solidFill>
                <a:srgbClr val="0078AA"/>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66" name="Arc 6">
              <a:extLst>
                <a:ext uri="{FF2B5EF4-FFF2-40B4-BE49-F238E27FC236}">
                  <a16:creationId xmlns:a16="http://schemas.microsoft.com/office/drawing/2014/main" id="{72B8EA01-5029-B8FC-0A1B-767B2B9736D6}"/>
                </a:ext>
              </a:extLst>
            </p:cNvPr>
            <p:cNvSpPr>
              <a:spLocks/>
            </p:cNvSpPr>
            <p:nvPr/>
          </p:nvSpPr>
          <p:spPr bwMode="auto">
            <a:xfrm>
              <a:off x="1060" y="919"/>
              <a:ext cx="118" cy="79"/>
            </a:xfrm>
            <a:custGeom>
              <a:avLst/>
              <a:gdLst>
                <a:gd name="G0" fmla="+- 16722 0 0"/>
                <a:gd name="G1" fmla="+- 21600 0 0"/>
                <a:gd name="G2" fmla="+- 21600 0 0"/>
                <a:gd name="T0" fmla="*/ 0 w 38322"/>
                <a:gd name="T1" fmla="*/ 7928 h 34803"/>
                <a:gd name="T2" fmla="*/ 33817 w 38322"/>
                <a:gd name="T3" fmla="*/ 34803 h 34803"/>
                <a:gd name="T4" fmla="*/ 16722 w 38322"/>
                <a:gd name="T5" fmla="*/ 21600 h 34803"/>
              </a:gdLst>
              <a:ahLst/>
              <a:cxnLst>
                <a:cxn ang="0">
                  <a:pos x="T0" y="T1"/>
                </a:cxn>
                <a:cxn ang="0">
                  <a:pos x="T2" y="T3"/>
                </a:cxn>
                <a:cxn ang="0">
                  <a:pos x="T4" y="T5"/>
                </a:cxn>
              </a:cxnLst>
              <a:rect l="0" t="0" r="r" b="b"/>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close/>
                </a:path>
              </a:pathLst>
            </a:custGeom>
            <a:noFill/>
            <a:ln w="9525">
              <a:solidFill>
                <a:srgbClr val="AAE6FF"/>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67" name="Freeform 7">
              <a:extLst>
                <a:ext uri="{FF2B5EF4-FFF2-40B4-BE49-F238E27FC236}">
                  <a16:creationId xmlns:a16="http://schemas.microsoft.com/office/drawing/2014/main" id="{E2D4FB68-50FE-504C-B326-A22B557A3FCF}"/>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68" name="Freeform 8">
              <a:extLst>
                <a:ext uri="{FF2B5EF4-FFF2-40B4-BE49-F238E27FC236}">
                  <a16:creationId xmlns:a16="http://schemas.microsoft.com/office/drawing/2014/main" id="{5D535255-8755-29B5-7932-0B92655CFFE4}"/>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69" name="Rectangle 9">
              <a:extLst>
                <a:ext uri="{FF2B5EF4-FFF2-40B4-BE49-F238E27FC236}">
                  <a16:creationId xmlns:a16="http://schemas.microsoft.com/office/drawing/2014/main" id="{5C2EEF58-C27C-DD13-55C3-09BFE5A40B4B}"/>
                </a:ext>
              </a:extLst>
            </p:cNvPr>
            <p:cNvSpPr>
              <a:spLocks noChangeArrowheads="1"/>
            </p:cNvSpPr>
            <p:nvPr/>
          </p:nvSpPr>
          <p:spPr bwMode="auto">
            <a:xfrm>
              <a:off x="661" y="910"/>
              <a:ext cx="402" cy="7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70" name="Rectangle 10">
              <a:extLst>
                <a:ext uri="{FF2B5EF4-FFF2-40B4-BE49-F238E27FC236}">
                  <a16:creationId xmlns:a16="http://schemas.microsoft.com/office/drawing/2014/main" id="{A4363D71-5B11-3E42-137E-9FCEFDF0988B}"/>
                </a:ext>
              </a:extLst>
            </p:cNvPr>
            <p:cNvSpPr>
              <a:spLocks noChangeArrowheads="1"/>
            </p:cNvSpPr>
            <p:nvPr/>
          </p:nvSpPr>
          <p:spPr bwMode="auto">
            <a:xfrm>
              <a:off x="661" y="910"/>
              <a:ext cx="400" cy="75"/>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71" name="Freeform 11">
              <a:extLst>
                <a:ext uri="{FF2B5EF4-FFF2-40B4-BE49-F238E27FC236}">
                  <a16:creationId xmlns:a16="http://schemas.microsoft.com/office/drawing/2014/main" id="{2971A7BA-6FE6-368F-5F77-ED913CFBF049}"/>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72" name="Freeform 12">
              <a:extLst>
                <a:ext uri="{FF2B5EF4-FFF2-40B4-BE49-F238E27FC236}">
                  <a16:creationId xmlns:a16="http://schemas.microsoft.com/office/drawing/2014/main" id="{158B928A-8129-3602-F352-9594D4607214}"/>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73" name="Freeform 13">
              <a:extLst>
                <a:ext uri="{FF2B5EF4-FFF2-40B4-BE49-F238E27FC236}">
                  <a16:creationId xmlns:a16="http://schemas.microsoft.com/office/drawing/2014/main" id="{3158E35E-E0B9-42FF-3705-34233E0E783B}"/>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74" name="Freeform 14">
              <a:extLst>
                <a:ext uri="{FF2B5EF4-FFF2-40B4-BE49-F238E27FC236}">
                  <a16:creationId xmlns:a16="http://schemas.microsoft.com/office/drawing/2014/main" id="{D3E63406-63E1-49C9-CE3B-14A636106B22}"/>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4763">
              <a:solidFill>
                <a:srgbClr val="000000"/>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75" name="Freeform 15">
              <a:extLst>
                <a:ext uri="{FF2B5EF4-FFF2-40B4-BE49-F238E27FC236}">
                  <a16:creationId xmlns:a16="http://schemas.microsoft.com/office/drawing/2014/main" id="{C00EF41F-ED27-FEAA-8442-7F1EB3F3C3CD}"/>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76" name="Freeform 16">
              <a:extLst>
                <a:ext uri="{FF2B5EF4-FFF2-40B4-BE49-F238E27FC236}">
                  <a16:creationId xmlns:a16="http://schemas.microsoft.com/office/drawing/2014/main" id="{76313222-5FE3-69B6-9985-BA420545782C}"/>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77" name="Rectangle 17">
              <a:extLst>
                <a:ext uri="{FF2B5EF4-FFF2-40B4-BE49-F238E27FC236}">
                  <a16:creationId xmlns:a16="http://schemas.microsoft.com/office/drawing/2014/main" id="{146D632D-9F56-90F9-7A9C-E987FE7EBA99}"/>
                </a:ext>
              </a:extLst>
            </p:cNvPr>
            <p:cNvSpPr>
              <a:spLocks noChangeArrowheads="1"/>
            </p:cNvSpPr>
            <p:nvPr/>
          </p:nvSpPr>
          <p:spPr bwMode="auto">
            <a:xfrm>
              <a:off x="661" y="575"/>
              <a:ext cx="403" cy="318"/>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78" name="Rectangle 18">
              <a:extLst>
                <a:ext uri="{FF2B5EF4-FFF2-40B4-BE49-F238E27FC236}">
                  <a16:creationId xmlns:a16="http://schemas.microsoft.com/office/drawing/2014/main" id="{309B972C-232D-F4FC-2693-E78790F9432F}"/>
                </a:ext>
              </a:extLst>
            </p:cNvPr>
            <p:cNvSpPr>
              <a:spLocks noChangeArrowheads="1"/>
            </p:cNvSpPr>
            <p:nvPr/>
          </p:nvSpPr>
          <p:spPr bwMode="auto">
            <a:xfrm>
              <a:off x="697" y="616"/>
              <a:ext cx="333" cy="243"/>
            </a:xfrm>
            <a:prstGeom prst="rect">
              <a:avLst/>
            </a:prstGeom>
            <a:solidFill>
              <a:srgbClr val="FFFFFF"/>
            </a:solidFill>
            <a:ln w="4763">
              <a:solidFill>
                <a:srgbClr val="003C55"/>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79" name="Freeform 19">
              <a:extLst>
                <a:ext uri="{FF2B5EF4-FFF2-40B4-BE49-F238E27FC236}">
                  <a16:creationId xmlns:a16="http://schemas.microsoft.com/office/drawing/2014/main" id="{CCBCD7A1-A18B-D160-5C69-7D6BE6250CC3}"/>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0" name="Freeform 20">
              <a:extLst>
                <a:ext uri="{FF2B5EF4-FFF2-40B4-BE49-F238E27FC236}">
                  <a16:creationId xmlns:a16="http://schemas.microsoft.com/office/drawing/2014/main" id="{3167A157-EF4F-30A0-1AFC-635F33A7E400}"/>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1" name="Freeform 21">
              <a:extLst>
                <a:ext uri="{FF2B5EF4-FFF2-40B4-BE49-F238E27FC236}">
                  <a16:creationId xmlns:a16="http://schemas.microsoft.com/office/drawing/2014/main" id="{2FC5EE5A-A673-4D88-B1F9-D6300966D7BD}"/>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2" name="Freeform 22">
              <a:extLst>
                <a:ext uri="{FF2B5EF4-FFF2-40B4-BE49-F238E27FC236}">
                  <a16:creationId xmlns:a16="http://schemas.microsoft.com/office/drawing/2014/main" id="{16130F4D-4E38-E643-8F7A-435E0AB7B780}"/>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3" name="Freeform 23">
              <a:extLst>
                <a:ext uri="{FF2B5EF4-FFF2-40B4-BE49-F238E27FC236}">
                  <a16:creationId xmlns:a16="http://schemas.microsoft.com/office/drawing/2014/main" id="{9C22B9FC-0785-CC39-3814-3B36C8577E75}"/>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4" name="Freeform 24">
              <a:extLst>
                <a:ext uri="{FF2B5EF4-FFF2-40B4-BE49-F238E27FC236}">
                  <a16:creationId xmlns:a16="http://schemas.microsoft.com/office/drawing/2014/main" id="{218F8A12-9BFE-3068-6B28-90AB6093397F}"/>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5" name="Rectangle 25">
              <a:extLst>
                <a:ext uri="{FF2B5EF4-FFF2-40B4-BE49-F238E27FC236}">
                  <a16:creationId xmlns:a16="http://schemas.microsoft.com/office/drawing/2014/main" id="{85126CB7-9FA9-80BC-B74F-5C51EE2D744F}"/>
                </a:ext>
              </a:extLst>
            </p:cNvPr>
            <p:cNvSpPr>
              <a:spLocks noChangeArrowheads="1"/>
            </p:cNvSpPr>
            <p:nvPr/>
          </p:nvSpPr>
          <p:spPr bwMode="auto">
            <a:xfrm>
              <a:off x="582" y="1049"/>
              <a:ext cx="43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86" name="Rectangle 26">
              <a:extLst>
                <a:ext uri="{FF2B5EF4-FFF2-40B4-BE49-F238E27FC236}">
                  <a16:creationId xmlns:a16="http://schemas.microsoft.com/office/drawing/2014/main" id="{2773DD3B-7454-632F-838A-113C79CBBCF1}"/>
                </a:ext>
              </a:extLst>
            </p:cNvPr>
            <p:cNvSpPr>
              <a:spLocks noChangeArrowheads="1"/>
            </p:cNvSpPr>
            <p:nvPr/>
          </p:nvSpPr>
          <p:spPr bwMode="auto">
            <a:xfrm>
              <a:off x="584" y="1049"/>
              <a:ext cx="434"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87" name="Freeform 27">
              <a:extLst>
                <a:ext uri="{FF2B5EF4-FFF2-40B4-BE49-F238E27FC236}">
                  <a16:creationId xmlns:a16="http://schemas.microsoft.com/office/drawing/2014/main" id="{3EC52A8E-70C6-82DA-F0DF-EFB71E50AD64}"/>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8" name="Freeform 28">
              <a:extLst>
                <a:ext uri="{FF2B5EF4-FFF2-40B4-BE49-F238E27FC236}">
                  <a16:creationId xmlns:a16="http://schemas.microsoft.com/office/drawing/2014/main" id="{FFE582AB-D303-AD35-7830-E90736608F09}"/>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89" name="Freeform 29">
              <a:extLst>
                <a:ext uri="{FF2B5EF4-FFF2-40B4-BE49-F238E27FC236}">
                  <a16:creationId xmlns:a16="http://schemas.microsoft.com/office/drawing/2014/main" id="{AEA5EA44-82C8-C8A7-7251-D89EAA2556B1}"/>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90" name="Freeform 30">
              <a:extLst>
                <a:ext uri="{FF2B5EF4-FFF2-40B4-BE49-F238E27FC236}">
                  <a16:creationId xmlns:a16="http://schemas.microsoft.com/office/drawing/2014/main" id="{1DAECE35-770A-0287-2527-DCAB7FDEE098}"/>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91" name="Rectangle 31">
              <a:extLst>
                <a:ext uri="{FF2B5EF4-FFF2-40B4-BE49-F238E27FC236}">
                  <a16:creationId xmlns:a16="http://schemas.microsoft.com/office/drawing/2014/main" id="{253F7EF2-CF05-6BF3-5790-48A06A1A96C7}"/>
                </a:ext>
              </a:extLst>
            </p:cNvPr>
            <p:cNvSpPr>
              <a:spLocks noChangeArrowheads="1"/>
            </p:cNvSpPr>
            <p:nvPr/>
          </p:nvSpPr>
          <p:spPr bwMode="auto">
            <a:xfrm>
              <a:off x="1107" y="1038"/>
              <a:ext cx="5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92" name="Rectangle 32">
              <a:extLst>
                <a:ext uri="{FF2B5EF4-FFF2-40B4-BE49-F238E27FC236}">
                  <a16:creationId xmlns:a16="http://schemas.microsoft.com/office/drawing/2014/main" id="{AEB66B14-4828-361B-FC17-072E037CE5A6}"/>
                </a:ext>
              </a:extLst>
            </p:cNvPr>
            <p:cNvSpPr>
              <a:spLocks noChangeArrowheads="1"/>
            </p:cNvSpPr>
            <p:nvPr/>
          </p:nvSpPr>
          <p:spPr bwMode="auto">
            <a:xfrm>
              <a:off x="1107" y="1040"/>
              <a:ext cx="55"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grpSp>
      <p:grpSp>
        <p:nvGrpSpPr>
          <p:cNvPr id="29700" name="Group 33">
            <a:extLst>
              <a:ext uri="{FF2B5EF4-FFF2-40B4-BE49-F238E27FC236}">
                <a16:creationId xmlns:a16="http://schemas.microsoft.com/office/drawing/2014/main" id="{46FD1EA0-5859-0451-1B55-8A8B76EC055A}"/>
              </a:ext>
            </a:extLst>
          </p:cNvPr>
          <p:cNvGrpSpPr>
            <a:grpSpLocks/>
          </p:cNvGrpSpPr>
          <p:nvPr/>
        </p:nvGrpSpPr>
        <p:grpSpPr bwMode="auto">
          <a:xfrm>
            <a:off x="7667625" y="3849688"/>
            <a:ext cx="638175" cy="550862"/>
            <a:chOff x="582" y="534"/>
            <a:chExt cx="614" cy="530"/>
          </a:xfrm>
        </p:grpSpPr>
        <p:sp>
          <p:nvSpPr>
            <p:cNvPr id="834594" name="Arc 34">
              <a:extLst>
                <a:ext uri="{FF2B5EF4-FFF2-40B4-BE49-F238E27FC236}">
                  <a16:creationId xmlns:a16="http://schemas.microsoft.com/office/drawing/2014/main" id="{62B916F2-961E-FCA1-DC24-DA1CBB94BA4D}"/>
                </a:ext>
              </a:extLst>
            </p:cNvPr>
            <p:cNvSpPr>
              <a:spLocks/>
            </p:cNvSpPr>
            <p:nvPr/>
          </p:nvSpPr>
          <p:spPr bwMode="auto">
            <a:xfrm>
              <a:off x="1059" y="917"/>
              <a:ext cx="119" cy="81"/>
            </a:xfrm>
            <a:custGeom>
              <a:avLst/>
              <a:gdLst>
                <a:gd name="G0" fmla="+- 16576 0 0"/>
                <a:gd name="G1" fmla="+- 21600 0 0"/>
                <a:gd name="G2" fmla="+- 21600 0 0"/>
                <a:gd name="T0" fmla="*/ 0 w 38176"/>
                <a:gd name="T1" fmla="*/ 7751 h 34923"/>
                <a:gd name="T2" fmla="*/ 33578 w 38176"/>
                <a:gd name="T3" fmla="*/ 34923 h 34923"/>
                <a:gd name="T4" fmla="*/ 16576 w 38176"/>
                <a:gd name="T5" fmla="*/ 21600 h 34923"/>
              </a:gdLst>
              <a:ahLst/>
              <a:cxnLst>
                <a:cxn ang="0">
                  <a:pos x="T0" y="T1"/>
                </a:cxn>
                <a:cxn ang="0">
                  <a:pos x="T2" y="T3"/>
                </a:cxn>
                <a:cxn ang="0">
                  <a:pos x="T4" y="T5"/>
                </a:cxn>
              </a:cxnLst>
              <a:rect l="0" t="0" r="r" b="b"/>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close/>
                </a:path>
              </a:pathLst>
            </a:custGeom>
            <a:noFill/>
            <a:ln w="20638">
              <a:solidFill>
                <a:srgbClr val="0078AA"/>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95" name="Arc 35">
              <a:extLst>
                <a:ext uri="{FF2B5EF4-FFF2-40B4-BE49-F238E27FC236}">
                  <a16:creationId xmlns:a16="http://schemas.microsoft.com/office/drawing/2014/main" id="{4DBCBE6B-12AF-5DFD-DF83-0CC4D076DDCA}"/>
                </a:ext>
              </a:extLst>
            </p:cNvPr>
            <p:cNvSpPr>
              <a:spLocks/>
            </p:cNvSpPr>
            <p:nvPr/>
          </p:nvSpPr>
          <p:spPr bwMode="auto">
            <a:xfrm>
              <a:off x="1060" y="919"/>
              <a:ext cx="118" cy="79"/>
            </a:xfrm>
            <a:custGeom>
              <a:avLst/>
              <a:gdLst>
                <a:gd name="G0" fmla="+- 16722 0 0"/>
                <a:gd name="G1" fmla="+- 21600 0 0"/>
                <a:gd name="G2" fmla="+- 21600 0 0"/>
                <a:gd name="T0" fmla="*/ 0 w 38322"/>
                <a:gd name="T1" fmla="*/ 7928 h 34803"/>
                <a:gd name="T2" fmla="*/ 33817 w 38322"/>
                <a:gd name="T3" fmla="*/ 34803 h 34803"/>
                <a:gd name="T4" fmla="*/ 16722 w 38322"/>
                <a:gd name="T5" fmla="*/ 21600 h 34803"/>
              </a:gdLst>
              <a:ahLst/>
              <a:cxnLst>
                <a:cxn ang="0">
                  <a:pos x="T0" y="T1"/>
                </a:cxn>
                <a:cxn ang="0">
                  <a:pos x="T2" y="T3"/>
                </a:cxn>
                <a:cxn ang="0">
                  <a:pos x="T4" y="T5"/>
                </a:cxn>
              </a:cxnLst>
              <a:rect l="0" t="0" r="r" b="b"/>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close/>
                </a:path>
              </a:pathLst>
            </a:custGeom>
            <a:noFill/>
            <a:ln w="9525">
              <a:solidFill>
                <a:srgbClr val="AAE6FF"/>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96" name="Freeform 36">
              <a:extLst>
                <a:ext uri="{FF2B5EF4-FFF2-40B4-BE49-F238E27FC236}">
                  <a16:creationId xmlns:a16="http://schemas.microsoft.com/office/drawing/2014/main" id="{15AFF61D-3299-AFF6-C9A3-EBD2BA31459D}"/>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97" name="Freeform 37">
              <a:extLst>
                <a:ext uri="{FF2B5EF4-FFF2-40B4-BE49-F238E27FC236}">
                  <a16:creationId xmlns:a16="http://schemas.microsoft.com/office/drawing/2014/main" id="{B712D773-899B-35A1-8137-A27E46C059E5}"/>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598" name="Rectangle 38">
              <a:extLst>
                <a:ext uri="{FF2B5EF4-FFF2-40B4-BE49-F238E27FC236}">
                  <a16:creationId xmlns:a16="http://schemas.microsoft.com/office/drawing/2014/main" id="{F0DDE1FB-7341-5EF5-60B4-5B7461F54BAD}"/>
                </a:ext>
              </a:extLst>
            </p:cNvPr>
            <p:cNvSpPr>
              <a:spLocks noChangeArrowheads="1"/>
            </p:cNvSpPr>
            <p:nvPr/>
          </p:nvSpPr>
          <p:spPr bwMode="auto">
            <a:xfrm>
              <a:off x="661" y="910"/>
              <a:ext cx="402" cy="7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599" name="Rectangle 39">
              <a:extLst>
                <a:ext uri="{FF2B5EF4-FFF2-40B4-BE49-F238E27FC236}">
                  <a16:creationId xmlns:a16="http://schemas.microsoft.com/office/drawing/2014/main" id="{5189CA9F-2CDA-9686-6D0B-C34A9FC97AD3}"/>
                </a:ext>
              </a:extLst>
            </p:cNvPr>
            <p:cNvSpPr>
              <a:spLocks noChangeArrowheads="1"/>
            </p:cNvSpPr>
            <p:nvPr/>
          </p:nvSpPr>
          <p:spPr bwMode="auto">
            <a:xfrm>
              <a:off x="661" y="910"/>
              <a:ext cx="400" cy="75"/>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600" name="Freeform 40">
              <a:extLst>
                <a:ext uri="{FF2B5EF4-FFF2-40B4-BE49-F238E27FC236}">
                  <a16:creationId xmlns:a16="http://schemas.microsoft.com/office/drawing/2014/main" id="{91A04D1C-A84C-B18A-B43F-B609CB422276}"/>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1" name="Freeform 41">
              <a:extLst>
                <a:ext uri="{FF2B5EF4-FFF2-40B4-BE49-F238E27FC236}">
                  <a16:creationId xmlns:a16="http://schemas.microsoft.com/office/drawing/2014/main" id="{62BE1C57-6559-845E-F8EE-031EE26DEFB0}"/>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2" name="Freeform 42">
              <a:extLst>
                <a:ext uri="{FF2B5EF4-FFF2-40B4-BE49-F238E27FC236}">
                  <a16:creationId xmlns:a16="http://schemas.microsoft.com/office/drawing/2014/main" id="{04D19674-5934-B363-910A-8C267C2A4806}"/>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3" name="Freeform 43">
              <a:extLst>
                <a:ext uri="{FF2B5EF4-FFF2-40B4-BE49-F238E27FC236}">
                  <a16:creationId xmlns:a16="http://schemas.microsoft.com/office/drawing/2014/main" id="{5A888D5C-F066-3BC0-7747-610960E7588D}"/>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4763">
              <a:solidFill>
                <a:srgbClr val="000000"/>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4" name="Freeform 44">
              <a:extLst>
                <a:ext uri="{FF2B5EF4-FFF2-40B4-BE49-F238E27FC236}">
                  <a16:creationId xmlns:a16="http://schemas.microsoft.com/office/drawing/2014/main" id="{9B8145B9-E3D1-EDE8-08FF-8E666924E32D}"/>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5" name="Freeform 45">
              <a:extLst>
                <a:ext uri="{FF2B5EF4-FFF2-40B4-BE49-F238E27FC236}">
                  <a16:creationId xmlns:a16="http://schemas.microsoft.com/office/drawing/2014/main" id="{A1CE1694-4B39-9E85-CC09-3BBF13030D49}"/>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6" name="Rectangle 46">
              <a:extLst>
                <a:ext uri="{FF2B5EF4-FFF2-40B4-BE49-F238E27FC236}">
                  <a16:creationId xmlns:a16="http://schemas.microsoft.com/office/drawing/2014/main" id="{818CA455-BA53-FF2B-06B3-ABCD3932B5E8}"/>
                </a:ext>
              </a:extLst>
            </p:cNvPr>
            <p:cNvSpPr>
              <a:spLocks noChangeArrowheads="1"/>
            </p:cNvSpPr>
            <p:nvPr/>
          </p:nvSpPr>
          <p:spPr bwMode="auto">
            <a:xfrm>
              <a:off x="661" y="575"/>
              <a:ext cx="403" cy="318"/>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607" name="Rectangle 47">
              <a:extLst>
                <a:ext uri="{FF2B5EF4-FFF2-40B4-BE49-F238E27FC236}">
                  <a16:creationId xmlns:a16="http://schemas.microsoft.com/office/drawing/2014/main" id="{F90D5067-A04B-AF56-B228-C6C96A830B46}"/>
                </a:ext>
              </a:extLst>
            </p:cNvPr>
            <p:cNvSpPr>
              <a:spLocks noChangeArrowheads="1"/>
            </p:cNvSpPr>
            <p:nvPr/>
          </p:nvSpPr>
          <p:spPr bwMode="auto">
            <a:xfrm>
              <a:off x="697" y="616"/>
              <a:ext cx="333" cy="243"/>
            </a:xfrm>
            <a:prstGeom prst="rect">
              <a:avLst/>
            </a:prstGeom>
            <a:solidFill>
              <a:srgbClr val="FFFFFF"/>
            </a:solidFill>
            <a:ln w="4763">
              <a:solidFill>
                <a:srgbClr val="003C55"/>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608" name="Freeform 48">
              <a:extLst>
                <a:ext uri="{FF2B5EF4-FFF2-40B4-BE49-F238E27FC236}">
                  <a16:creationId xmlns:a16="http://schemas.microsoft.com/office/drawing/2014/main" id="{992724E0-F507-714C-C822-A05CF214BEB1}"/>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09" name="Freeform 49">
              <a:extLst>
                <a:ext uri="{FF2B5EF4-FFF2-40B4-BE49-F238E27FC236}">
                  <a16:creationId xmlns:a16="http://schemas.microsoft.com/office/drawing/2014/main" id="{4B56C432-FC9C-7507-C08A-2A44BDAFCB37}"/>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0" name="Freeform 50">
              <a:extLst>
                <a:ext uri="{FF2B5EF4-FFF2-40B4-BE49-F238E27FC236}">
                  <a16:creationId xmlns:a16="http://schemas.microsoft.com/office/drawing/2014/main" id="{B63A21D7-DB2C-C394-8F94-A94ED7F34782}"/>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1" name="Freeform 51">
              <a:extLst>
                <a:ext uri="{FF2B5EF4-FFF2-40B4-BE49-F238E27FC236}">
                  <a16:creationId xmlns:a16="http://schemas.microsoft.com/office/drawing/2014/main" id="{5BC22223-7C09-95DA-1A1E-158F76C0976B}"/>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2" name="Freeform 52">
              <a:extLst>
                <a:ext uri="{FF2B5EF4-FFF2-40B4-BE49-F238E27FC236}">
                  <a16:creationId xmlns:a16="http://schemas.microsoft.com/office/drawing/2014/main" id="{670A55F4-78FD-0F60-B515-F18345C585F0}"/>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3" name="Freeform 53">
              <a:extLst>
                <a:ext uri="{FF2B5EF4-FFF2-40B4-BE49-F238E27FC236}">
                  <a16:creationId xmlns:a16="http://schemas.microsoft.com/office/drawing/2014/main" id="{19E0E92F-4122-33BD-B29C-BBC22AD92B71}"/>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4" name="Rectangle 54">
              <a:extLst>
                <a:ext uri="{FF2B5EF4-FFF2-40B4-BE49-F238E27FC236}">
                  <a16:creationId xmlns:a16="http://schemas.microsoft.com/office/drawing/2014/main" id="{DFE4CD5F-0D8D-1C0A-D45E-E31521DA9F89}"/>
                </a:ext>
              </a:extLst>
            </p:cNvPr>
            <p:cNvSpPr>
              <a:spLocks noChangeArrowheads="1"/>
            </p:cNvSpPr>
            <p:nvPr/>
          </p:nvSpPr>
          <p:spPr bwMode="auto">
            <a:xfrm>
              <a:off x="582" y="1049"/>
              <a:ext cx="43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615" name="Rectangle 55">
              <a:extLst>
                <a:ext uri="{FF2B5EF4-FFF2-40B4-BE49-F238E27FC236}">
                  <a16:creationId xmlns:a16="http://schemas.microsoft.com/office/drawing/2014/main" id="{0E0EF2A1-4010-3A83-F76E-42B56556B48C}"/>
                </a:ext>
              </a:extLst>
            </p:cNvPr>
            <p:cNvSpPr>
              <a:spLocks noChangeArrowheads="1"/>
            </p:cNvSpPr>
            <p:nvPr/>
          </p:nvSpPr>
          <p:spPr bwMode="auto">
            <a:xfrm>
              <a:off x="584" y="1049"/>
              <a:ext cx="434"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616" name="Freeform 56">
              <a:extLst>
                <a:ext uri="{FF2B5EF4-FFF2-40B4-BE49-F238E27FC236}">
                  <a16:creationId xmlns:a16="http://schemas.microsoft.com/office/drawing/2014/main" id="{B2290A59-890D-BEB5-F6ED-9F645D9676AD}"/>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7" name="Freeform 57">
              <a:extLst>
                <a:ext uri="{FF2B5EF4-FFF2-40B4-BE49-F238E27FC236}">
                  <a16:creationId xmlns:a16="http://schemas.microsoft.com/office/drawing/2014/main" id="{166FEBC4-E750-C596-B23B-9666E13D28DE}"/>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8" name="Freeform 58">
              <a:extLst>
                <a:ext uri="{FF2B5EF4-FFF2-40B4-BE49-F238E27FC236}">
                  <a16:creationId xmlns:a16="http://schemas.microsoft.com/office/drawing/2014/main" id="{CE022D38-62BB-8A6A-493A-385E58265533}"/>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19" name="Freeform 59">
              <a:extLst>
                <a:ext uri="{FF2B5EF4-FFF2-40B4-BE49-F238E27FC236}">
                  <a16:creationId xmlns:a16="http://schemas.microsoft.com/office/drawing/2014/main" id="{56C8B1A3-DB85-E492-AA49-F1310045C9FD}"/>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34620" name="Rectangle 60">
              <a:extLst>
                <a:ext uri="{FF2B5EF4-FFF2-40B4-BE49-F238E27FC236}">
                  <a16:creationId xmlns:a16="http://schemas.microsoft.com/office/drawing/2014/main" id="{C494BCEB-275A-E208-74B7-1FE51A72102C}"/>
                </a:ext>
              </a:extLst>
            </p:cNvPr>
            <p:cNvSpPr>
              <a:spLocks noChangeArrowheads="1"/>
            </p:cNvSpPr>
            <p:nvPr/>
          </p:nvSpPr>
          <p:spPr bwMode="auto">
            <a:xfrm>
              <a:off x="1107" y="1038"/>
              <a:ext cx="5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34621" name="Rectangle 61">
              <a:extLst>
                <a:ext uri="{FF2B5EF4-FFF2-40B4-BE49-F238E27FC236}">
                  <a16:creationId xmlns:a16="http://schemas.microsoft.com/office/drawing/2014/main" id="{63C4ACE9-35CF-5BEE-9B11-EBC5333D29FA}"/>
                </a:ext>
              </a:extLst>
            </p:cNvPr>
            <p:cNvSpPr>
              <a:spLocks noChangeArrowheads="1"/>
            </p:cNvSpPr>
            <p:nvPr/>
          </p:nvSpPr>
          <p:spPr bwMode="auto">
            <a:xfrm>
              <a:off x="1107" y="1040"/>
              <a:ext cx="55"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grpSp>
      <p:sp>
        <p:nvSpPr>
          <p:cNvPr id="834622" name="AutoShape 62">
            <a:extLst>
              <a:ext uri="{FF2B5EF4-FFF2-40B4-BE49-F238E27FC236}">
                <a16:creationId xmlns:a16="http://schemas.microsoft.com/office/drawing/2014/main" id="{A1ADD0FD-6F4D-C529-BB5D-EADFB3555C15}"/>
              </a:ext>
            </a:extLst>
          </p:cNvPr>
          <p:cNvSpPr>
            <a:spLocks noChangeArrowheads="1"/>
          </p:cNvSpPr>
          <p:nvPr/>
        </p:nvSpPr>
        <p:spPr bwMode="auto">
          <a:xfrm rot="-5400000">
            <a:off x="4295775" y="3011488"/>
            <a:ext cx="228600" cy="2209800"/>
          </a:xfrm>
          <a:prstGeom prst="can">
            <a:avLst>
              <a:gd name="adj" fmla="val 122221"/>
            </a:avLst>
          </a:prstGeom>
          <a:solidFill>
            <a:srgbClr val="CCFFCC"/>
          </a:solidFill>
          <a:ln w="12700" cap="sq">
            <a:solidFill>
              <a:srgbClr val="969696"/>
            </a:solid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pic>
        <p:nvPicPr>
          <p:cNvPr id="29702" name="Picture 63">
            <a:extLst>
              <a:ext uri="{FF2B5EF4-FFF2-40B4-BE49-F238E27FC236}">
                <a16:creationId xmlns:a16="http://schemas.microsoft.com/office/drawing/2014/main" id="{0E7AA8F7-17D8-65AE-AF33-756BE0D083E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9550" y="3773488"/>
            <a:ext cx="55562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9703" name="Picture 64">
            <a:extLst>
              <a:ext uri="{FF2B5EF4-FFF2-40B4-BE49-F238E27FC236}">
                <a16:creationId xmlns:a16="http://schemas.microsoft.com/office/drawing/2014/main" id="{7D3EBB2E-FFA4-E422-E367-6ABA3C285A0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4975" y="3770313"/>
            <a:ext cx="555625"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834625" name="Line 65">
            <a:extLst>
              <a:ext uri="{FF2B5EF4-FFF2-40B4-BE49-F238E27FC236}">
                <a16:creationId xmlns:a16="http://schemas.microsoft.com/office/drawing/2014/main" id="{4AC3BEFF-B601-797C-DA4A-C87C38ADB9F3}"/>
              </a:ext>
            </a:extLst>
          </p:cNvPr>
          <p:cNvSpPr>
            <a:spLocks noChangeShapeType="1"/>
          </p:cNvSpPr>
          <p:nvPr/>
        </p:nvSpPr>
        <p:spPr bwMode="auto">
          <a:xfrm flipV="1">
            <a:off x="1371600" y="4154488"/>
            <a:ext cx="1323975" cy="457200"/>
          </a:xfrm>
          <a:prstGeom prst="line">
            <a:avLst/>
          </a:prstGeom>
          <a:noFill/>
          <a:ln w="38100" cap="sq">
            <a:solidFill>
              <a:schemeClr val="tx1"/>
            </a:solidFill>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34626" name="Line 66">
            <a:extLst>
              <a:ext uri="{FF2B5EF4-FFF2-40B4-BE49-F238E27FC236}">
                <a16:creationId xmlns:a16="http://schemas.microsoft.com/office/drawing/2014/main" id="{B5565898-BCE2-6751-EA5C-FCB44B8A7F88}"/>
              </a:ext>
            </a:extLst>
          </p:cNvPr>
          <p:cNvSpPr>
            <a:spLocks noChangeShapeType="1"/>
          </p:cNvSpPr>
          <p:nvPr/>
        </p:nvSpPr>
        <p:spPr bwMode="auto">
          <a:xfrm>
            <a:off x="6200775" y="4154488"/>
            <a:ext cx="1419225" cy="381000"/>
          </a:xfrm>
          <a:prstGeom prst="line">
            <a:avLst/>
          </a:prstGeom>
          <a:noFill/>
          <a:ln w="38100" cap="sq">
            <a:solidFill>
              <a:schemeClr val="tx1"/>
            </a:solidFill>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34627" name="Line 67">
            <a:extLst>
              <a:ext uri="{FF2B5EF4-FFF2-40B4-BE49-F238E27FC236}">
                <a16:creationId xmlns:a16="http://schemas.microsoft.com/office/drawing/2014/main" id="{C2C82AF0-4A38-D527-4F30-25C24B754293}"/>
              </a:ext>
            </a:extLst>
          </p:cNvPr>
          <p:cNvSpPr>
            <a:spLocks noChangeShapeType="1"/>
          </p:cNvSpPr>
          <p:nvPr/>
        </p:nvSpPr>
        <p:spPr bwMode="auto">
          <a:xfrm>
            <a:off x="3305175" y="4154488"/>
            <a:ext cx="2133600" cy="0"/>
          </a:xfrm>
          <a:prstGeom prst="line">
            <a:avLst/>
          </a:prstGeom>
          <a:noFill/>
          <a:ln w="38100">
            <a:solidFill>
              <a:srgbClr val="333333"/>
            </a:solidFill>
            <a:prstDash val="sysDot"/>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29707" name="Text Box 68">
            <a:extLst>
              <a:ext uri="{FF2B5EF4-FFF2-40B4-BE49-F238E27FC236}">
                <a16:creationId xmlns:a16="http://schemas.microsoft.com/office/drawing/2014/main" id="{E32A4EEF-9FA9-68BC-168C-D4309A77DC94}"/>
              </a:ext>
            </a:extLst>
          </p:cNvPr>
          <p:cNvSpPr txBox="1">
            <a:spLocks noChangeArrowheads="1"/>
          </p:cNvSpPr>
          <p:nvPr/>
        </p:nvSpPr>
        <p:spPr bwMode="auto">
          <a:xfrm>
            <a:off x="3352800" y="2706688"/>
            <a:ext cx="2368550" cy="434975"/>
          </a:xfrm>
          <a:prstGeom prst="rect">
            <a:avLst/>
          </a:prstGeom>
          <a:solidFill>
            <a:srgbClr val="FFFF99"/>
          </a:solidFill>
          <a:ln w="38100" cap="sq">
            <a:solidFill>
              <a:srgbClr val="000000"/>
            </a:solidFill>
            <a:miter lim="800000"/>
            <a:headEnd type="none" w="sm" len="sm"/>
            <a:tailEnd type="none" w="sm" len="sm"/>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000" b="1">
                <a:solidFill>
                  <a:srgbClr val="000000"/>
                </a:solidFill>
                <a:latin typeface="Arial" panose="020B0604020202020204" pitchFamily="34" charset="0"/>
              </a:rPr>
              <a:t>Encrypted Tunnel</a:t>
            </a:r>
          </a:p>
        </p:txBody>
      </p:sp>
      <p:sp>
        <p:nvSpPr>
          <p:cNvPr id="29708" name="Text Box 69">
            <a:extLst>
              <a:ext uri="{FF2B5EF4-FFF2-40B4-BE49-F238E27FC236}">
                <a16:creationId xmlns:a16="http://schemas.microsoft.com/office/drawing/2014/main" id="{4791187D-14C6-C81E-5EA9-776BA48FFDD6}"/>
              </a:ext>
            </a:extLst>
          </p:cNvPr>
          <p:cNvSpPr txBox="1">
            <a:spLocks noChangeArrowheads="1"/>
          </p:cNvSpPr>
          <p:nvPr/>
        </p:nvSpPr>
        <p:spPr bwMode="auto">
          <a:xfrm>
            <a:off x="2466975" y="3468688"/>
            <a:ext cx="1276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tx2"/>
                </a:solidFill>
                <a:latin typeface="Arial" panose="020B0604020202020204" pitchFamily="34" charset="0"/>
              </a:rPr>
              <a:t>Gateway 1</a:t>
            </a:r>
          </a:p>
        </p:txBody>
      </p:sp>
      <p:sp>
        <p:nvSpPr>
          <p:cNvPr id="29709" name="Rectangle 70">
            <a:extLst>
              <a:ext uri="{FF2B5EF4-FFF2-40B4-BE49-F238E27FC236}">
                <a16:creationId xmlns:a16="http://schemas.microsoft.com/office/drawing/2014/main" id="{57BE6038-C333-1C05-6282-D71CC4523AF6}"/>
              </a:ext>
            </a:extLst>
          </p:cNvPr>
          <p:cNvSpPr>
            <a:spLocks noChangeArrowheads="1"/>
          </p:cNvSpPr>
          <p:nvPr/>
        </p:nvSpPr>
        <p:spPr bwMode="auto">
          <a:xfrm>
            <a:off x="5267325" y="3468688"/>
            <a:ext cx="1276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chemeClr val="tx2"/>
                </a:solidFill>
                <a:latin typeface="Arial" panose="020B0604020202020204" pitchFamily="34" charset="0"/>
              </a:rPr>
              <a:t>Gateway 2</a:t>
            </a:r>
          </a:p>
        </p:txBody>
      </p:sp>
      <p:grpSp>
        <p:nvGrpSpPr>
          <p:cNvPr id="4" name="Group 71">
            <a:extLst>
              <a:ext uri="{FF2B5EF4-FFF2-40B4-BE49-F238E27FC236}">
                <a16:creationId xmlns:a16="http://schemas.microsoft.com/office/drawing/2014/main" id="{B26F7D6F-DF8A-3CF8-9301-CDBF2CF0590D}"/>
              </a:ext>
            </a:extLst>
          </p:cNvPr>
          <p:cNvGrpSpPr>
            <a:grpSpLocks/>
          </p:cNvGrpSpPr>
          <p:nvPr/>
        </p:nvGrpSpPr>
        <p:grpSpPr bwMode="auto">
          <a:xfrm>
            <a:off x="2133600" y="6015038"/>
            <a:ext cx="4733925" cy="654050"/>
            <a:chOff x="1440" y="2468"/>
            <a:chExt cx="2982" cy="412"/>
          </a:xfrm>
        </p:grpSpPr>
        <p:sp>
          <p:nvSpPr>
            <p:cNvPr id="29719" name="Text Box 72">
              <a:extLst>
                <a:ext uri="{FF2B5EF4-FFF2-40B4-BE49-F238E27FC236}">
                  <a16:creationId xmlns:a16="http://schemas.microsoft.com/office/drawing/2014/main" id="{3E393DED-058D-A8C9-9B75-99378D47BB53}"/>
                </a:ext>
              </a:extLst>
            </p:cNvPr>
            <p:cNvSpPr txBox="1">
              <a:spLocks noChangeArrowheads="1"/>
            </p:cNvSpPr>
            <p:nvPr/>
          </p:nvSpPr>
          <p:spPr bwMode="auto">
            <a:xfrm>
              <a:off x="1440" y="2468"/>
              <a:ext cx="634" cy="412"/>
            </a:xfrm>
            <a:prstGeom prst="rect">
              <a:avLst/>
            </a:prstGeom>
            <a:solidFill>
              <a:srgbClr val="99CCFF"/>
            </a:solidFill>
            <a:ln w="12700" cap="sq">
              <a:solidFill>
                <a:srgbClr val="000000"/>
              </a:solidFill>
              <a:miter lim="800000"/>
              <a:headEnd type="none" w="sm" len="sm"/>
              <a:tailEnd type="none" w="sm" len="sm"/>
            </a:ln>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New IP Header</a:t>
              </a:r>
            </a:p>
          </p:txBody>
        </p:sp>
        <p:sp>
          <p:nvSpPr>
            <p:cNvPr id="29720" name="Text Box 73">
              <a:extLst>
                <a:ext uri="{FF2B5EF4-FFF2-40B4-BE49-F238E27FC236}">
                  <a16:creationId xmlns:a16="http://schemas.microsoft.com/office/drawing/2014/main" id="{094C8671-2E68-4D8E-B3B0-1216B6606190}"/>
                </a:ext>
              </a:extLst>
            </p:cNvPr>
            <p:cNvSpPr txBox="1">
              <a:spLocks noChangeArrowheads="1"/>
            </p:cNvSpPr>
            <p:nvPr/>
          </p:nvSpPr>
          <p:spPr bwMode="auto">
            <a:xfrm>
              <a:off x="2074" y="2468"/>
              <a:ext cx="864" cy="412"/>
            </a:xfrm>
            <a:prstGeom prst="rect">
              <a:avLst/>
            </a:prstGeom>
            <a:solidFill>
              <a:srgbClr val="99CCFF"/>
            </a:solidFill>
            <a:ln w="12700" cap="sq">
              <a:solidFill>
                <a:srgbClr val="000000"/>
              </a:solidFill>
              <a:miter lim="800000"/>
              <a:headEnd type="none" w="sm" len="sm"/>
              <a:tailEnd type="none" w="sm" len="sm"/>
            </a:ln>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AH or ESP Header</a:t>
              </a:r>
            </a:p>
          </p:txBody>
        </p:sp>
        <p:sp>
          <p:nvSpPr>
            <p:cNvPr id="29721" name="Text Box 74">
              <a:extLst>
                <a:ext uri="{FF2B5EF4-FFF2-40B4-BE49-F238E27FC236}">
                  <a16:creationId xmlns:a16="http://schemas.microsoft.com/office/drawing/2014/main" id="{585D67D3-CAED-7F35-ABB4-83504185EFDD}"/>
                </a:ext>
              </a:extLst>
            </p:cNvPr>
            <p:cNvSpPr txBox="1">
              <a:spLocks noChangeArrowheads="1"/>
            </p:cNvSpPr>
            <p:nvPr/>
          </p:nvSpPr>
          <p:spPr bwMode="auto">
            <a:xfrm>
              <a:off x="3562" y="2468"/>
              <a:ext cx="432" cy="412"/>
            </a:xfrm>
            <a:prstGeom prst="rect">
              <a:avLst/>
            </a:prstGeom>
            <a:solidFill>
              <a:srgbClr val="00FFFF"/>
            </a:solidFill>
            <a:ln w="12700" cap="sq">
              <a:solidFill>
                <a:srgbClr val="000000"/>
              </a:solidFill>
              <a:miter lim="800000"/>
              <a:headEnd type="none" w="sm" len="sm"/>
              <a:tailEnd type="none" w="sm" len="sm"/>
            </a:ln>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TCP</a:t>
              </a:r>
            </a:p>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29722" name="Text Box 75">
              <a:extLst>
                <a:ext uri="{FF2B5EF4-FFF2-40B4-BE49-F238E27FC236}">
                  <a16:creationId xmlns:a16="http://schemas.microsoft.com/office/drawing/2014/main" id="{3CCD1D08-9CA6-F890-0417-50D8EA4F3246}"/>
                </a:ext>
              </a:extLst>
            </p:cNvPr>
            <p:cNvSpPr txBox="1">
              <a:spLocks noChangeArrowheads="1"/>
            </p:cNvSpPr>
            <p:nvPr/>
          </p:nvSpPr>
          <p:spPr bwMode="auto">
            <a:xfrm>
              <a:off x="3994" y="2468"/>
              <a:ext cx="428" cy="412"/>
            </a:xfrm>
            <a:prstGeom prst="rect">
              <a:avLst/>
            </a:prstGeom>
            <a:solidFill>
              <a:srgbClr val="00FFFF"/>
            </a:solidFill>
            <a:ln w="12700" cap="sq">
              <a:solidFill>
                <a:srgbClr val="000000"/>
              </a:solidFill>
              <a:miter lim="800000"/>
              <a:headEnd type="none" w="sm" len="sm"/>
              <a:tailEnd type="none" w="sm" len="sm"/>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Data</a:t>
              </a:r>
            </a:p>
            <a:p>
              <a:pPr eaLnBrk="1" hangingPunct="1">
                <a:spcBef>
                  <a:spcPct val="0"/>
                </a:spcBef>
                <a:buClrTx/>
                <a:buSzTx/>
                <a:buFontTx/>
                <a:buNone/>
              </a:pPr>
              <a:endParaRPr lang="en-US" altLang="en-US" sz="1800">
                <a:solidFill>
                  <a:srgbClr val="000000"/>
                </a:solidFill>
                <a:latin typeface="Arial" panose="020B0604020202020204" pitchFamily="34" charset="0"/>
              </a:endParaRPr>
            </a:p>
          </p:txBody>
        </p:sp>
        <p:sp>
          <p:nvSpPr>
            <p:cNvPr id="29723" name="Rectangle 76">
              <a:extLst>
                <a:ext uri="{FF2B5EF4-FFF2-40B4-BE49-F238E27FC236}">
                  <a16:creationId xmlns:a16="http://schemas.microsoft.com/office/drawing/2014/main" id="{39F019C1-4158-0A6D-FEA1-F2BA4800B86E}"/>
                </a:ext>
              </a:extLst>
            </p:cNvPr>
            <p:cNvSpPr>
              <a:spLocks noChangeArrowheads="1"/>
            </p:cNvSpPr>
            <p:nvPr/>
          </p:nvSpPr>
          <p:spPr bwMode="auto">
            <a:xfrm>
              <a:off x="2938" y="2468"/>
              <a:ext cx="624" cy="412"/>
            </a:xfrm>
            <a:prstGeom prst="rect">
              <a:avLst/>
            </a:prstGeom>
            <a:solidFill>
              <a:srgbClr val="00FFFF"/>
            </a:solidFill>
            <a:ln w="12700" cap="sq">
              <a:solidFill>
                <a:srgbClr val="000000"/>
              </a:solidFill>
              <a:miter lim="800000"/>
              <a:headEnd type="none" w="sm" len="sm"/>
              <a:tailEnd type="none" w="sm" len="sm"/>
            </a:ln>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rgbClr val="000000"/>
                  </a:solidFill>
                  <a:latin typeface="Arial" panose="020B0604020202020204" pitchFamily="34" charset="0"/>
                </a:rPr>
                <a:t>Orig IP Header</a:t>
              </a:r>
            </a:p>
          </p:txBody>
        </p:sp>
      </p:grpSp>
      <p:grpSp>
        <p:nvGrpSpPr>
          <p:cNvPr id="5" name="Group 77">
            <a:extLst>
              <a:ext uri="{FF2B5EF4-FFF2-40B4-BE49-F238E27FC236}">
                <a16:creationId xmlns:a16="http://schemas.microsoft.com/office/drawing/2014/main" id="{28B7712E-0411-5E7C-A549-7EA683DDE13F}"/>
              </a:ext>
            </a:extLst>
          </p:cNvPr>
          <p:cNvGrpSpPr>
            <a:grpSpLocks/>
          </p:cNvGrpSpPr>
          <p:nvPr/>
        </p:nvGrpSpPr>
        <p:grpSpPr bwMode="auto">
          <a:xfrm>
            <a:off x="2133600" y="4535488"/>
            <a:ext cx="4724400" cy="1447800"/>
            <a:chOff x="1344" y="1536"/>
            <a:chExt cx="2976" cy="912"/>
          </a:xfrm>
        </p:grpSpPr>
        <p:sp>
          <p:nvSpPr>
            <p:cNvPr id="834638" name="Line 78">
              <a:extLst>
                <a:ext uri="{FF2B5EF4-FFF2-40B4-BE49-F238E27FC236}">
                  <a16:creationId xmlns:a16="http://schemas.microsoft.com/office/drawing/2014/main" id="{BA18C052-87C7-0BC0-EEBD-B44FD860BE8D}"/>
                </a:ext>
              </a:extLst>
            </p:cNvPr>
            <p:cNvSpPr>
              <a:spLocks noChangeShapeType="1"/>
            </p:cNvSpPr>
            <p:nvPr/>
          </p:nvSpPr>
          <p:spPr bwMode="auto">
            <a:xfrm flipV="1">
              <a:off x="1344" y="1536"/>
              <a:ext cx="528" cy="912"/>
            </a:xfrm>
            <a:prstGeom prst="line">
              <a:avLst/>
            </a:prstGeom>
            <a:noFill/>
            <a:ln w="25400">
              <a:solidFill>
                <a:schemeClr val="tx1"/>
              </a:solidFill>
              <a:prstDash val="dash"/>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34639" name="Line 79">
              <a:extLst>
                <a:ext uri="{FF2B5EF4-FFF2-40B4-BE49-F238E27FC236}">
                  <a16:creationId xmlns:a16="http://schemas.microsoft.com/office/drawing/2014/main" id="{1E5E58CE-1DE9-E263-3C27-0D927CE770BE}"/>
                </a:ext>
              </a:extLst>
            </p:cNvPr>
            <p:cNvSpPr>
              <a:spLocks noChangeShapeType="1"/>
            </p:cNvSpPr>
            <p:nvPr/>
          </p:nvSpPr>
          <p:spPr bwMode="auto">
            <a:xfrm flipH="1" flipV="1">
              <a:off x="3648" y="1536"/>
              <a:ext cx="672" cy="912"/>
            </a:xfrm>
            <a:prstGeom prst="line">
              <a:avLst/>
            </a:prstGeom>
            <a:noFill/>
            <a:ln w="25400">
              <a:solidFill>
                <a:schemeClr val="tx1"/>
              </a:solidFill>
              <a:prstDash val="dash"/>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grpSp>
      <p:sp>
        <p:nvSpPr>
          <p:cNvPr id="834640" name="Text Box 80">
            <a:extLst>
              <a:ext uri="{FF2B5EF4-FFF2-40B4-BE49-F238E27FC236}">
                <a16:creationId xmlns:a16="http://schemas.microsoft.com/office/drawing/2014/main" id="{C52B5C51-CB85-7D2C-3DFD-F2BA9A9BF089}"/>
              </a:ext>
            </a:extLst>
          </p:cNvPr>
          <p:cNvSpPr txBox="1">
            <a:spLocks noChangeArrowheads="1"/>
          </p:cNvSpPr>
          <p:nvPr/>
        </p:nvSpPr>
        <p:spPr bwMode="auto">
          <a:xfrm>
            <a:off x="3892550" y="4267200"/>
            <a:ext cx="1212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solidFill>
                  <a:srgbClr val="FF3300"/>
                </a:solidFill>
                <a:latin typeface="Arial" panose="020B0604020202020204" pitchFamily="34" charset="0"/>
              </a:rPr>
              <a:t>Encrypted</a:t>
            </a:r>
          </a:p>
        </p:txBody>
      </p:sp>
      <p:sp>
        <p:nvSpPr>
          <p:cNvPr id="834641" name="Text Box 81">
            <a:extLst>
              <a:ext uri="{FF2B5EF4-FFF2-40B4-BE49-F238E27FC236}">
                <a16:creationId xmlns:a16="http://schemas.microsoft.com/office/drawing/2014/main" id="{94942722-BC9B-0976-970C-5715BE450D93}"/>
              </a:ext>
            </a:extLst>
          </p:cNvPr>
          <p:cNvSpPr txBox="1">
            <a:spLocks noChangeArrowheads="1"/>
          </p:cNvSpPr>
          <p:nvPr/>
        </p:nvSpPr>
        <p:spPr bwMode="auto">
          <a:xfrm rot="-1088962">
            <a:off x="1295400" y="4459288"/>
            <a:ext cx="1479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latin typeface="Arial" panose="020B0604020202020204" pitchFamily="34" charset="0"/>
              </a:rPr>
              <a:t>Unencrypted</a:t>
            </a:r>
          </a:p>
        </p:txBody>
      </p:sp>
      <p:sp>
        <p:nvSpPr>
          <p:cNvPr id="834642" name="Text Box 82">
            <a:extLst>
              <a:ext uri="{FF2B5EF4-FFF2-40B4-BE49-F238E27FC236}">
                <a16:creationId xmlns:a16="http://schemas.microsoft.com/office/drawing/2014/main" id="{3D645FF9-9020-F3EF-411C-CD861001BED1}"/>
              </a:ext>
            </a:extLst>
          </p:cNvPr>
          <p:cNvSpPr txBox="1">
            <a:spLocks noChangeArrowheads="1"/>
          </p:cNvSpPr>
          <p:nvPr/>
        </p:nvSpPr>
        <p:spPr bwMode="auto">
          <a:xfrm rot="878624">
            <a:off x="6096000" y="4383088"/>
            <a:ext cx="1479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a:latin typeface="Arial" panose="020B0604020202020204" pitchFamily="34" charset="0"/>
              </a:rPr>
              <a:t>Unencrypted</a:t>
            </a:r>
          </a:p>
        </p:txBody>
      </p:sp>
      <p:sp>
        <p:nvSpPr>
          <p:cNvPr id="29715" name="Rectangle 83">
            <a:extLst>
              <a:ext uri="{FF2B5EF4-FFF2-40B4-BE49-F238E27FC236}">
                <a16:creationId xmlns:a16="http://schemas.microsoft.com/office/drawing/2014/main" id="{FCC2B864-7617-0CFA-931D-04CD28335A25}"/>
              </a:ext>
            </a:extLst>
          </p:cNvPr>
          <p:cNvSpPr>
            <a:spLocks noChangeArrowheads="1"/>
          </p:cNvSpPr>
          <p:nvPr/>
        </p:nvSpPr>
        <p:spPr bwMode="auto">
          <a:xfrm>
            <a:off x="608013" y="-3175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4400">
                <a:solidFill>
                  <a:schemeClr val="tx2"/>
                </a:solidFill>
              </a:rPr>
              <a:t>Transport Mode vs. Tunnel Mode</a:t>
            </a:r>
          </a:p>
        </p:txBody>
      </p:sp>
      <p:sp>
        <p:nvSpPr>
          <p:cNvPr id="834645" name="Rectangle 85">
            <a:extLst>
              <a:ext uri="{FF2B5EF4-FFF2-40B4-BE49-F238E27FC236}">
                <a16:creationId xmlns:a16="http://schemas.microsoft.com/office/drawing/2014/main" id="{AEDFE0B1-2057-3944-B21F-64955C3FABAE}"/>
              </a:ext>
            </a:extLst>
          </p:cNvPr>
          <p:cNvSpPr>
            <a:spLocks noChangeArrowheads="1"/>
          </p:cNvSpPr>
          <p:nvPr/>
        </p:nvSpPr>
        <p:spPr bwMode="auto">
          <a:xfrm>
            <a:off x="0" y="933450"/>
            <a:ext cx="9007475" cy="1423988"/>
          </a:xfrm>
          <a:prstGeom prst="rect">
            <a:avLst/>
          </a:prstGeom>
          <a:noFill/>
          <a:ln w="9525">
            <a:noFill/>
            <a:miter lim="800000"/>
            <a:headEnd/>
            <a:tailEnd/>
          </a:ln>
          <a:effectLst/>
        </p:spPr>
        <p:txBody>
          <a:bodyPr lIns="92075" tIns="46038" rIns="92075" bIns="46038"/>
          <a:lstStyle/>
          <a:p>
            <a:pPr marL="342900" indent="-342900">
              <a:spcBef>
                <a:spcPct val="20000"/>
              </a:spcBef>
              <a:buClr>
                <a:schemeClr val="tx2"/>
              </a:buClr>
              <a:buSzPct val="75000"/>
              <a:buFont typeface="Monotype Sorts" pitchFamily="2" charset="2"/>
              <a:buChar char="n"/>
              <a:defRPr/>
            </a:pPr>
            <a:r>
              <a:rPr lang="en-US" sz="3200">
                <a:effectLst>
                  <a:outerShdw blurRad="38100" dist="38100" dir="2700000" algn="tl">
                    <a:srgbClr val="000000"/>
                  </a:outerShdw>
                </a:effectLst>
              </a:rPr>
              <a:t>Transport mode: host -&gt; host</a:t>
            </a:r>
          </a:p>
          <a:p>
            <a:pPr marL="342900" indent="-342900">
              <a:spcBef>
                <a:spcPct val="20000"/>
              </a:spcBef>
              <a:buClr>
                <a:schemeClr val="tx2"/>
              </a:buClr>
              <a:buSzPct val="75000"/>
              <a:buFont typeface="Monotype Sorts" pitchFamily="2" charset="2"/>
              <a:buChar char="n"/>
              <a:defRPr/>
            </a:pPr>
            <a:r>
              <a:rPr lang="en-US" sz="3200">
                <a:effectLst>
                  <a:outerShdw blurRad="38100" dist="38100" dir="2700000" algn="tl">
                    <a:srgbClr val="000000"/>
                  </a:outerShdw>
                </a:effectLst>
              </a:rPr>
              <a:t>Tunnel mode: host-&gt;gateway or gateway-&gt;gateway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34625"/>
                                        </p:tgtEl>
                                        <p:attrNameLst>
                                          <p:attrName>style.visibility</p:attrName>
                                        </p:attrNameLst>
                                      </p:cBhvr>
                                      <p:to>
                                        <p:strVal val="visible"/>
                                      </p:to>
                                    </p:set>
                                    <p:animEffect transition="in" filter="wipe(left)">
                                      <p:cBhvr>
                                        <p:cTn id="7" dur="500"/>
                                        <p:tgtEl>
                                          <p:spTgt spid="834625"/>
                                        </p:tgtEl>
                                      </p:cBhvr>
                                    </p:animEffect>
                                  </p:childTnLst>
                                </p:cTn>
                              </p:par>
                            </p:childTnLst>
                          </p:cTn>
                        </p:par>
                        <p:par>
                          <p:cTn id="8" fill="hold" nodeType="afterGroup">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834641"/>
                                        </p:tgtEl>
                                        <p:attrNameLst>
                                          <p:attrName>style.visibility</p:attrName>
                                        </p:attrNameLst>
                                      </p:cBhvr>
                                      <p:to>
                                        <p:strVal val="visible"/>
                                      </p:to>
                                    </p:set>
                                    <p:anim calcmode="lin" valueType="num">
                                      <p:cBhvr additive="base">
                                        <p:cTn id="11" dur="500" fill="hold"/>
                                        <p:tgtEl>
                                          <p:spTgt spid="834641"/>
                                        </p:tgtEl>
                                        <p:attrNameLst>
                                          <p:attrName>ppt_x</p:attrName>
                                        </p:attrNameLst>
                                      </p:cBhvr>
                                      <p:tavLst>
                                        <p:tav tm="0">
                                          <p:val>
                                            <p:strVal val="0-#ppt_w/2"/>
                                          </p:val>
                                        </p:tav>
                                        <p:tav tm="100000">
                                          <p:val>
                                            <p:strVal val="#ppt_x"/>
                                          </p:val>
                                        </p:tav>
                                      </p:tavLst>
                                    </p:anim>
                                    <p:anim calcmode="lin" valueType="num">
                                      <p:cBhvr additive="base">
                                        <p:cTn id="12" dur="500" fill="hold"/>
                                        <p:tgtEl>
                                          <p:spTgt spid="834641"/>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2" presetClass="entr" presetSubtype="8" fill="hold" nodeType="afterEffect">
                                  <p:stCondLst>
                                    <p:cond delay="2000"/>
                                  </p:stCondLst>
                                  <p:childTnLst>
                                    <p:set>
                                      <p:cBhvr>
                                        <p:cTn id="15" dur="1" fill="hold">
                                          <p:stCondLst>
                                            <p:cond delay="0"/>
                                          </p:stCondLst>
                                        </p:cTn>
                                        <p:tgtEl>
                                          <p:spTgt spid="834627"/>
                                        </p:tgtEl>
                                        <p:attrNameLst>
                                          <p:attrName>style.visibility</p:attrName>
                                        </p:attrNameLst>
                                      </p:cBhvr>
                                      <p:to>
                                        <p:strVal val="visible"/>
                                      </p:to>
                                    </p:set>
                                    <p:animEffect transition="in" filter="wipe(left)">
                                      <p:cBhvr>
                                        <p:cTn id="16" dur="500"/>
                                        <p:tgtEl>
                                          <p:spTgt spid="834627"/>
                                        </p:tgtEl>
                                      </p:cBhvr>
                                    </p:animEffect>
                                  </p:childTnLst>
                                </p:cTn>
                              </p:par>
                            </p:childTnLst>
                          </p:cTn>
                        </p:par>
                        <p:par>
                          <p:cTn id="17" fill="hold" nodeType="afterGroup">
                            <p:stCondLst>
                              <p:cond delay="3500"/>
                            </p:stCondLst>
                            <p:childTnLst>
                              <p:par>
                                <p:cTn id="18" presetID="2" presetClass="entr" presetSubtype="1" fill="hold" grpId="0" nodeType="afterEffect">
                                  <p:stCondLst>
                                    <p:cond delay="0"/>
                                  </p:stCondLst>
                                  <p:childTnLst>
                                    <p:set>
                                      <p:cBhvr>
                                        <p:cTn id="19" dur="1" fill="hold">
                                          <p:stCondLst>
                                            <p:cond delay="0"/>
                                          </p:stCondLst>
                                        </p:cTn>
                                        <p:tgtEl>
                                          <p:spTgt spid="834640"/>
                                        </p:tgtEl>
                                        <p:attrNameLst>
                                          <p:attrName>style.visibility</p:attrName>
                                        </p:attrNameLst>
                                      </p:cBhvr>
                                      <p:to>
                                        <p:strVal val="visible"/>
                                      </p:to>
                                    </p:set>
                                    <p:anim calcmode="lin" valueType="num">
                                      <p:cBhvr additive="base">
                                        <p:cTn id="20" dur="500" fill="hold"/>
                                        <p:tgtEl>
                                          <p:spTgt spid="834640"/>
                                        </p:tgtEl>
                                        <p:attrNameLst>
                                          <p:attrName>ppt_x</p:attrName>
                                        </p:attrNameLst>
                                      </p:cBhvr>
                                      <p:tavLst>
                                        <p:tav tm="0">
                                          <p:val>
                                            <p:strVal val="#ppt_x"/>
                                          </p:val>
                                        </p:tav>
                                        <p:tav tm="100000">
                                          <p:val>
                                            <p:strVal val="#ppt_x"/>
                                          </p:val>
                                        </p:tav>
                                      </p:tavLst>
                                    </p:anim>
                                    <p:anim calcmode="lin" valueType="num">
                                      <p:cBhvr additive="base">
                                        <p:cTn id="21" dur="500" fill="hold"/>
                                        <p:tgtEl>
                                          <p:spTgt spid="834640"/>
                                        </p:tgtEl>
                                        <p:attrNameLst>
                                          <p:attrName>ppt_y</p:attrName>
                                        </p:attrNameLst>
                                      </p:cBhvr>
                                      <p:tavLst>
                                        <p:tav tm="0">
                                          <p:val>
                                            <p:strVal val="0-#ppt_h/2"/>
                                          </p:val>
                                        </p:tav>
                                        <p:tav tm="100000">
                                          <p:val>
                                            <p:strVal val="#ppt_y"/>
                                          </p:val>
                                        </p:tav>
                                      </p:tavLst>
                                    </p:anim>
                                  </p:childTnLst>
                                </p:cTn>
                              </p:par>
                            </p:childTnLst>
                          </p:cTn>
                        </p:par>
                        <p:par>
                          <p:cTn id="22" fill="hold" nodeType="afterGroup">
                            <p:stCondLst>
                              <p:cond delay="4000"/>
                            </p:stCondLst>
                            <p:childTnLst>
                              <p:par>
                                <p:cTn id="23" presetID="22" presetClass="entr" presetSubtype="8" fill="hold" nodeType="afterEffect">
                                  <p:stCondLst>
                                    <p:cond delay="2000"/>
                                  </p:stCondLst>
                                  <p:childTnLst>
                                    <p:set>
                                      <p:cBhvr>
                                        <p:cTn id="24" dur="1" fill="hold">
                                          <p:stCondLst>
                                            <p:cond delay="0"/>
                                          </p:stCondLst>
                                        </p:cTn>
                                        <p:tgtEl>
                                          <p:spTgt spid="834626"/>
                                        </p:tgtEl>
                                        <p:attrNameLst>
                                          <p:attrName>style.visibility</p:attrName>
                                        </p:attrNameLst>
                                      </p:cBhvr>
                                      <p:to>
                                        <p:strVal val="visible"/>
                                      </p:to>
                                    </p:set>
                                    <p:animEffect transition="in" filter="wipe(left)">
                                      <p:cBhvr>
                                        <p:cTn id="25" dur="500"/>
                                        <p:tgtEl>
                                          <p:spTgt spid="834626"/>
                                        </p:tgtEl>
                                      </p:cBhvr>
                                    </p:animEffect>
                                  </p:childTnLst>
                                </p:cTn>
                              </p:par>
                            </p:childTnLst>
                          </p:cTn>
                        </p:par>
                        <p:par>
                          <p:cTn id="26" fill="hold" nodeType="afterGroup">
                            <p:stCondLst>
                              <p:cond delay="6500"/>
                            </p:stCondLst>
                            <p:childTnLst>
                              <p:par>
                                <p:cTn id="27" presetID="2" presetClass="entr" presetSubtype="2" fill="hold" grpId="0" nodeType="afterEffect">
                                  <p:stCondLst>
                                    <p:cond delay="0"/>
                                  </p:stCondLst>
                                  <p:childTnLst>
                                    <p:set>
                                      <p:cBhvr>
                                        <p:cTn id="28" dur="1" fill="hold">
                                          <p:stCondLst>
                                            <p:cond delay="0"/>
                                          </p:stCondLst>
                                        </p:cTn>
                                        <p:tgtEl>
                                          <p:spTgt spid="834642"/>
                                        </p:tgtEl>
                                        <p:attrNameLst>
                                          <p:attrName>style.visibility</p:attrName>
                                        </p:attrNameLst>
                                      </p:cBhvr>
                                      <p:to>
                                        <p:strVal val="visible"/>
                                      </p:to>
                                    </p:set>
                                    <p:anim calcmode="lin" valueType="num">
                                      <p:cBhvr additive="base">
                                        <p:cTn id="29" dur="500" fill="hold"/>
                                        <p:tgtEl>
                                          <p:spTgt spid="834642"/>
                                        </p:tgtEl>
                                        <p:attrNameLst>
                                          <p:attrName>ppt_x</p:attrName>
                                        </p:attrNameLst>
                                      </p:cBhvr>
                                      <p:tavLst>
                                        <p:tav tm="0">
                                          <p:val>
                                            <p:strVal val="1+#ppt_w/2"/>
                                          </p:val>
                                        </p:tav>
                                        <p:tav tm="100000">
                                          <p:val>
                                            <p:strVal val="#ppt_x"/>
                                          </p:val>
                                        </p:tav>
                                      </p:tavLst>
                                    </p:anim>
                                    <p:anim calcmode="lin" valueType="num">
                                      <p:cBhvr additive="base">
                                        <p:cTn id="30" dur="500" fill="hold"/>
                                        <p:tgtEl>
                                          <p:spTgt spid="834642"/>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nodeType="afterGroup">
                            <p:stCondLst>
                              <p:cond delay="500"/>
                            </p:stCondLst>
                            <p:childTnLst>
                              <p:par>
                                <p:cTn id="38" presetID="22" presetClass="entr" presetSubtype="1" fill="hold"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up)">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640" grpId="0" autoUpdateAnimBg="0"/>
      <p:bldP spid="834641" grpId="0" autoUpdateAnimBg="0"/>
      <p:bldP spid="83464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A517FAEC-2EE4-67C3-5758-88E4C58348BD}"/>
              </a:ext>
            </a:extLst>
          </p:cNvPr>
          <p:cNvSpPr>
            <a:spLocks noGrp="1" noChangeArrowheads="1"/>
          </p:cNvSpPr>
          <p:nvPr>
            <p:ph type="title"/>
          </p:nvPr>
        </p:nvSpPr>
        <p:spPr>
          <a:xfrm>
            <a:off x="990600" y="228600"/>
            <a:ext cx="7239000" cy="1143000"/>
          </a:xfrm>
        </p:spPr>
        <p:txBody>
          <a:bodyPr/>
          <a:lstStyle/>
          <a:p>
            <a:r>
              <a:rPr lang="en-US" altLang="en-US"/>
              <a:t>Transport Mode</a:t>
            </a:r>
          </a:p>
        </p:txBody>
      </p:sp>
      <p:sp>
        <p:nvSpPr>
          <p:cNvPr id="835587" name="Rectangle 3">
            <a:extLst>
              <a:ext uri="{FF2B5EF4-FFF2-40B4-BE49-F238E27FC236}">
                <a16:creationId xmlns:a16="http://schemas.microsoft.com/office/drawing/2014/main" id="{3A19ACF8-6D73-DCD1-2B17-80EE2D900624}"/>
              </a:ext>
            </a:extLst>
          </p:cNvPr>
          <p:cNvSpPr>
            <a:spLocks noGrp="1" noChangeArrowheads="1"/>
          </p:cNvSpPr>
          <p:nvPr>
            <p:ph type="body" idx="1"/>
          </p:nvPr>
        </p:nvSpPr>
        <p:spPr>
          <a:xfrm>
            <a:off x="1143000" y="4876800"/>
            <a:ext cx="7772400" cy="1524000"/>
          </a:xfrm>
        </p:spPr>
        <p:txBody>
          <a:bodyPr/>
          <a:lstStyle/>
          <a:p>
            <a:pPr>
              <a:lnSpc>
                <a:spcPct val="90000"/>
              </a:lnSpc>
              <a:defRPr/>
            </a:pPr>
            <a:r>
              <a:rPr lang="en-US"/>
              <a:t>ESP protects higher layer payload only</a:t>
            </a:r>
          </a:p>
          <a:p>
            <a:pPr>
              <a:lnSpc>
                <a:spcPct val="90000"/>
              </a:lnSpc>
              <a:defRPr/>
            </a:pPr>
            <a:r>
              <a:rPr lang="en-US"/>
              <a:t>AH can protect IP headers as well as higher layer payload</a:t>
            </a:r>
          </a:p>
        </p:txBody>
      </p:sp>
      <p:sp>
        <p:nvSpPr>
          <p:cNvPr id="31747" name="Rectangle 4">
            <a:extLst>
              <a:ext uri="{FF2B5EF4-FFF2-40B4-BE49-F238E27FC236}">
                <a16:creationId xmlns:a16="http://schemas.microsoft.com/office/drawing/2014/main" id="{47D28103-EEA1-8ED4-C050-2000F6F0CD27}"/>
              </a:ext>
            </a:extLst>
          </p:cNvPr>
          <p:cNvSpPr>
            <a:spLocks noChangeArrowheads="1"/>
          </p:cNvSpPr>
          <p:nvPr/>
        </p:nvSpPr>
        <p:spPr bwMode="auto">
          <a:xfrm>
            <a:off x="1143000" y="1600200"/>
            <a:ext cx="11430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IP</a:t>
            </a:r>
          </a:p>
          <a:p>
            <a:pPr algn="ctr">
              <a:spcBef>
                <a:spcPct val="0"/>
              </a:spcBef>
              <a:buClrTx/>
              <a:buSzTx/>
              <a:buFontTx/>
              <a:buNone/>
            </a:pPr>
            <a:r>
              <a:rPr lang="en-US" altLang="en-US" sz="2800"/>
              <a:t>header</a:t>
            </a:r>
          </a:p>
        </p:txBody>
      </p:sp>
      <p:sp>
        <p:nvSpPr>
          <p:cNvPr id="31748" name="Rectangle 5">
            <a:extLst>
              <a:ext uri="{FF2B5EF4-FFF2-40B4-BE49-F238E27FC236}">
                <a16:creationId xmlns:a16="http://schemas.microsoft.com/office/drawing/2014/main" id="{FF14B300-0DAC-BAA9-7C44-EC7DF3502B12}"/>
              </a:ext>
            </a:extLst>
          </p:cNvPr>
          <p:cNvSpPr>
            <a:spLocks noChangeArrowheads="1"/>
          </p:cNvSpPr>
          <p:nvPr/>
        </p:nvSpPr>
        <p:spPr bwMode="auto">
          <a:xfrm>
            <a:off x="2362200" y="1600200"/>
            <a:ext cx="12192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IP</a:t>
            </a:r>
          </a:p>
          <a:p>
            <a:pPr algn="ctr">
              <a:spcBef>
                <a:spcPct val="0"/>
              </a:spcBef>
              <a:buClrTx/>
              <a:buSzTx/>
              <a:buFontTx/>
              <a:buNone/>
            </a:pPr>
            <a:r>
              <a:rPr lang="en-US" altLang="en-US" sz="2800"/>
              <a:t>options</a:t>
            </a:r>
          </a:p>
        </p:txBody>
      </p:sp>
      <p:sp>
        <p:nvSpPr>
          <p:cNvPr id="31749" name="Rectangle 6">
            <a:extLst>
              <a:ext uri="{FF2B5EF4-FFF2-40B4-BE49-F238E27FC236}">
                <a16:creationId xmlns:a16="http://schemas.microsoft.com/office/drawing/2014/main" id="{58813585-5B8B-D97C-9DA5-C2B7E2FC31D3}"/>
              </a:ext>
            </a:extLst>
          </p:cNvPr>
          <p:cNvSpPr>
            <a:spLocks noChangeArrowheads="1"/>
          </p:cNvSpPr>
          <p:nvPr/>
        </p:nvSpPr>
        <p:spPr bwMode="auto">
          <a:xfrm>
            <a:off x="3657600" y="16002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IPSec</a:t>
            </a:r>
          </a:p>
          <a:p>
            <a:pPr algn="ctr">
              <a:spcBef>
                <a:spcPct val="0"/>
              </a:spcBef>
              <a:buClrTx/>
              <a:buSzTx/>
              <a:buFontTx/>
              <a:buNone/>
            </a:pPr>
            <a:r>
              <a:rPr lang="en-US" altLang="en-US" sz="2800"/>
              <a:t>header</a:t>
            </a:r>
          </a:p>
        </p:txBody>
      </p:sp>
      <p:sp>
        <p:nvSpPr>
          <p:cNvPr id="31750" name="Rectangle 7">
            <a:extLst>
              <a:ext uri="{FF2B5EF4-FFF2-40B4-BE49-F238E27FC236}">
                <a16:creationId xmlns:a16="http://schemas.microsoft.com/office/drawing/2014/main" id="{2527EE61-5161-3C90-D0F5-33A5992F49B2}"/>
              </a:ext>
            </a:extLst>
          </p:cNvPr>
          <p:cNvSpPr>
            <a:spLocks noChangeArrowheads="1"/>
          </p:cNvSpPr>
          <p:nvPr/>
        </p:nvSpPr>
        <p:spPr bwMode="auto">
          <a:xfrm>
            <a:off x="5029200" y="1600200"/>
            <a:ext cx="22098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Higher</a:t>
            </a:r>
          </a:p>
          <a:p>
            <a:pPr algn="ctr">
              <a:spcBef>
                <a:spcPct val="0"/>
              </a:spcBef>
              <a:buClrTx/>
              <a:buSzTx/>
              <a:buFontTx/>
              <a:buNone/>
            </a:pPr>
            <a:r>
              <a:rPr lang="en-US" altLang="en-US" sz="2800"/>
              <a:t>layer protocol</a:t>
            </a:r>
          </a:p>
        </p:txBody>
      </p:sp>
      <p:sp>
        <p:nvSpPr>
          <p:cNvPr id="31751" name="Rectangle 8">
            <a:extLst>
              <a:ext uri="{FF2B5EF4-FFF2-40B4-BE49-F238E27FC236}">
                <a16:creationId xmlns:a16="http://schemas.microsoft.com/office/drawing/2014/main" id="{B60A0384-2108-727E-D97E-DFC2EE79FFA0}"/>
              </a:ext>
            </a:extLst>
          </p:cNvPr>
          <p:cNvSpPr>
            <a:spLocks noChangeArrowheads="1"/>
          </p:cNvSpPr>
          <p:nvPr/>
        </p:nvSpPr>
        <p:spPr bwMode="auto">
          <a:xfrm>
            <a:off x="3657600" y="25908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p:txBody>
      </p:sp>
      <p:sp>
        <p:nvSpPr>
          <p:cNvPr id="31752" name="Rectangle 9">
            <a:extLst>
              <a:ext uri="{FF2B5EF4-FFF2-40B4-BE49-F238E27FC236}">
                <a16:creationId xmlns:a16="http://schemas.microsoft.com/office/drawing/2014/main" id="{EEC449D2-D17C-FCB8-3D2A-FB481307D66F}"/>
              </a:ext>
            </a:extLst>
          </p:cNvPr>
          <p:cNvSpPr>
            <a:spLocks noChangeArrowheads="1"/>
          </p:cNvSpPr>
          <p:nvPr/>
        </p:nvSpPr>
        <p:spPr bwMode="auto">
          <a:xfrm>
            <a:off x="3657600" y="38100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AH</a:t>
            </a:r>
          </a:p>
        </p:txBody>
      </p:sp>
      <p:sp>
        <p:nvSpPr>
          <p:cNvPr id="835594" name="AutoShape 10">
            <a:extLst>
              <a:ext uri="{FF2B5EF4-FFF2-40B4-BE49-F238E27FC236}">
                <a16:creationId xmlns:a16="http://schemas.microsoft.com/office/drawing/2014/main" id="{62D803CA-9DE8-CD72-5A10-96180390B609}"/>
              </a:ext>
            </a:extLst>
          </p:cNvPr>
          <p:cNvSpPr>
            <a:spLocks noChangeArrowheads="1"/>
          </p:cNvSpPr>
          <p:nvPr/>
        </p:nvSpPr>
        <p:spPr bwMode="auto">
          <a:xfrm>
            <a:off x="4953000" y="3276600"/>
            <a:ext cx="2209800" cy="228600"/>
          </a:xfrm>
          <a:prstGeom prst="rightArrow">
            <a:avLst>
              <a:gd name="adj1" fmla="val 50000"/>
              <a:gd name="adj2" fmla="val 241667"/>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35595" name="AutoShape 11">
            <a:extLst>
              <a:ext uri="{FF2B5EF4-FFF2-40B4-BE49-F238E27FC236}">
                <a16:creationId xmlns:a16="http://schemas.microsoft.com/office/drawing/2014/main" id="{05939B76-C3F1-325D-7E6C-443F62DE1A67}"/>
              </a:ext>
            </a:extLst>
          </p:cNvPr>
          <p:cNvSpPr>
            <a:spLocks noChangeArrowheads="1"/>
          </p:cNvSpPr>
          <p:nvPr/>
        </p:nvSpPr>
        <p:spPr bwMode="auto">
          <a:xfrm>
            <a:off x="1600200" y="4495800"/>
            <a:ext cx="5562600" cy="228600"/>
          </a:xfrm>
          <a:prstGeom prst="leftRightArrow">
            <a:avLst>
              <a:gd name="adj1" fmla="val 50000"/>
              <a:gd name="adj2" fmla="val 486667"/>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35596" name="Line 12">
            <a:extLst>
              <a:ext uri="{FF2B5EF4-FFF2-40B4-BE49-F238E27FC236}">
                <a16:creationId xmlns:a16="http://schemas.microsoft.com/office/drawing/2014/main" id="{9F04FA18-2B89-B20C-8C24-78FA34E70991}"/>
              </a:ext>
            </a:extLst>
          </p:cNvPr>
          <p:cNvSpPr>
            <a:spLocks noChangeShapeType="1"/>
          </p:cNvSpPr>
          <p:nvPr/>
        </p:nvSpPr>
        <p:spPr bwMode="auto">
          <a:xfrm flipV="1">
            <a:off x="1752600" y="2438400"/>
            <a:ext cx="152400" cy="457200"/>
          </a:xfrm>
          <a:prstGeom prst="line">
            <a:avLst/>
          </a:prstGeom>
          <a:noFill/>
          <a:ln w="12700">
            <a:solidFill>
              <a:schemeClr val="tx1"/>
            </a:solidFill>
            <a:round/>
            <a:headEnd type="none" w="sm" len="sm"/>
            <a:tailEnd type="triangl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1756" name="Text Box 13">
            <a:extLst>
              <a:ext uri="{FF2B5EF4-FFF2-40B4-BE49-F238E27FC236}">
                <a16:creationId xmlns:a16="http://schemas.microsoft.com/office/drawing/2014/main" id="{1CD4DE62-878E-300E-B24D-CD11E2C55126}"/>
              </a:ext>
            </a:extLst>
          </p:cNvPr>
          <p:cNvSpPr txBox="1">
            <a:spLocks noChangeArrowheads="1"/>
          </p:cNvSpPr>
          <p:nvPr/>
        </p:nvSpPr>
        <p:spPr bwMode="auto">
          <a:xfrm>
            <a:off x="1050925" y="2809875"/>
            <a:ext cx="174148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Real IP</a:t>
            </a:r>
          </a:p>
          <a:p>
            <a:pPr>
              <a:spcBef>
                <a:spcPct val="0"/>
              </a:spcBef>
              <a:buClrTx/>
              <a:buSzTx/>
              <a:buFontTx/>
              <a:buNone/>
            </a:pPr>
            <a:r>
              <a:rPr lang="en-US" altLang="en-US" sz="2800"/>
              <a:t>destination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a:extLst>
              <a:ext uri="{FF2B5EF4-FFF2-40B4-BE49-F238E27FC236}">
                <a16:creationId xmlns:a16="http://schemas.microsoft.com/office/drawing/2014/main" id="{8B079CF1-2589-526A-1FA0-E0348873D5B5}"/>
              </a:ext>
            </a:extLst>
          </p:cNvPr>
          <p:cNvSpPr>
            <a:spLocks noGrp="1" noChangeArrowheads="1"/>
          </p:cNvSpPr>
          <p:nvPr>
            <p:ph type="title"/>
          </p:nvPr>
        </p:nvSpPr>
        <p:spPr>
          <a:xfrm>
            <a:off x="1143000" y="304800"/>
            <a:ext cx="7772400" cy="1143000"/>
          </a:xfrm>
        </p:spPr>
        <p:txBody>
          <a:bodyPr/>
          <a:lstStyle/>
          <a:p>
            <a:r>
              <a:rPr lang="en-US" altLang="en-US"/>
              <a:t>Tunnel Mode</a:t>
            </a:r>
          </a:p>
        </p:txBody>
      </p:sp>
      <p:sp>
        <p:nvSpPr>
          <p:cNvPr id="836611" name="Rectangle 3">
            <a:extLst>
              <a:ext uri="{FF2B5EF4-FFF2-40B4-BE49-F238E27FC236}">
                <a16:creationId xmlns:a16="http://schemas.microsoft.com/office/drawing/2014/main" id="{362D508E-54D6-6A10-99D7-ED0CD7C48000}"/>
              </a:ext>
            </a:extLst>
          </p:cNvPr>
          <p:cNvSpPr>
            <a:spLocks noGrp="1" noChangeArrowheads="1"/>
          </p:cNvSpPr>
          <p:nvPr>
            <p:ph type="body" idx="1"/>
          </p:nvPr>
        </p:nvSpPr>
        <p:spPr>
          <a:xfrm>
            <a:off x="990600" y="5029200"/>
            <a:ext cx="7772400" cy="1600200"/>
          </a:xfrm>
        </p:spPr>
        <p:txBody>
          <a:bodyPr/>
          <a:lstStyle/>
          <a:p>
            <a:pPr>
              <a:lnSpc>
                <a:spcPct val="90000"/>
              </a:lnSpc>
              <a:defRPr/>
            </a:pPr>
            <a:r>
              <a:rPr lang="en-US"/>
              <a:t>ESP applies only to the tunneled packet</a:t>
            </a:r>
          </a:p>
          <a:p>
            <a:pPr>
              <a:lnSpc>
                <a:spcPct val="90000"/>
              </a:lnSpc>
              <a:defRPr/>
            </a:pPr>
            <a:r>
              <a:rPr lang="en-US"/>
              <a:t>AH can be applied to portions of the outer header</a:t>
            </a:r>
          </a:p>
        </p:txBody>
      </p:sp>
      <p:sp>
        <p:nvSpPr>
          <p:cNvPr id="32771" name="Rectangle 4">
            <a:extLst>
              <a:ext uri="{FF2B5EF4-FFF2-40B4-BE49-F238E27FC236}">
                <a16:creationId xmlns:a16="http://schemas.microsoft.com/office/drawing/2014/main" id="{EF845FE5-3AC4-AC42-6C9B-F43473915258}"/>
              </a:ext>
            </a:extLst>
          </p:cNvPr>
          <p:cNvSpPr>
            <a:spLocks noChangeArrowheads="1"/>
          </p:cNvSpPr>
          <p:nvPr/>
        </p:nvSpPr>
        <p:spPr bwMode="auto">
          <a:xfrm>
            <a:off x="1828800" y="1676400"/>
            <a:ext cx="12192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Outer IP</a:t>
            </a:r>
          </a:p>
          <a:p>
            <a:pPr algn="ctr">
              <a:spcBef>
                <a:spcPct val="0"/>
              </a:spcBef>
              <a:buClrTx/>
              <a:buSzTx/>
              <a:buFontTx/>
              <a:buNone/>
            </a:pPr>
            <a:r>
              <a:rPr lang="en-US" altLang="en-US" sz="2800"/>
              <a:t>header</a:t>
            </a:r>
          </a:p>
        </p:txBody>
      </p:sp>
      <p:sp>
        <p:nvSpPr>
          <p:cNvPr id="32772" name="Rectangle 5">
            <a:extLst>
              <a:ext uri="{FF2B5EF4-FFF2-40B4-BE49-F238E27FC236}">
                <a16:creationId xmlns:a16="http://schemas.microsoft.com/office/drawing/2014/main" id="{76E92E51-D1A8-0FF7-8679-9C73A01DC7C6}"/>
              </a:ext>
            </a:extLst>
          </p:cNvPr>
          <p:cNvSpPr>
            <a:spLocks noChangeArrowheads="1"/>
          </p:cNvSpPr>
          <p:nvPr/>
        </p:nvSpPr>
        <p:spPr bwMode="auto">
          <a:xfrm>
            <a:off x="4495800" y="1676400"/>
            <a:ext cx="12192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Inner IP</a:t>
            </a:r>
          </a:p>
          <a:p>
            <a:pPr algn="ctr">
              <a:spcBef>
                <a:spcPct val="0"/>
              </a:spcBef>
              <a:buClrTx/>
              <a:buSzTx/>
              <a:buFontTx/>
              <a:buNone/>
            </a:pPr>
            <a:r>
              <a:rPr lang="en-US" altLang="en-US" sz="2800"/>
              <a:t>header</a:t>
            </a:r>
          </a:p>
        </p:txBody>
      </p:sp>
      <p:sp>
        <p:nvSpPr>
          <p:cNvPr id="32773" name="Rectangle 6">
            <a:extLst>
              <a:ext uri="{FF2B5EF4-FFF2-40B4-BE49-F238E27FC236}">
                <a16:creationId xmlns:a16="http://schemas.microsoft.com/office/drawing/2014/main" id="{150E0937-CC05-5C01-0FF6-8B036C34A742}"/>
              </a:ext>
            </a:extLst>
          </p:cNvPr>
          <p:cNvSpPr>
            <a:spLocks noChangeArrowheads="1"/>
          </p:cNvSpPr>
          <p:nvPr/>
        </p:nvSpPr>
        <p:spPr bwMode="auto">
          <a:xfrm>
            <a:off x="3124200" y="16764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IPSec</a:t>
            </a:r>
          </a:p>
          <a:p>
            <a:pPr algn="ctr">
              <a:spcBef>
                <a:spcPct val="0"/>
              </a:spcBef>
              <a:buClrTx/>
              <a:buSzTx/>
              <a:buFontTx/>
              <a:buNone/>
            </a:pPr>
            <a:r>
              <a:rPr lang="en-US" altLang="en-US" sz="2800"/>
              <a:t>header</a:t>
            </a:r>
          </a:p>
        </p:txBody>
      </p:sp>
      <p:sp>
        <p:nvSpPr>
          <p:cNvPr id="32774" name="Rectangle 7">
            <a:extLst>
              <a:ext uri="{FF2B5EF4-FFF2-40B4-BE49-F238E27FC236}">
                <a16:creationId xmlns:a16="http://schemas.microsoft.com/office/drawing/2014/main" id="{0037D8F4-6BA2-AF24-0A19-A10CBC71A3D7}"/>
              </a:ext>
            </a:extLst>
          </p:cNvPr>
          <p:cNvSpPr>
            <a:spLocks noChangeArrowheads="1"/>
          </p:cNvSpPr>
          <p:nvPr/>
        </p:nvSpPr>
        <p:spPr bwMode="auto">
          <a:xfrm>
            <a:off x="5791200" y="1676400"/>
            <a:ext cx="2209800" cy="7620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Higher</a:t>
            </a:r>
          </a:p>
          <a:p>
            <a:pPr algn="ctr">
              <a:spcBef>
                <a:spcPct val="0"/>
              </a:spcBef>
              <a:buClrTx/>
              <a:buSzTx/>
              <a:buFontTx/>
              <a:buNone/>
            </a:pPr>
            <a:r>
              <a:rPr lang="en-US" altLang="en-US" sz="2800"/>
              <a:t>layer protocol</a:t>
            </a:r>
          </a:p>
        </p:txBody>
      </p:sp>
      <p:sp>
        <p:nvSpPr>
          <p:cNvPr id="32775" name="Rectangle 8">
            <a:extLst>
              <a:ext uri="{FF2B5EF4-FFF2-40B4-BE49-F238E27FC236}">
                <a16:creationId xmlns:a16="http://schemas.microsoft.com/office/drawing/2014/main" id="{EC6C9F73-CD40-51B2-70AD-878E9C52D84F}"/>
              </a:ext>
            </a:extLst>
          </p:cNvPr>
          <p:cNvSpPr>
            <a:spLocks noChangeArrowheads="1"/>
          </p:cNvSpPr>
          <p:nvPr/>
        </p:nvSpPr>
        <p:spPr bwMode="auto">
          <a:xfrm>
            <a:off x="3124200" y="26670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p:txBody>
      </p:sp>
      <p:sp>
        <p:nvSpPr>
          <p:cNvPr id="32776" name="Rectangle 9">
            <a:extLst>
              <a:ext uri="{FF2B5EF4-FFF2-40B4-BE49-F238E27FC236}">
                <a16:creationId xmlns:a16="http://schemas.microsoft.com/office/drawing/2014/main" id="{5846EB00-0B8C-7CDF-1672-E04C054C2B3B}"/>
              </a:ext>
            </a:extLst>
          </p:cNvPr>
          <p:cNvSpPr>
            <a:spLocks noChangeArrowheads="1"/>
          </p:cNvSpPr>
          <p:nvPr/>
        </p:nvSpPr>
        <p:spPr bwMode="auto">
          <a:xfrm>
            <a:off x="3124200" y="3886200"/>
            <a:ext cx="12954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AH</a:t>
            </a:r>
          </a:p>
        </p:txBody>
      </p:sp>
      <p:sp>
        <p:nvSpPr>
          <p:cNvPr id="836618" name="AutoShape 10">
            <a:extLst>
              <a:ext uri="{FF2B5EF4-FFF2-40B4-BE49-F238E27FC236}">
                <a16:creationId xmlns:a16="http://schemas.microsoft.com/office/drawing/2014/main" id="{A3A20C7B-0A2F-E643-797D-8375CC2E486B}"/>
              </a:ext>
            </a:extLst>
          </p:cNvPr>
          <p:cNvSpPr>
            <a:spLocks noChangeArrowheads="1"/>
          </p:cNvSpPr>
          <p:nvPr/>
        </p:nvSpPr>
        <p:spPr bwMode="auto">
          <a:xfrm>
            <a:off x="4419600" y="3352800"/>
            <a:ext cx="2209800" cy="228600"/>
          </a:xfrm>
          <a:prstGeom prst="rightArrow">
            <a:avLst>
              <a:gd name="adj1" fmla="val 50000"/>
              <a:gd name="adj2" fmla="val 241667"/>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36619" name="AutoShape 11">
            <a:extLst>
              <a:ext uri="{FF2B5EF4-FFF2-40B4-BE49-F238E27FC236}">
                <a16:creationId xmlns:a16="http://schemas.microsoft.com/office/drawing/2014/main" id="{2AC939F3-9B8E-853C-204D-5F0F5A94C37E}"/>
              </a:ext>
            </a:extLst>
          </p:cNvPr>
          <p:cNvSpPr>
            <a:spLocks noChangeArrowheads="1"/>
          </p:cNvSpPr>
          <p:nvPr/>
        </p:nvSpPr>
        <p:spPr bwMode="auto">
          <a:xfrm>
            <a:off x="1981200" y="4572000"/>
            <a:ext cx="5562600" cy="228600"/>
          </a:xfrm>
          <a:prstGeom prst="leftRightArrow">
            <a:avLst>
              <a:gd name="adj1" fmla="val 50000"/>
              <a:gd name="adj2" fmla="val 486667"/>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36620" name="Line 12">
            <a:extLst>
              <a:ext uri="{FF2B5EF4-FFF2-40B4-BE49-F238E27FC236}">
                <a16:creationId xmlns:a16="http://schemas.microsoft.com/office/drawing/2014/main" id="{F9F5890D-8E8E-8DF1-A994-C19DF1DA6986}"/>
              </a:ext>
            </a:extLst>
          </p:cNvPr>
          <p:cNvSpPr>
            <a:spLocks noChangeShapeType="1"/>
          </p:cNvSpPr>
          <p:nvPr/>
        </p:nvSpPr>
        <p:spPr bwMode="auto">
          <a:xfrm flipV="1">
            <a:off x="2057400" y="2514600"/>
            <a:ext cx="381000" cy="381000"/>
          </a:xfrm>
          <a:prstGeom prst="line">
            <a:avLst/>
          </a:prstGeom>
          <a:noFill/>
          <a:ln w="12700">
            <a:solidFill>
              <a:schemeClr val="tx1"/>
            </a:solidFill>
            <a:round/>
            <a:headEnd type="none" w="sm" len="sm"/>
            <a:tailEnd type="triangl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36621" name="Line 13">
            <a:extLst>
              <a:ext uri="{FF2B5EF4-FFF2-40B4-BE49-F238E27FC236}">
                <a16:creationId xmlns:a16="http://schemas.microsoft.com/office/drawing/2014/main" id="{B0AE7AB2-98CE-B8EB-A8BA-28981CA89F3F}"/>
              </a:ext>
            </a:extLst>
          </p:cNvPr>
          <p:cNvSpPr>
            <a:spLocks noChangeShapeType="1"/>
          </p:cNvSpPr>
          <p:nvPr/>
        </p:nvSpPr>
        <p:spPr bwMode="auto">
          <a:xfrm flipH="1" flipV="1">
            <a:off x="5029200" y="2514600"/>
            <a:ext cx="838200" cy="457200"/>
          </a:xfrm>
          <a:prstGeom prst="line">
            <a:avLst/>
          </a:prstGeom>
          <a:noFill/>
          <a:ln w="12700">
            <a:solidFill>
              <a:schemeClr val="tx1"/>
            </a:solidFill>
            <a:round/>
            <a:headEnd type="none" w="sm" len="sm"/>
            <a:tailEnd type="triangl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2781" name="Text Box 14">
            <a:extLst>
              <a:ext uri="{FF2B5EF4-FFF2-40B4-BE49-F238E27FC236}">
                <a16:creationId xmlns:a16="http://schemas.microsoft.com/office/drawing/2014/main" id="{825C41DB-5F1C-637A-B326-78F47D073E63}"/>
              </a:ext>
            </a:extLst>
          </p:cNvPr>
          <p:cNvSpPr txBox="1">
            <a:spLocks noChangeArrowheads="1"/>
          </p:cNvSpPr>
          <p:nvPr/>
        </p:nvSpPr>
        <p:spPr bwMode="auto">
          <a:xfrm>
            <a:off x="5867400" y="2667000"/>
            <a:ext cx="2886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Real IP destination</a:t>
            </a:r>
          </a:p>
        </p:txBody>
      </p:sp>
      <p:sp>
        <p:nvSpPr>
          <p:cNvPr id="32782" name="Text Box 15">
            <a:extLst>
              <a:ext uri="{FF2B5EF4-FFF2-40B4-BE49-F238E27FC236}">
                <a16:creationId xmlns:a16="http://schemas.microsoft.com/office/drawing/2014/main" id="{10CF1BD5-9A11-2D92-9E3D-0361D2AA591C}"/>
              </a:ext>
            </a:extLst>
          </p:cNvPr>
          <p:cNvSpPr txBox="1">
            <a:spLocks noChangeArrowheads="1"/>
          </p:cNvSpPr>
          <p:nvPr/>
        </p:nvSpPr>
        <p:spPr bwMode="auto">
          <a:xfrm>
            <a:off x="1279525" y="2733675"/>
            <a:ext cx="182086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Destination</a:t>
            </a:r>
          </a:p>
          <a:p>
            <a:pPr>
              <a:spcBef>
                <a:spcPct val="0"/>
              </a:spcBef>
              <a:buClrTx/>
              <a:buSzTx/>
              <a:buFontTx/>
              <a:buNone/>
            </a:pPr>
            <a:r>
              <a:rPr lang="en-US" altLang="en-US" sz="2800"/>
              <a:t>IPSec</a:t>
            </a:r>
          </a:p>
          <a:p>
            <a:pPr>
              <a:spcBef>
                <a:spcPct val="0"/>
              </a:spcBef>
              <a:buClrTx/>
              <a:buSzTx/>
              <a:buFontTx/>
              <a:buNone/>
            </a:pPr>
            <a:r>
              <a:rPr lang="en-US" altLang="en-US" sz="2800"/>
              <a:t>entity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D93DDC-7E2B-7AF1-EBB0-C46DA6FB9958}"/>
              </a:ext>
            </a:extLst>
          </p:cNvPr>
          <p:cNvSpPr>
            <a:spLocks noGrp="1" noChangeArrowheads="1"/>
          </p:cNvSpPr>
          <p:nvPr>
            <p:ph type="ctrTitle"/>
          </p:nvPr>
        </p:nvSpPr>
        <p:spPr>
          <a:xfrm>
            <a:off x="685800" y="2286000"/>
            <a:ext cx="7772400" cy="1143000"/>
          </a:xfrm>
        </p:spPr>
        <p:txBody>
          <a:bodyPr/>
          <a:lstStyle/>
          <a:p>
            <a:r>
              <a:rPr lang="en-US" altLang="en-US"/>
              <a:t>IPSec In Depth</a:t>
            </a:r>
          </a:p>
        </p:txBody>
      </p:sp>
      <p:sp>
        <p:nvSpPr>
          <p:cNvPr id="2051" name="Rectangle 3">
            <a:extLst>
              <a:ext uri="{FF2B5EF4-FFF2-40B4-BE49-F238E27FC236}">
                <a16:creationId xmlns:a16="http://schemas.microsoft.com/office/drawing/2014/main" id="{0F77FE1A-59BB-BDA2-9F47-E51B25D3194F}"/>
              </a:ext>
            </a:extLst>
          </p:cNvPr>
          <p:cNvSpPr>
            <a:spLocks noGrp="1" noChangeArrowheads="1"/>
          </p:cNvSpPr>
          <p:nvPr>
            <p:ph type="subTitle" idx="1"/>
          </p:nvPr>
        </p:nvSpPr>
        <p:spPr>
          <a:xfrm>
            <a:off x="1371600" y="3886200"/>
            <a:ext cx="6400800" cy="1752600"/>
          </a:xfrm>
        </p:spPr>
        <p:txBody>
          <a:bodyPr/>
          <a:lstStyle/>
          <a:p>
            <a:pPr>
              <a:defRPr/>
            </a:pP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A06F4558-27D7-D7CE-7040-A8B6C67950F1}"/>
              </a:ext>
            </a:extLst>
          </p:cNvPr>
          <p:cNvSpPr>
            <a:spLocks noGrp="1" noChangeArrowheads="1"/>
          </p:cNvSpPr>
          <p:nvPr>
            <p:ph type="title"/>
          </p:nvPr>
        </p:nvSpPr>
        <p:spPr/>
        <p:txBody>
          <a:bodyPr/>
          <a:lstStyle/>
          <a:p>
            <a:r>
              <a:rPr lang="en-US" altLang="en-US"/>
              <a:t>Encapsulated Security Payload (ESP)</a:t>
            </a:r>
          </a:p>
        </p:txBody>
      </p:sp>
      <p:sp>
        <p:nvSpPr>
          <p:cNvPr id="3076" name="Rectangle 4">
            <a:extLst>
              <a:ext uri="{FF2B5EF4-FFF2-40B4-BE49-F238E27FC236}">
                <a16:creationId xmlns:a16="http://schemas.microsoft.com/office/drawing/2014/main" id="{C5C10283-AC4C-EB2E-976A-452B339B9A86}"/>
              </a:ext>
            </a:extLst>
          </p:cNvPr>
          <p:cNvSpPr>
            <a:spLocks noGrp="1" noChangeArrowheads="1"/>
          </p:cNvSpPr>
          <p:nvPr>
            <p:ph type="body" idx="1"/>
          </p:nvPr>
        </p:nvSpPr>
        <p:spPr/>
        <p:txBody>
          <a:bodyPr/>
          <a:lstStyle/>
          <a:p>
            <a:pPr>
              <a:defRPr/>
            </a:pPr>
            <a:r>
              <a:rPr lang="en-US" altLang="en-US"/>
              <a:t>Must encrypt and/or authenticate in each packet</a:t>
            </a:r>
          </a:p>
          <a:p>
            <a:pPr>
              <a:defRPr/>
            </a:pPr>
            <a:r>
              <a:rPr lang="en-US" altLang="en-US"/>
              <a:t>Encryption occurs before authentication</a:t>
            </a:r>
          </a:p>
          <a:p>
            <a:pPr>
              <a:defRPr/>
            </a:pPr>
            <a:r>
              <a:rPr lang="en-US" altLang="en-US"/>
              <a:t>Authentication is applied to data in the IPSec header as well as the data contained as payload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8D4663CA-5645-7BED-7BA5-B7549EEC55F0}"/>
              </a:ext>
            </a:extLst>
          </p:cNvPr>
          <p:cNvSpPr>
            <a:spLocks noGrp="1" noChangeArrowheads="1"/>
          </p:cNvSpPr>
          <p:nvPr>
            <p:ph type="title"/>
          </p:nvPr>
        </p:nvSpPr>
        <p:spPr>
          <a:xfrm>
            <a:off x="381000" y="457200"/>
            <a:ext cx="8515350" cy="6858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en-US" sz="3600"/>
              <a:t>IPSec Encapsulating Security Payload (ESP) in Transport Mode</a:t>
            </a:r>
            <a:endParaRPr lang="en-US" altLang="en-US" sz="5400"/>
          </a:p>
        </p:txBody>
      </p:sp>
      <p:sp>
        <p:nvSpPr>
          <p:cNvPr id="16387" name="Rectangle 3">
            <a:extLst>
              <a:ext uri="{FF2B5EF4-FFF2-40B4-BE49-F238E27FC236}">
                <a16:creationId xmlns:a16="http://schemas.microsoft.com/office/drawing/2014/main" id="{DE65B11D-00F1-0D59-4155-DDE83B4E3FF8}"/>
              </a:ext>
            </a:extLst>
          </p:cNvPr>
          <p:cNvSpPr>
            <a:spLocks noChangeArrowheads="1"/>
          </p:cNvSpPr>
          <p:nvPr/>
        </p:nvSpPr>
        <p:spPr bwMode="auto">
          <a:xfrm>
            <a:off x="3898900" y="2008188"/>
            <a:ext cx="128270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388" name="Rectangle 4">
            <a:extLst>
              <a:ext uri="{FF2B5EF4-FFF2-40B4-BE49-F238E27FC236}">
                <a16:creationId xmlns:a16="http://schemas.microsoft.com/office/drawing/2014/main" id="{C67E46CC-09FE-B2B7-5C55-FC848655AFCB}"/>
              </a:ext>
            </a:extLst>
          </p:cNvPr>
          <p:cNvSpPr>
            <a:spLocks noChangeArrowheads="1"/>
          </p:cNvSpPr>
          <p:nvPr/>
        </p:nvSpPr>
        <p:spPr bwMode="auto">
          <a:xfrm>
            <a:off x="5194300" y="2008188"/>
            <a:ext cx="182245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389" name="Rectangle 5">
            <a:extLst>
              <a:ext uri="{FF2B5EF4-FFF2-40B4-BE49-F238E27FC236}">
                <a16:creationId xmlns:a16="http://schemas.microsoft.com/office/drawing/2014/main" id="{15431A0B-F3AA-497D-EC3B-FB128249CCCD}"/>
              </a:ext>
            </a:extLst>
          </p:cNvPr>
          <p:cNvSpPr>
            <a:spLocks noChangeArrowheads="1"/>
          </p:cNvSpPr>
          <p:nvPr/>
        </p:nvSpPr>
        <p:spPr bwMode="auto">
          <a:xfrm>
            <a:off x="5700713" y="1981200"/>
            <a:ext cx="755650"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6390" name="Rectangle 6">
            <a:extLst>
              <a:ext uri="{FF2B5EF4-FFF2-40B4-BE49-F238E27FC236}">
                <a16:creationId xmlns:a16="http://schemas.microsoft.com/office/drawing/2014/main" id="{4D31F882-8F78-11C4-5E0C-874212691FA7}"/>
              </a:ext>
            </a:extLst>
          </p:cNvPr>
          <p:cNvSpPr>
            <a:spLocks noChangeArrowheads="1"/>
          </p:cNvSpPr>
          <p:nvPr/>
        </p:nvSpPr>
        <p:spPr bwMode="auto">
          <a:xfrm>
            <a:off x="3871913" y="1981200"/>
            <a:ext cx="1290637"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grpSp>
        <p:nvGrpSpPr>
          <p:cNvPr id="35846" name="Group 7">
            <a:extLst>
              <a:ext uri="{FF2B5EF4-FFF2-40B4-BE49-F238E27FC236}">
                <a16:creationId xmlns:a16="http://schemas.microsoft.com/office/drawing/2014/main" id="{44EB9251-97FC-ACA5-939C-FF0EEF569788}"/>
              </a:ext>
            </a:extLst>
          </p:cNvPr>
          <p:cNvGrpSpPr>
            <a:grpSpLocks/>
          </p:cNvGrpSpPr>
          <p:nvPr/>
        </p:nvGrpSpPr>
        <p:grpSpPr bwMode="auto">
          <a:xfrm>
            <a:off x="2119313" y="1981200"/>
            <a:ext cx="1766887" cy="471488"/>
            <a:chOff x="1523" y="1091"/>
            <a:chExt cx="1113" cy="297"/>
          </a:xfrm>
        </p:grpSpPr>
        <p:sp>
          <p:nvSpPr>
            <p:cNvPr id="16392" name="Rectangle 8">
              <a:extLst>
                <a:ext uri="{FF2B5EF4-FFF2-40B4-BE49-F238E27FC236}">
                  <a16:creationId xmlns:a16="http://schemas.microsoft.com/office/drawing/2014/main" id="{EE7CD34A-7909-6DAA-C952-A004D8A8C9A5}"/>
                </a:ext>
              </a:extLst>
            </p:cNvPr>
            <p:cNvSpPr>
              <a:spLocks noChangeArrowheads="1"/>
            </p:cNvSpPr>
            <p:nvPr/>
          </p:nvSpPr>
          <p:spPr bwMode="auto">
            <a:xfrm>
              <a:off x="1540" y="1108"/>
              <a:ext cx="109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393" name="Rectangle 9">
              <a:extLst>
                <a:ext uri="{FF2B5EF4-FFF2-40B4-BE49-F238E27FC236}">
                  <a16:creationId xmlns:a16="http://schemas.microsoft.com/office/drawing/2014/main" id="{CF2A219F-B8A8-F773-ABD3-8D56519A2609}"/>
                </a:ext>
              </a:extLst>
            </p:cNvPr>
            <p:cNvSpPr>
              <a:spLocks noChangeArrowheads="1"/>
            </p:cNvSpPr>
            <p:nvPr/>
          </p:nvSpPr>
          <p:spPr bwMode="auto">
            <a:xfrm>
              <a:off x="1523" y="1091"/>
              <a:ext cx="1032"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grpSp>
      <p:sp>
        <p:nvSpPr>
          <p:cNvPr id="16394" name="Rectangle 10">
            <a:extLst>
              <a:ext uri="{FF2B5EF4-FFF2-40B4-BE49-F238E27FC236}">
                <a16:creationId xmlns:a16="http://schemas.microsoft.com/office/drawing/2014/main" id="{6EE84B4E-2819-F8A8-DCB6-1B4A413B4C05}"/>
              </a:ext>
            </a:extLst>
          </p:cNvPr>
          <p:cNvSpPr>
            <a:spLocks noChangeArrowheads="1"/>
          </p:cNvSpPr>
          <p:nvPr/>
        </p:nvSpPr>
        <p:spPr bwMode="auto">
          <a:xfrm>
            <a:off x="4456113" y="3052763"/>
            <a:ext cx="1497012" cy="461962"/>
          </a:xfrm>
          <a:prstGeom prst="rect">
            <a:avLst/>
          </a:prstGeom>
          <a:blipFill dpi="0" rotWithShape="0">
            <a:blip r:embed="rId2"/>
            <a:srcRect/>
            <a:tile tx="0" ty="0" sx="100000" sy="100000" flip="none" algn="tl"/>
          </a:blip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395" name="Rectangle 11">
            <a:extLst>
              <a:ext uri="{FF2B5EF4-FFF2-40B4-BE49-F238E27FC236}">
                <a16:creationId xmlns:a16="http://schemas.microsoft.com/office/drawing/2014/main" id="{9D6B012D-F170-6078-BCF6-FDB3680A139A}"/>
              </a:ext>
            </a:extLst>
          </p:cNvPr>
          <p:cNvSpPr>
            <a:spLocks noChangeArrowheads="1"/>
          </p:cNvSpPr>
          <p:nvPr/>
        </p:nvSpPr>
        <p:spPr bwMode="auto">
          <a:xfrm>
            <a:off x="4962525" y="3032125"/>
            <a:ext cx="755650"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6396" name="Rectangle 12">
            <a:extLst>
              <a:ext uri="{FF2B5EF4-FFF2-40B4-BE49-F238E27FC236}">
                <a16:creationId xmlns:a16="http://schemas.microsoft.com/office/drawing/2014/main" id="{D78DDFCB-D0E2-A487-40E9-BD51DADF2820}"/>
              </a:ext>
            </a:extLst>
          </p:cNvPr>
          <p:cNvSpPr>
            <a:spLocks noChangeArrowheads="1"/>
          </p:cNvSpPr>
          <p:nvPr/>
        </p:nvSpPr>
        <p:spPr bwMode="auto">
          <a:xfrm>
            <a:off x="3178175" y="3049588"/>
            <a:ext cx="1303338" cy="466725"/>
          </a:xfrm>
          <a:prstGeom prst="rect">
            <a:avLst/>
          </a:prstGeom>
          <a:blipFill dpi="0" rotWithShape="0">
            <a:blip r:embed="rId2"/>
            <a:srcRect/>
            <a:tile tx="0" ty="0" sx="100000" sy="100000" flip="none" algn="tl"/>
          </a:blip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sp>
        <p:nvSpPr>
          <p:cNvPr id="16397" name="Rectangle 13">
            <a:extLst>
              <a:ext uri="{FF2B5EF4-FFF2-40B4-BE49-F238E27FC236}">
                <a16:creationId xmlns:a16="http://schemas.microsoft.com/office/drawing/2014/main" id="{3515371C-101B-FE37-ACDE-4424AB9341D1}"/>
              </a:ext>
            </a:extLst>
          </p:cNvPr>
          <p:cNvSpPr>
            <a:spLocks noChangeArrowheads="1"/>
          </p:cNvSpPr>
          <p:nvPr/>
        </p:nvSpPr>
        <p:spPr bwMode="auto">
          <a:xfrm>
            <a:off x="1924050" y="3049588"/>
            <a:ext cx="1270000"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ESP Hdr</a:t>
            </a:r>
          </a:p>
        </p:txBody>
      </p:sp>
      <p:grpSp>
        <p:nvGrpSpPr>
          <p:cNvPr id="35851" name="Group 14">
            <a:extLst>
              <a:ext uri="{FF2B5EF4-FFF2-40B4-BE49-F238E27FC236}">
                <a16:creationId xmlns:a16="http://schemas.microsoft.com/office/drawing/2014/main" id="{656C3CD8-8EF1-D6E0-F356-4660A905F3BA}"/>
              </a:ext>
            </a:extLst>
          </p:cNvPr>
          <p:cNvGrpSpPr>
            <a:grpSpLocks/>
          </p:cNvGrpSpPr>
          <p:nvPr/>
        </p:nvGrpSpPr>
        <p:grpSpPr bwMode="auto">
          <a:xfrm>
            <a:off x="250825" y="3022600"/>
            <a:ext cx="1677988" cy="482600"/>
            <a:chOff x="1523" y="1091"/>
            <a:chExt cx="1113" cy="297"/>
          </a:xfrm>
        </p:grpSpPr>
        <p:sp>
          <p:nvSpPr>
            <p:cNvPr id="16399" name="Rectangle 15">
              <a:extLst>
                <a:ext uri="{FF2B5EF4-FFF2-40B4-BE49-F238E27FC236}">
                  <a16:creationId xmlns:a16="http://schemas.microsoft.com/office/drawing/2014/main" id="{39EA610E-1608-776D-8586-024C1C0DE8C7}"/>
                </a:ext>
              </a:extLst>
            </p:cNvPr>
            <p:cNvSpPr>
              <a:spLocks noChangeArrowheads="1"/>
            </p:cNvSpPr>
            <p:nvPr/>
          </p:nvSpPr>
          <p:spPr bwMode="auto">
            <a:xfrm>
              <a:off x="1540" y="1108"/>
              <a:ext cx="109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00" name="Rectangle 16">
              <a:extLst>
                <a:ext uri="{FF2B5EF4-FFF2-40B4-BE49-F238E27FC236}">
                  <a16:creationId xmlns:a16="http://schemas.microsoft.com/office/drawing/2014/main" id="{E6538A6C-1FC3-FBEB-D02B-73B54AEE799D}"/>
                </a:ext>
              </a:extLst>
            </p:cNvPr>
            <p:cNvSpPr>
              <a:spLocks noChangeArrowheads="1"/>
            </p:cNvSpPr>
            <p:nvPr/>
          </p:nvSpPr>
          <p:spPr bwMode="auto">
            <a:xfrm>
              <a:off x="1523" y="1091"/>
              <a:ext cx="1087" cy="279"/>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grpSp>
      <p:sp>
        <p:nvSpPr>
          <p:cNvPr id="16401" name="Rectangle 17">
            <a:extLst>
              <a:ext uri="{FF2B5EF4-FFF2-40B4-BE49-F238E27FC236}">
                <a16:creationId xmlns:a16="http://schemas.microsoft.com/office/drawing/2014/main" id="{90E485B0-0E42-9C10-FEC9-46C82116D53A}"/>
              </a:ext>
            </a:extLst>
          </p:cNvPr>
          <p:cNvSpPr>
            <a:spLocks noChangeArrowheads="1"/>
          </p:cNvSpPr>
          <p:nvPr/>
        </p:nvSpPr>
        <p:spPr bwMode="auto">
          <a:xfrm>
            <a:off x="5957888" y="3051175"/>
            <a:ext cx="1622425" cy="466725"/>
          </a:xfrm>
          <a:prstGeom prst="rect">
            <a:avLst/>
          </a:prstGeom>
          <a:blipFill dpi="0" rotWithShape="0">
            <a:blip r:embed="rId2"/>
            <a:srcRect/>
            <a:tile tx="0" ty="0" sx="100000" sy="100000" flip="none" algn="tl"/>
          </a:blip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ESP Trailer</a:t>
            </a:r>
          </a:p>
        </p:txBody>
      </p:sp>
      <p:grpSp>
        <p:nvGrpSpPr>
          <p:cNvPr id="35853" name="Group 18">
            <a:extLst>
              <a:ext uri="{FF2B5EF4-FFF2-40B4-BE49-F238E27FC236}">
                <a16:creationId xmlns:a16="http://schemas.microsoft.com/office/drawing/2014/main" id="{98B55412-02FA-44F9-6C64-AA06FFA6607F}"/>
              </a:ext>
            </a:extLst>
          </p:cNvPr>
          <p:cNvGrpSpPr>
            <a:grpSpLocks/>
          </p:cNvGrpSpPr>
          <p:nvPr/>
        </p:nvGrpSpPr>
        <p:grpSpPr bwMode="auto">
          <a:xfrm>
            <a:off x="7539038" y="3049588"/>
            <a:ext cx="1404937" cy="466725"/>
            <a:chOff x="1824" y="1488"/>
            <a:chExt cx="885" cy="294"/>
          </a:xfrm>
        </p:grpSpPr>
        <p:sp>
          <p:nvSpPr>
            <p:cNvPr id="16403" name="Rectangle 19">
              <a:extLst>
                <a:ext uri="{FF2B5EF4-FFF2-40B4-BE49-F238E27FC236}">
                  <a16:creationId xmlns:a16="http://schemas.microsoft.com/office/drawing/2014/main" id="{87C698C2-2150-BC17-6AB6-494EAAA795C3}"/>
                </a:ext>
              </a:extLst>
            </p:cNvPr>
            <p:cNvSpPr>
              <a:spLocks noChangeArrowheads="1"/>
            </p:cNvSpPr>
            <p:nvPr/>
          </p:nvSpPr>
          <p:spPr bwMode="auto">
            <a:xfrm>
              <a:off x="1824" y="1488"/>
              <a:ext cx="816" cy="280"/>
            </a:xfrm>
            <a:prstGeom prst="rect">
              <a:avLst/>
            </a:prstGeom>
            <a:solidFill>
              <a:schemeClr val="hlink"/>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04" name="Rectangle 20">
              <a:extLst>
                <a:ext uri="{FF2B5EF4-FFF2-40B4-BE49-F238E27FC236}">
                  <a16:creationId xmlns:a16="http://schemas.microsoft.com/office/drawing/2014/main" id="{21B686FA-D2DA-7A0F-ABAA-797E16C7D2D3}"/>
                </a:ext>
              </a:extLst>
            </p:cNvPr>
            <p:cNvSpPr>
              <a:spLocks noChangeArrowheads="1"/>
            </p:cNvSpPr>
            <p:nvPr/>
          </p:nvSpPr>
          <p:spPr bwMode="auto">
            <a:xfrm>
              <a:off x="1824" y="1488"/>
              <a:ext cx="885" cy="294"/>
            </a:xfrm>
            <a:prstGeom prst="rect">
              <a:avLst/>
            </a:prstGeom>
            <a:solidFill>
              <a:schemeClr val="hlink"/>
            </a:solid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ESP Auth</a:t>
              </a:r>
            </a:p>
          </p:txBody>
        </p:sp>
      </p:grpSp>
      <p:sp>
        <p:nvSpPr>
          <p:cNvPr id="16405" name="Line 21">
            <a:extLst>
              <a:ext uri="{FF2B5EF4-FFF2-40B4-BE49-F238E27FC236}">
                <a16:creationId xmlns:a16="http://schemas.microsoft.com/office/drawing/2014/main" id="{072A9183-D917-A598-83DF-460828A917FF}"/>
              </a:ext>
            </a:extLst>
          </p:cNvPr>
          <p:cNvSpPr>
            <a:spLocks noChangeShapeType="1"/>
          </p:cNvSpPr>
          <p:nvPr/>
        </p:nvSpPr>
        <p:spPr bwMode="auto">
          <a:xfrm>
            <a:off x="3225800" y="3686175"/>
            <a:ext cx="4252913" cy="0"/>
          </a:xfrm>
          <a:prstGeom prst="line">
            <a:avLst/>
          </a:prstGeom>
          <a:noFill/>
          <a:ln w="12700">
            <a:solidFill>
              <a:schemeClr val="tx1"/>
            </a:solidFill>
            <a:round/>
            <a:headEnd type="stealth" w="lg" len="med"/>
            <a:tailEnd type="stealth" w="lg"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06" name="Text Box 22">
            <a:extLst>
              <a:ext uri="{FF2B5EF4-FFF2-40B4-BE49-F238E27FC236}">
                <a16:creationId xmlns:a16="http://schemas.microsoft.com/office/drawing/2014/main" id="{387E7FE7-0F81-D27A-9994-0C7FB100EBD5}"/>
              </a:ext>
            </a:extLst>
          </p:cNvPr>
          <p:cNvSpPr txBox="1">
            <a:spLocks noChangeArrowheads="1"/>
          </p:cNvSpPr>
          <p:nvPr/>
        </p:nvSpPr>
        <p:spPr bwMode="auto">
          <a:xfrm>
            <a:off x="3946525" y="3683000"/>
            <a:ext cx="2152650" cy="366713"/>
          </a:xfrm>
          <a:prstGeom prst="rect">
            <a:avLst/>
          </a:prstGeom>
          <a:noFill/>
          <a:ln>
            <a:noFill/>
          </a:ln>
          <a:effectLst/>
        </p:spPr>
        <p:txBody>
          <a:bodyPr wrap="none">
            <a:spAutoFit/>
          </a:bodyPr>
          <a:lstStyle/>
          <a:p>
            <a:pPr>
              <a:defRPr/>
            </a:pPr>
            <a:r>
              <a:rPr lang="en-US" altLang="en-US" b="1">
                <a:effectLst>
                  <a:outerShdw blurRad="38100" dist="38100" dir="2700000" algn="tl">
                    <a:srgbClr val="000000"/>
                  </a:outerShdw>
                </a:effectLst>
                <a:latin typeface="Arial" panose="020B0604020202020204" pitchFamily="34" charset="0"/>
              </a:rPr>
              <a:t>Usually encrypted</a:t>
            </a:r>
          </a:p>
        </p:txBody>
      </p:sp>
      <p:sp>
        <p:nvSpPr>
          <p:cNvPr id="16407" name="Line 23">
            <a:extLst>
              <a:ext uri="{FF2B5EF4-FFF2-40B4-BE49-F238E27FC236}">
                <a16:creationId xmlns:a16="http://schemas.microsoft.com/office/drawing/2014/main" id="{6A73E1CD-5AC3-0341-6A0A-E1D1A9276CBF}"/>
              </a:ext>
            </a:extLst>
          </p:cNvPr>
          <p:cNvSpPr>
            <a:spLocks noChangeShapeType="1"/>
          </p:cNvSpPr>
          <p:nvPr/>
        </p:nvSpPr>
        <p:spPr bwMode="auto">
          <a:xfrm flipV="1">
            <a:off x="1984375" y="4191000"/>
            <a:ext cx="5483225" cy="0"/>
          </a:xfrm>
          <a:prstGeom prst="line">
            <a:avLst/>
          </a:prstGeom>
          <a:noFill/>
          <a:ln w="12700">
            <a:solidFill>
              <a:schemeClr val="tx1"/>
            </a:solidFill>
            <a:round/>
            <a:headEnd type="stealth" w="lg" len="med"/>
            <a:tailEnd type="stealth" w="lg"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08" name="Text Box 24">
            <a:extLst>
              <a:ext uri="{FF2B5EF4-FFF2-40B4-BE49-F238E27FC236}">
                <a16:creationId xmlns:a16="http://schemas.microsoft.com/office/drawing/2014/main" id="{5E89BAB6-0EC1-A2A1-54F0-CC2484929D12}"/>
              </a:ext>
            </a:extLst>
          </p:cNvPr>
          <p:cNvSpPr txBox="1">
            <a:spLocks noChangeArrowheads="1"/>
          </p:cNvSpPr>
          <p:nvPr/>
        </p:nvSpPr>
        <p:spPr bwMode="auto">
          <a:xfrm>
            <a:off x="4141788" y="4235450"/>
            <a:ext cx="2749550" cy="366713"/>
          </a:xfrm>
          <a:prstGeom prst="rect">
            <a:avLst/>
          </a:prstGeom>
          <a:noFill/>
          <a:ln>
            <a:noFill/>
          </a:ln>
          <a:effectLst/>
        </p:spPr>
        <p:txBody>
          <a:bodyPr wrap="none">
            <a:spAutoFit/>
          </a:bodyPr>
          <a:lstStyle/>
          <a:p>
            <a:pPr>
              <a:defRPr/>
            </a:pPr>
            <a:r>
              <a:rPr lang="en-US" altLang="en-US" b="1">
                <a:effectLst>
                  <a:outerShdw blurRad="38100" dist="38100" dir="2700000" algn="tl">
                    <a:srgbClr val="000000"/>
                  </a:outerShdw>
                </a:effectLst>
                <a:latin typeface="Arial" panose="020B0604020202020204" pitchFamily="34" charset="0"/>
              </a:rPr>
              <a:t>integrity hash coverage</a:t>
            </a:r>
          </a:p>
        </p:txBody>
      </p:sp>
      <p:sp>
        <p:nvSpPr>
          <p:cNvPr id="16409" name="Rectangle 25">
            <a:extLst>
              <a:ext uri="{FF2B5EF4-FFF2-40B4-BE49-F238E27FC236}">
                <a16:creationId xmlns:a16="http://schemas.microsoft.com/office/drawing/2014/main" id="{F49A0212-D5C7-0E1A-5E45-91816C8E4736}"/>
              </a:ext>
            </a:extLst>
          </p:cNvPr>
          <p:cNvSpPr>
            <a:spLocks noChangeArrowheads="1"/>
          </p:cNvSpPr>
          <p:nvPr/>
        </p:nvSpPr>
        <p:spPr bwMode="auto">
          <a:xfrm>
            <a:off x="484188" y="5175250"/>
            <a:ext cx="2446337"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SecParamIndex</a:t>
            </a:r>
          </a:p>
        </p:txBody>
      </p:sp>
      <p:sp>
        <p:nvSpPr>
          <p:cNvPr id="16410" name="Rectangle 26">
            <a:extLst>
              <a:ext uri="{FF2B5EF4-FFF2-40B4-BE49-F238E27FC236}">
                <a16:creationId xmlns:a16="http://schemas.microsoft.com/office/drawing/2014/main" id="{83234C8E-5950-203D-3612-D31F8B801D23}"/>
              </a:ext>
            </a:extLst>
          </p:cNvPr>
          <p:cNvSpPr>
            <a:spLocks noChangeArrowheads="1"/>
          </p:cNvSpPr>
          <p:nvPr/>
        </p:nvSpPr>
        <p:spPr bwMode="auto">
          <a:xfrm>
            <a:off x="2884488" y="5873750"/>
            <a:ext cx="1954212" cy="466725"/>
          </a:xfrm>
          <a:prstGeom prst="rect">
            <a:avLst/>
          </a:prstGeom>
          <a:solidFill>
            <a:schemeClr val="hlink"/>
          </a:solid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      Padding    </a:t>
            </a:r>
          </a:p>
        </p:txBody>
      </p:sp>
      <p:sp>
        <p:nvSpPr>
          <p:cNvPr id="16411" name="Line 27">
            <a:extLst>
              <a:ext uri="{FF2B5EF4-FFF2-40B4-BE49-F238E27FC236}">
                <a16:creationId xmlns:a16="http://schemas.microsoft.com/office/drawing/2014/main" id="{B2ABC52C-A1E6-5CDD-781F-0612645CC6DF}"/>
              </a:ext>
            </a:extLst>
          </p:cNvPr>
          <p:cNvSpPr>
            <a:spLocks noChangeShapeType="1"/>
          </p:cNvSpPr>
          <p:nvPr/>
        </p:nvSpPr>
        <p:spPr bwMode="auto">
          <a:xfrm flipH="1">
            <a:off x="501650" y="3544888"/>
            <a:ext cx="1436688" cy="1584325"/>
          </a:xfrm>
          <a:prstGeom prst="line">
            <a:avLst/>
          </a:prstGeom>
          <a:noFill/>
          <a:ln w="9525" cap="rnd">
            <a:solidFill>
              <a:schemeClr val="tx1"/>
            </a:solidFill>
            <a:prstDash val="sysDot"/>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12" name="Line 28">
            <a:extLst>
              <a:ext uri="{FF2B5EF4-FFF2-40B4-BE49-F238E27FC236}">
                <a16:creationId xmlns:a16="http://schemas.microsoft.com/office/drawing/2014/main" id="{88D1C803-BCB3-3588-27CA-681C50FCE56F}"/>
              </a:ext>
            </a:extLst>
          </p:cNvPr>
          <p:cNvSpPr>
            <a:spLocks noChangeShapeType="1"/>
          </p:cNvSpPr>
          <p:nvPr/>
        </p:nvSpPr>
        <p:spPr bwMode="auto">
          <a:xfrm>
            <a:off x="3190875" y="3562350"/>
            <a:ext cx="1773238" cy="1620838"/>
          </a:xfrm>
          <a:prstGeom prst="line">
            <a:avLst/>
          </a:prstGeom>
          <a:noFill/>
          <a:ln w="9525" cap="rnd">
            <a:solidFill>
              <a:schemeClr val="tx1"/>
            </a:solidFill>
            <a:prstDash val="sysDot"/>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13" name="Line 29">
            <a:extLst>
              <a:ext uri="{FF2B5EF4-FFF2-40B4-BE49-F238E27FC236}">
                <a16:creationId xmlns:a16="http://schemas.microsoft.com/office/drawing/2014/main" id="{FB0A1184-F239-10FE-2C4A-850033E33C90}"/>
              </a:ext>
            </a:extLst>
          </p:cNvPr>
          <p:cNvSpPr>
            <a:spLocks noChangeShapeType="1"/>
          </p:cNvSpPr>
          <p:nvPr/>
        </p:nvSpPr>
        <p:spPr bwMode="auto">
          <a:xfrm flipH="1">
            <a:off x="2900363" y="3540125"/>
            <a:ext cx="3060700" cy="2322513"/>
          </a:xfrm>
          <a:prstGeom prst="line">
            <a:avLst/>
          </a:prstGeom>
          <a:noFill/>
          <a:ln w="9525">
            <a:solidFill>
              <a:schemeClr val="tx1"/>
            </a:solidFill>
            <a:prstDash val="dash"/>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14" name="Line 30">
            <a:extLst>
              <a:ext uri="{FF2B5EF4-FFF2-40B4-BE49-F238E27FC236}">
                <a16:creationId xmlns:a16="http://schemas.microsoft.com/office/drawing/2014/main" id="{7F2B1371-E9C5-53B5-8EF5-41BB4EB45980}"/>
              </a:ext>
            </a:extLst>
          </p:cNvPr>
          <p:cNvSpPr>
            <a:spLocks noChangeShapeType="1"/>
          </p:cNvSpPr>
          <p:nvPr/>
        </p:nvSpPr>
        <p:spPr bwMode="auto">
          <a:xfrm>
            <a:off x="7513638" y="3562350"/>
            <a:ext cx="69850" cy="2286000"/>
          </a:xfrm>
          <a:prstGeom prst="line">
            <a:avLst/>
          </a:prstGeom>
          <a:noFill/>
          <a:ln w="9525">
            <a:solidFill>
              <a:schemeClr val="tx1"/>
            </a:solidFill>
            <a:prstDash val="dash"/>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15" name="Line 31">
            <a:extLst>
              <a:ext uri="{FF2B5EF4-FFF2-40B4-BE49-F238E27FC236}">
                <a16:creationId xmlns:a16="http://schemas.microsoft.com/office/drawing/2014/main" id="{FB89BCEA-AF22-E3C1-E429-85683A5454B0}"/>
              </a:ext>
            </a:extLst>
          </p:cNvPr>
          <p:cNvSpPr>
            <a:spLocks noChangeShapeType="1"/>
          </p:cNvSpPr>
          <p:nvPr/>
        </p:nvSpPr>
        <p:spPr bwMode="auto">
          <a:xfrm flipH="1">
            <a:off x="7199313" y="3544888"/>
            <a:ext cx="349250" cy="1609725"/>
          </a:xfrm>
          <a:prstGeom prst="line">
            <a:avLst/>
          </a:prstGeom>
          <a:noFill/>
          <a:ln w="9525" cap="rnd">
            <a:solidFill>
              <a:schemeClr val="tx1"/>
            </a:solidFill>
            <a:prstDash val="sysDot"/>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16" name="Line 32">
            <a:extLst>
              <a:ext uri="{FF2B5EF4-FFF2-40B4-BE49-F238E27FC236}">
                <a16:creationId xmlns:a16="http://schemas.microsoft.com/office/drawing/2014/main" id="{E4BAFB25-FB32-434F-099F-5550AA939224}"/>
              </a:ext>
            </a:extLst>
          </p:cNvPr>
          <p:cNvSpPr>
            <a:spLocks noChangeShapeType="1"/>
          </p:cNvSpPr>
          <p:nvPr/>
        </p:nvSpPr>
        <p:spPr bwMode="auto">
          <a:xfrm flipH="1">
            <a:off x="8851900" y="3559175"/>
            <a:ext cx="103188" cy="1619250"/>
          </a:xfrm>
          <a:prstGeom prst="line">
            <a:avLst/>
          </a:prstGeom>
          <a:noFill/>
          <a:ln w="9525" cap="rnd">
            <a:solidFill>
              <a:schemeClr val="tx1"/>
            </a:solidFill>
            <a:prstDash val="sysDot"/>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17" name="Rectangle 33">
            <a:extLst>
              <a:ext uri="{FF2B5EF4-FFF2-40B4-BE49-F238E27FC236}">
                <a16:creationId xmlns:a16="http://schemas.microsoft.com/office/drawing/2014/main" id="{6841A729-B25D-589C-AF40-4B32969E21A1}"/>
              </a:ext>
            </a:extLst>
          </p:cNvPr>
          <p:cNvSpPr>
            <a:spLocks noChangeArrowheads="1"/>
          </p:cNvSpPr>
          <p:nvPr/>
        </p:nvSpPr>
        <p:spPr bwMode="auto">
          <a:xfrm>
            <a:off x="4840288" y="5873750"/>
            <a:ext cx="1512887" cy="466725"/>
          </a:xfrm>
          <a:prstGeom prst="rect">
            <a:avLst/>
          </a:prstGeom>
          <a:solidFill>
            <a:schemeClr val="hlink"/>
          </a:solid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PadLength</a:t>
            </a:r>
          </a:p>
        </p:txBody>
      </p:sp>
      <p:sp>
        <p:nvSpPr>
          <p:cNvPr id="16418" name="Rectangle 34">
            <a:extLst>
              <a:ext uri="{FF2B5EF4-FFF2-40B4-BE49-F238E27FC236}">
                <a16:creationId xmlns:a16="http://schemas.microsoft.com/office/drawing/2014/main" id="{1022ACFF-4046-0B29-17B0-1D0EB44CBA58}"/>
              </a:ext>
            </a:extLst>
          </p:cNvPr>
          <p:cNvSpPr>
            <a:spLocks noChangeArrowheads="1"/>
          </p:cNvSpPr>
          <p:nvPr/>
        </p:nvSpPr>
        <p:spPr bwMode="auto">
          <a:xfrm>
            <a:off x="6351588" y="5873750"/>
            <a:ext cx="1260475" cy="466725"/>
          </a:xfrm>
          <a:prstGeom prst="rect">
            <a:avLst/>
          </a:prstGeom>
          <a:solidFill>
            <a:schemeClr val="hlink"/>
          </a:solid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NextHdr</a:t>
            </a:r>
          </a:p>
        </p:txBody>
      </p:sp>
      <p:sp>
        <p:nvSpPr>
          <p:cNvPr id="16419" name="Rectangle 35">
            <a:extLst>
              <a:ext uri="{FF2B5EF4-FFF2-40B4-BE49-F238E27FC236}">
                <a16:creationId xmlns:a16="http://schemas.microsoft.com/office/drawing/2014/main" id="{69CC1E3C-311E-A1F1-B9CC-17867942C2EB}"/>
              </a:ext>
            </a:extLst>
          </p:cNvPr>
          <p:cNvSpPr>
            <a:spLocks noChangeArrowheads="1"/>
          </p:cNvSpPr>
          <p:nvPr/>
        </p:nvSpPr>
        <p:spPr bwMode="auto">
          <a:xfrm>
            <a:off x="2698750" y="5175250"/>
            <a:ext cx="812800"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lgn="ctr">
              <a:defRPr/>
            </a:pPr>
            <a:r>
              <a:rPr lang="en-US" altLang="en-US">
                <a:effectLst>
                  <a:outerShdw blurRad="38100" dist="38100" dir="2700000" algn="tl">
                    <a:srgbClr val="000000"/>
                  </a:outerShdw>
                </a:effectLst>
              </a:rPr>
              <a:t>Seq#</a:t>
            </a:r>
          </a:p>
        </p:txBody>
      </p:sp>
      <p:sp>
        <p:nvSpPr>
          <p:cNvPr id="16420" name="Rectangle 36">
            <a:extLst>
              <a:ext uri="{FF2B5EF4-FFF2-40B4-BE49-F238E27FC236}">
                <a16:creationId xmlns:a16="http://schemas.microsoft.com/office/drawing/2014/main" id="{15B63C8A-688B-C103-51C6-47F8B379097E}"/>
              </a:ext>
            </a:extLst>
          </p:cNvPr>
          <p:cNvSpPr>
            <a:spLocks noChangeArrowheads="1"/>
          </p:cNvSpPr>
          <p:nvPr/>
        </p:nvSpPr>
        <p:spPr bwMode="auto">
          <a:xfrm>
            <a:off x="7188200" y="5187950"/>
            <a:ext cx="1692275" cy="466725"/>
          </a:xfrm>
          <a:prstGeom prst="rect">
            <a:avLst/>
          </a:prstGeom>
          <a:solidFill>
            <a:schemeClr val="hlink"/>
          </a:solid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Keyed Hash</a:t>
            </a:r>
          </a:p>
        </p:txBody>
      </p:sp>
      <p:sp>
        <p:nvSpPr>
          <p:cNvPr id="16421" name="Text Box 37">
            <a:extLst>
              <a:ext uri="{FF2B5EF4-FFF2-40B4-BE49-F238E27FC236}">
                <a16:creationId xmlns:a16="http://schemas.microsoft.com/office/drawing/2014/main" id="{6AE4B7DD-0FF4-6B3E-1F50-4CED3DB14FE0}"/>
              </a:ext>
            </a:extLst>
          </p:cNvPr>
          <p:cNvSpPr txBox="1">
            <a:spLocks noChangeArrowheads="1"/>
          </p:cNvSpPr>
          <p:nvPr/>
        </p:nvSpPr>
        <p:spPr bwMode="auto">
          <a:xfrm>
            <a:off x="520700" y="5943600"/>
            <a:ext cx="2058988" cy="396875"/>
          </a:xfrm>
          <a:prstGeom prst="rect">
            <a:avLst/>
          </a:prstGeom>
          <a:noFill/>
          <a:ln>
            <a:noFill/>
          </a:ln>
          <a:effectLst/>
        </p:spPr>
        <p:txBody>
          <a:bodyPr wrap="none">
            <a:spAutoFit/>
          </a:bodyPr>
          <a:lstStyle/>
          <a:p>
            <a:pPr>
              <a:defRPr/>
            </a:pPr>
            <a:r>
              <a:rPr lang="en-US" altLang="en-US" sz="2000">
                <a:effectLst>
                  <a:outerShdw blurRad="38100" dist="38100" dir="2700000" algn="tl">
                    <a:srgbClr val="000000">
                      <a:alpha val="43137"/>
                    </a:srgbClr>
                  </a:outerShdw>
                </a:effectLst>
                <a:latin typeface="Arial" panose="020B0604020202020204" pitchFamily="34" charset="0"/>
              </a:rPr>
              <a:t>22-36 bytes total</a:t>
            </a:r>
          </a:p>
        </p:txBody>
      </p:sp>
      <p:sp>
        <p:nvSpPr>
          <p:cNvPr id="16422" name="Rectangle 38">
            <a:extLst>
              <a:ext uri="{FF2B5EF4-FFF2-40B4-BE49-F238E27FC236}">
                <a16:creationId xmlns:a16="http://schemas.microsoft.com/office/drawing/2014/main" id="{9AC943F0-06E7-A3EF-F7D5-961662169634}"/>
              </a:ext>
            </a:extLst>
          </p:cNvPr>
          <p:cNvSpPr>
            <a:spLocks noChangeArrowheads="1"/>
          </p:cNvSpPr>
          <p:nvPr/>
        </p:nvSpPr>
        <p:spPr bwMode="auto">
          <a:xfrm>
            <a:off x="3511550" y="5175250"/>
            <a:ext cx="1473200"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lgn="ctr">
              <a:defRPr/>
            </a:pPr>
            <a:r>
              <a:rPr lang="en-US" altLang="en-US">
                <a:effectLst>
                  <a:outerShdw blurRad="38100" dist="38100" dir="2700000" algn="tl">
                    <a:srgbClr val="000000"/>
                  </a:outerShdw>
                </a:effectLst>
              </a:rPr>
              <a:t>InitVector</a:t>
            </a:r>
          </a:p>
        </p:txBody>
      </p:sp>
      <p:sp>
        <p:nvSpPr>
          <p:cNvPr id="16423" name="Line 39">
            <a:extLst>
              <a:ext uri="{FF2B5EF4-FFF2-40B4-BE49-F238E27FC236}">
                <a16:creationId xmlns:a16="http://schemas.microsoft.com/office/drawing/2014/main" id="{0EE82F33-82D0-C36D-AFE1-40EE8B0A97F0}"/>
              </a:ext>
            </a:extLst>
          </p:cNvPr>
          <p:cNvSpPr>
            <a:spLocks noChangeShapeType="1"/>
          </p:cNvSpPr>
          <p:nvPr/>
        </p:nvSpPr>
        <p:spPr bwMode="auto">
          <a:xfrm flipH="1">
            <a:off x="1933575" y="2459038"/>
            <a:ext cx="1933575" cy="555625"/>
          </a:xfrm>
          <a:prstGeom prst="line">
            <a:avLst/>
          </a:prstGeom>
          <a:noFill/>
          <a:ln w="12700">
            <a:solidFill>
              <a:schemeClr val="tx1"/>
            </a:solidFill>
            <a:round/>
            <a:headEnd type="none" w="sm" len="sm"/>
            <a:tailEnd type="stealth" w="sm"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24" name="Line 40">
            <a:extLst>
              <a:ext uri="{FF2B5EF4-FFF2-40B4-BE49-F238E27FC236}">
                <a16:creationId xmlns:a16="http://schemas.microsoft.com/office/drawing/2014/main" id="{A3716032-5390-E67B-9330-CFC47469800A}"/>
              </a:ext>
            </a:extLst>
          </p:cNvPr>
          <p:cNvSpPr>
            <a:spLocks noChangeShapeType="1"/>
          </p:cNvSpPr>
          <p:nvPr/>
        </p:nvSpPr>
        <p:spPr bwMode="auto">
          <a:xfrm flipH="1">
            <a:off x="3213100" y="2471738"/>
            <a:ext cx="668338" cy="528637"/>
          </a:xfrm>
          <a:prstGeom prst="line">
            <a:avLst/>
          </a:prstGeom>
          <a:noFill/>
          <a:ln w="12700">
            <a:solidFill>
              <a:schemeClr val="tx1"/>
            </a:solidFill>
            <a:round/>
            <a:headEnd type="none" w="sm" len="sm"/>
            <a:tailEnd type="stealth" w="sm"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25" name="Line 41">
            <a:extLst>
              <a:ext uri="{FF2B5EF4-FFF2-40B4-BE49-F238E27FC236}">
                <a16:creationId xmlns:a16="http://schemas.microsoft.com/office/drawing/2014/main" id="{8860FD9C-380D-5C46-54CA-F6EE659A6870}"/>
              </a:ext>
            </a:extLst>
          </p:cNvPr>
          <p:cNvSpPr>
            <a:spLocks noChangeShapeType="1"/>
          </p:cNvSpPr>
          <p:nvPr/>
        </p:nvSpPr>
        <p:spPr bwMode="auto">
          <a:xfrm flipH="1">
            <a:off x="5970588" y="2459038"/>
            <a:ext cx="1052512" cy="584200"/>
          </a:xfrm>
          <a:prstGeom prst="line">
            <a:avLst/>
          </a:prstGeom>
          <a:noFill/>
          <a:ln w="12700">
            <a:solidFill>
              <a:schemeClr val="tx1"/>
            </a:solidFill>
            <a:round/>
            <a:headEnd type="none" w="sm" len="sm"/>
            <a:tailEnd type="stealth" w="sm"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26" name="Line 42">
            <a:extLst>
              <a:ext uri="{FF2B5EF4-FFF2-40B4-BE49-F238E27FC236}">
                <a16:creationId xmlns:a16="http://schemas.microsoft.com/office/drawing/2014/main" id="{9E51D32F-B300-B51B-FDBF-3A9961DE7DB4}"/>
              </a:ext>
            </a:extLst>
          </p:cNvPr>
          <p:cNvSpPr>
            <a:spLocks noChangeShapeType="1"/>
          </p:cNvSpPr>
          <p:nvPr/>
        </p:nvSpPr>
        <p:spPr bwMode="auto">
          <a:xfrm>
            <a:off x="7051675" y="2459038"/>
            <a:ext cx="1862138" cy="541337"/>
          </a:xfrm>
          <a:prstGeom prst="line">
            <a:avLst/>
          </a:prstGeom>
          <a:noFill/>
          <a:ln w="12700">
            <a:solidFill>
              <a:schemeClr val="tx1"/>
            </a:solidFill>
            <a:round/>
            <a:headEnd type="none" w="sm" len="sm"/>
            <a:tailEnd type="stealth" w="sm"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6427" name="Text Box 43">
            <a:extLst>
              <a:ext uri="{FF2B5EF4-FFF2-40B4-BE49-F238E27FC236}">
                <a16:creationId xmlns:a16="http://schemas.microsoft.com/office/drawing/2014/main" id="{2C83EADA-C1B0-0081-96ED-31058750EF69}"/>
              </a:ext>
            </a:extLst>
          </p:cNvPr>
          <p:cNvSpPr txBox="1">
            <a:spLocks noChangeArrowheads="1"/>
          </p:cNvSpPr>
          <p:nvPr/>
        </p:nvSpPr>
        <p:spPr bwMode="auto">
          <a:xfrm>
            <a:off x="225425" y="6227763"/>
            <a:ext cx="2900363" cy="396875"/>
          </a:xfrm>
          <a:prstGeom prst="rect">
            <a:avLst/>
          </a:prstGeom>
          <a:noFill/>
          <a:ln>
            <a:noFill/>
          </a:ln>
          <a:effectLst/>
        </p:spPr>
        <p:txBody>
          <a:bodyPr>
            <a:spAutoFit/>
          </a:bodyPr>
          <a:lstStyle/>
          <a:p>
            <a:pPr>
              <a:spcBef>
                <a:spcPct val="50000"/>
              </a:spcBef>
              <a:defRPr/>
            </a:pPr>
            <a:r>
              <a:rPr lang="en-US" altLang="en-US" sz="2000">
                <a:effectLst>
                  <a:outerShdw blurRad="38100" dist="38100" dir="2700000" algn="tl">
                    <a:srgbClr val="000000">
                      <a:alpha val="43137"/>
                    </a:srgbClr>
                  </a:outerShdw>
                </a:effectLst>
                <a:latin typeface="Arial" panose="020B0604020202020204" pitchFamily="34" charset="0"/>
              </a:rPr>
              <a:t>ESP is IP protocol 50</a:t>
            </a:r>
          </a:p>
        </p:txBody>
      </p:sp>
      <p:sp>
        <p:nvSpPr>
          <p:cNvPr id="16428" name="Text Box 44">
            <a:extLst>
              <a:ext uri="{FF2B5EF4-FFF2-40B4-BE49-F238E27FC236}">
                <a16:creationId xmlns:a16="http://schemas.microsoft.com/office/drawing/2014/main" id="{343C9DA7-0EBD-30D7-262C-08B1CB40DF44}"/>
              </a:ext>
            </a:extLst>
          </p:cNvPr>
          <p:cNvSpPr txBox="1">
            <a:spLocks noChangeArrowheads="1"/>
          </p:cNvSpPr>
          <p:nvPr/>
        </p:nvSpPr>
        <p:spPr bwMode="auto">
          <a:xfrm>
            <a:off x="2651125" y="2549525"/>
            <a:ext cx="1028700" cy="457200"/>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000000">
                      <a:alpha val="43137"/>
                    </a:srgbClr>
                  </a:outerShdw>
                </a:effectLst>
              </a:rPr>
              <a:t>Insert</a:t>
            </a:r>
          </a:p>
        </p:txBody>
      </p:sp>
      <p:sp>
        <p:nvSpPr>
          <p:cNvPr id="16429" name="Text Box 45">
            <a:extLst>
              <a:ext uri="{FF2B5EF4-FFF2-40B4-BE49-F238E27FC236}">
                <a16:creationId xmlns:a16="http://schemas.microsoft.com/office/drawing/2014/main" id="{F54C0C86-A6DB-1E65-9F26-D8D4B9091CC2}"/>
              </a:ext>
            </a:extLst>
          </p:cNvPr>
          <p:cNvSpPr txBox="1">
            <a:spLocks noChangeArrowheads="1"/>
          </p:cNvSpPr>
          <p:nvPr/>
        </p:nvSpPr>
        <p:spPr bwMode="auto">
          <a:xfrm>
            <a:off x="6530975" y="2552700"/>
            <a:ext cx="1235075" cy="457200"/>
          </a:xfrm>
          <a:prstGeom prst="rect">
            <a:avLst/>
          </a:prstGeom>
          <a:noFill/>
          <a:ln>
            <a:noFill/>
          </a:ln>
          <a:effectLst/>
        </p:spPr>
        <p:txBody>
          <a:bodyPr>
            <a:spAutoFit/>
          </a:bodyPr>
          <a:lstStyle/>
          <a:p>
            <a:pPr>
              <a:spcBef>
                <a:spcPct val="50000"/>
              </a:spcBef>
              <a:defRPr/>
            </a:pPr>
            <a:r>
              <a:rPr lang="en-US" altLang="en-US">
                <a:effectLst>
                  <a:outerShdw blurRad="38100" dist="38100" dir="2700000" algn="tl">
                    <a:srgbClr val="000000">
                      <a:alpha val="43137"/>
                    </a:srgbClr>
                  </a:outerShdw>
                </a:effectLst>
              </a:rPr>
              <a:t>Append</a:t>
            </a:r>
          </a:p>
        </p:txBody>
      </p:sp>
      <p:sp>
        <p:nvSpPr>
          <p:cNvPr id="16430" name="Text Box 46">
            <a:extLst>
              <a:ext uri="{FF2B5EF4-FFF2-40B4-BE49-F238E27FC236}">
                <a16:creationId xmlns:a16="http://schemas.microsoft.com/office/drawing/2014/main" id="{F9E912E2-D75E-02A2-E177-E4C71A3F0382}"/>
              </a:ext>
            </a:extLst>
          </p:cNvPr>
          <p:cNvSpPr txBox="1">
            <a:spLocks noChangeArrowheads="1"/>
          </p:cNvSpPr>
          <p:nvPr/>
        </p:nvSpPr>
        <p:spPr bwMode="auto">
          <a:xfrm>
            <a:off x="6781800" y="6623050"/>
            <a:ext cx="2362200" cy="228600"/>
          </a:xfrm>
          <a:prstGeom prst="rect">
            <a:avLst/>
          </a:prstGeom>
          <a:noFill/>
          <a:ln>
            <a:noFill/>
          </a:ln>
          <a:effectLst/>
        </p:spPr>
        <p:txBody>
          <a:bodyPr lIns="182562" tIns="46038" rIns="182562" bIns="46038">
            <a:spAutoFit/>
          </a:bodyPr>
          <a:lstStyle/>
          <a:p>
            <a:pPr algn="ctr">
              <a:lnSpc>
                <a:spcPct val="90000"/>
              </a:lnSpc>
              <a:spcBef>
                <a:spcPct val="50000"/>
              </a:spcBef>
              <a:buClr>
                <a:schemeClr val="tx2"/>
              </a:buClr>
              <a:buSzPct val="75000"/>
              <a:buFont typeface="Wingdings" pitchFamily="2" charset="2"/>
              <a:buNone/>
              <a:defRPr/>
            </a:pPr>
            <a:r>
              <a:rPr lang="en-US" altLang="en-US" sz="1000">
                <a:effectLst>
                  <a:outerShdw blurRad="38100" dist="38100" dir="2700000" algn="tl">
                    <a:srgbClr val="000000">
                      <a:alpha val="43137"/>
                    </a:srgbClr>
                  </a:outerShdw>
                </a:effectLst>
                <a:latin typeface="Arial" panose="020B0604020202020204" pitchFamily="34" charset="0"/>
              </a:rPr>
              <a:t>© 2000 Microsoft Corporation</a:t>
            </a:r>
          </a:p>
        </p:txBody>
      </p:sp>
    </p:spTree>
  </p:cSld>
  <p:clrMapOvr>
    <a:masterClrMapping/>
  </p:clrMapOvr>
  <p:transition>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76FA0668-B97A-4927-5755-9191D12F11FF}"/>
              </a:ext>
            </a:extLst>
          </p:cNvPr>
          <p:cNvSpPr>
            <a:spLocks noGrp="1" noChangeArrowheads="1"/>
          </p:cNvSpPr>
          <p:nvPr>
            <p:ph type="title"/>
          </p:nvPr>
        </p:nvSpPr>
        <p:spPr>
          <a:xfrm>
            <a:off x="685800" y="609600"/>
            <a:ext cx="7772400" cy="976313"/>
          </a:xfrm>
        </p:spPr>
        <p:txBody>
          <a:bodyPr/>
          <a:lstStyle/>
          <a:p>
            <a:r>
              <a:rPr lang="en-US" altLang="en-US" sz="3600"/>
              <a:t>IPSec ESP Tunnel Mode</a:t>
            </a:r>
          </a:p>
        </p:txBody>
      </p:sp>
      <p:grpSp>
        <p:nvGrpSpPr>
          <p:cNvPr id="36866" name="Group 3">
            <a:extLst>
              <a:ext uri="{FF2B5EF4-FFF2-40B4-BE49-F238E27FC236}">
                <a16:creationId xmlns:a16="http://schemas.microsoft.com/office/drawing/2014/main" id="{B7F05A6C-E55C-E7E5-E6EA-37AE4FBD9077}"/>
              </a:ext>
            </a:extLst>
          </p:cNvPr>
          <p:cNvGrpSpPr>
            <a:grpSpLocks/>
          </p:cNvGrpSpPr>
          <p:nvPr/>
        </p:nvGrpSpPr>
        <p:grpSpPr bwMode="auto">
          <a:xfrm>
            <a:off x="2119313" y="1981200"/>
            <a:ext cx="4897437" cy="471488"/>
            <a:chOff x="1335" y="1248"/>
            <a:chExt cx="3085" cy="297"/>
          </a:xfrm>
        </p:grpSpPr>
        <p:sp>
          <p:nvSpPr>
            <p:cNvPr id="14340" name="Rectangle 4">
              <a:extLst>
                <a:ext uri="{FF2B5EF4-FFF2-40B4-BE49-F238E27FC236}">
                  <a16:creationId xmlns:a16="http://schemas.microsoft.com/office/drawing/2014/main" id="{29EFD7C1-CBCE-3BCD-CC43-F8DF872FA7DF}"/>
                </a:ext>
              </a:extLst>
            </p:cNvPr>
            <p:cNvSpPr>
              <a:spLocks noChangeArrowheads="1"/>
            </p:cNvSpPr>
            <p:nvPr/>
          </p:nvSpPr>
          <p:spPr bwMode="auto">
            <a:xfrm>
              <a:off x="2456" y="1265"/>
              <a:ext cx="808"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41" name="Rectangle 5">
              <a:extLst>
                <a:ext uri="{FF2B5EF4-FFF2-40B4-BE49-F238E27FC236}">
                  <a16:creationId xmlns:a16="http://schemas.microsoft.com/office/drawing/2014/main" id="{7299FD46-F948-42DF-6DB2-2E22E8910BA9}"/>
                </a:ext>
              </a:extLst>
            </p:cNvPr>
            <p:cNvSpPr>
              <a:spLocks noChangeArrowheads="1"/>
            </p:cNvSpPr>
            <p:nvPr/>
          </p:nvSpPr>
          <p:spPr bwMode="auto">
            <a:xfrm>
              <a:off x="3272" y="1265"/>
              <a:ext cx="1148"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42" name="Rectangle 6">
              <a:extLst>
                <a:ext uri="{FF2B5EF4-FFF2-40B4-BE49-F238E27FC236}">
                  <a16:creationId xmlns:a16="http://schemas.microsoft.com/office/drawing/2014/main" id="{716A3396-B0E6-C496-7551-59FCE715DECC}"/>
                </a:ext>
              </a:extLst>
            </p:cNvPr>
            <p:cNvSpPr>
              <a:spLocks noChangeArrowheads="1"/>
            </p:cNvSpPr>
            <p:nvPr/>
          </p:nvSpPr>
          <p:spPr bwMode="auto">
            <a:xfrm>
              <a:off x="3591" y="1248"/>
              <a:ext cx="476"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4343" name="Rectangle 7">
              <a:extLst>
                <a:ext uri="{FF2B5EF4-FFF2-40B4-BE49-F238E27FC236}">
                  <a16:creationId xmlns:a16="http://schemas.microsoft.com/office/drawing/2014/main" id="{AE4649AB-58B2-954E-62A4-F8F883D7C0E3}"/>
                </a:ext>
              </a:extLst>
            </p:cNvPr>
            <p:cNvSpPr>
              <a:spLocks noChangeArrowheads="1"/>
            </p:cNvSpPr>
            <p:nvPr/>
          </p:nvSpPr>
          <p:spPr bwMode="auto">
            <a:xfrm>
              <a:off x="2439" y="1248"/>
              <a:ext cx="813"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grpSp>
          <p:nvGrpSpPr>
            <p:cNvPr id="36891" name="Group 8">
              <a:extLst>
                <a:ext uri="{FF2B5EF4-FFF2-40B4-BE49-F238E27FC236}">
                  <a16:creationId xmlns:a16="http://schemas.microsoft.com/office/drawing/2014/main" id="{45496D91-DB07-7B5F-36F9-7A82EEFCFD59}"/>
                </a:ext>
              </a:extLst>
            </p:cNvPr>
            <p:cNvGrpSpPr>
              <a:grpSpLocks/>
            </p:cNvGrpSpPr>
            <p:nvPr/>
          </p:nvGrpSpPr>
          <p:grpSpPr bwMode="auto">
            <a:xfrm>
              <a:off x="1335" y="1248"/>
              <a:ext cx="1113" cy="297"/>
              <a:chOff x="1523" y="1091"/>
              <a:chExt cx="1113" cy="297"/>
            </a:xfrm>
          </p:grpSpPr>
          <p:sp>
            <p:nvSpPr>
              <p:cNvPr id="14345" name="Rectangle 9">
                <a:extLst>
                  <a:ext uri="{FF2B5EF4-FFF2-40B4-BE49-F238E27FC236}">
                    <a16:creationId xmlns:a16="http://schemas.microsoft.com/office/drawing/2014/main" id="{B70D243C-6D0D-B4BB-238F-F8311F6857AB}"/>
                  </a:ext>
                </a:extLst>
              </p:cNvPr>
              <p:cNvSpPr>
                <a:spLocks noChangeArrowheads="1"/>
              </p:cNvSpPr>
              <p:nvPr/>
            </p:nvSpPr>
            <p:spPr bwMode="auto">
              <a:xfrm>
                <a:off x="1540" y="1108"/>
                <a:ext cx="109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46" name="Rectangle 10">
                <a:extLst>
                  <a:ext uri="{FF2B5EF4-FFF2-40B4-BE49-F238E27FC236}">
                    <a16:creationId xmlns:a16="http://schemas.microsoft.com/office/drawing/2014/main" id="{5A0C456F-036A-30E2-F86E-06771AB539E9}"/>
                  </a:ext>
                </a:extLst>
              </p:cNvPr>
              <p:cNvSpPr>
                <a:spLocks noChangeArrowheads="1"/>
              </p:cNvSpPr>
              <p:nvPr/>
            </p:nvSpPr>
            <p:spPr bwMode="auto">
              <a:xfrm>
                <a:off x="1523" y="1091"/>
                <a:ext cx="1032"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grpSp>
      </p:grpSp>
      <p:grpSp>
        <p:nvGrpSpPr>
          <p:cNvPr id="36867" name="Group 12">
            <a:extLst>
              <a:ext uri="{FF2B5EF4-FFF2-40B4-BE49-F238E27FC236}">
                <a16:creationId xmlns:a16="http://schemas.microsoft.com/office/drawing/2014/main" id="{E44FF087-2F77-19E4-6904-282EE3BD184D}"/>
              </a:ext>
            </a:extLst>
          </p:cNvPr>
          <p:cNvGrpSpPr>
            <a:grpSpLocks/>
          </p:cNvGrpSpPr>
          <p:nvPr/>
        </p:nvGrpSpPr>
        <p:grpSpPr bwMode="auto">
          <a:xfrm>
            <a:off x="7543800" y="3049588"/>
            <a:ext cx="1404938" cy="466725"/>
            <a:chOff x="1824" y="1488"/>
            <a:chExt cx="885" cy="294"/>
          </a:xfrm>
        </p:grpSpPr>
        <p:sp>
          <p:nvSpPr>
            <p:cNvPr id="14349" name="Rectangle 13">
              <a:extLst>
                <a:ext uri="{FF2B5EF4-FFF2-40B4-BE49-F238E27FC236}">
                  <a16:creationId xmlns:a16="http://schemas.microsoft.com/office/drawing/2014/main" id="{56F58E47-E454-7552-2A1E-90C3F9042406}"/>
                </a:ext>
              </a:extLst>
            </p:cNvPr>
            <p:cNvSpPr>
              <a:spLocks noChangeArrowheads="1"/>
            </p:cNvSpPr>
            <p:nvPr/>
          </p:nvSpPr>
          <p:spPr bwMode="auto">
            <a:xfrm>
              <a:off x="1824" y="1488"/>
              <a:ext cx="816" cy="280"/>
            </a:xfrm>
            <a:prstGeom prst="rect">
              <a:avLst/>
            </a:prstGeom>
            <a:solidFill>
              <a:schemeClr val="hlink"/>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50" name="Rectangle 14">
              <a:extLst>
                <a:ext uri="{FF2B5EF4-FFF2-40B4-BE49-F238E27FC236}">
                  <a16:creationId xmlns:a16="http://schemas.microsoft.com/office/drawing/2014/main" id="{2F48BD31-55D1-C32E-5F3F-D6C31C3E5816}"/>
                </a:ext>
              </a:extLst>
            </p:cNvPr>
            <p:cNvSpPr>
              <a:spLocks noChangeArrowheads="1"/>
            </p:cNvSpPr>
            <p:nvPr/>
          </p:nvSpPr>
          <p:spPr bwMode="auto">
            <a:xfrm>
              <a:off x="1824" y="1488"/>
              <a:ext cx="885" cy="294"/>
            </a:xfrm>
            <a:prstGeom prst="rect">
              <a:avLst/>
            </a:prstGeom>
            <a:solidFill>
              <a:schemeClr val="hlink"/>
            </a:solidFill>
            <a:ln w="12700">
              <a:solidFill>
                <a:schemeClr val="tx1"/>
              </a:solidFill>
              <a:miter lim="800000"/>
              <a:headEnd/>
              <a:tailEnd/>
            </a:ln>
            <a:effectLst/>
          </p:spPr>
          <p:txBody>
            <a:bodyPr wrap="none" lIns="90488" tIns="44450" rIns="90488" bIns="44450">
              <a:spAutoFit/>
            </a:bodyPr>
            <a:lstStyle/>
            <a:p>
              <a:pPr>
                <a:defRPr/>
              </a:pPr>
              <a:r>
                <a:rPr lang="en-US" altLang="en-US">
                  <a:effectLst>
                    <a:outerShdw blurRad="38100" dist="38100" dir="2700000" algn="tl">
                      <a:srgbClr val="000000"/>
                    </a:outerShdw>
                  </a:effectLst>
                </a:rPr>
                <a:t>ESP Auth</a:t>
              </a:r>
            </a:p>
          </p:txBody>
        </p:sp>
      </p:grpSp>
      <p:sp>
        <p:nvSpPr>
          <p:cNvPr id="14351" name="Line 15">
            <a:extLst>
              <a:ext uri="{FF2B5EF4-FFF2-40B4-BE49-F238E27FC236}">
                <a16:creationId xmlns:a16="http://schemas.microsoft.com/office/drawing/2014/main" id="{0DB3A437-CA6A-454A-6F5D-29E7D91B4B3B}"/>
              </a:ext>
            </a:extLst>
          </p:cNvPr>
          <p:cNvSpPr>
            <a:spLocks noChangeShapeType="1"/>
          </p:cNvSpPr>
          <p:nvPr/>
        </p:nvSpPr>
        <p:spPr bwMode="auto">
          <a:xfrm>
            <a:off x="2370138" y="3670300"/>
            <a:ext cx="5108575" cy="15875"/>
          </a:xfrm>
          <a:prstGeom prst="line">
            <a:avLst/>
          </a:prstGeom>
          <a:noFill/>
          <a:ln w="12700">
            <a:solidFill>
              <a:schemeClr val="tx1"/>
            </a:solidFill>
            <a:round/>
            <a:headEnd type="stealth" w="lg" len="med"/>
            <a:tailEnd type="stealth" w="lg"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52" name="Text Box 16">
            <a:extLst>
              <a:ext uri="{FF2B5EF4-FFF2-40B4-BE49-F238E27FC236}">
                <a16:creationId xmlns:a16="http://schemas.microsoft.com/office/drawing/2014/main" id="{DC523919-BC80-B1D3-15FE-D6E3E8BB69C4}"/>
              </a:ext>
            </a:extLst>
          </p:cNvPr>
          <p:cNvSpPr txBox="1">
            <a:spLocks noChangeArrowheads="1"/>
          </p:cNvSpPr>
          <p:nvPr/>
        </p:nvSpPr>
        <p:spPr bwMode="auto">
          <a:xfrm>
            <a:off x="3946525" y="3683000"/>
            <a:ext cx="2152650" cy="366713"/>
          </a:xfrm>
          <a:prstGeom prst="rect">
            <a:avLst/>
          </a:prstGeom>
          <a:noFill/>
          <a:ln>
            <a:noFill/>
          </a:ln>
          <a:effectLst/>
        </p:spPr>
        <p:txBody>
          <a:bodyPr wrap="none">
            <a:spAutoFit/>
          </a:bodyPr>
          <a:lstStyle/>
          <a:p>
            <a:pPr>
              <a:defRPr/>
            </a:pPr>
            <a:r>
              <a:rPr lang="en-US" altLang="en-US" b="1">
                <a:effectLst>
                  <a:outerShdw blurRad="38100" dist="38100" dir="2700000" algn="tl">
                    <a:srgbClr val="000000"/>
                  </a:outerShdw>
                </a:effectLst>
                <a:latin typeface="Arial" panose="020B0604020202020204" pitchFamily="34" charset="0"/>
              </a:rPr>
              <a:t>Usually encrypted</a:t>
            </a:r>
          </a:p>
        </p:txBody>
      </p:sp>
      <p:sp>
        <p:nvSpPr>
          <p:cNvPr id="14353" name="Line 17">
            <a:extLst>
              <a:ext uri="{FF2B5EF4-FFF2-40B4-BE49-F238E27FC236}">
                <a16:creationId xmlns:a16="http://schemas.microsoft.com/office/drawing/2014/main" id="{DBEBDFFB-380C-9697-A8DA-C7972817BEA4}"/>
              </a:ext>
            </a:extLst>
          </p:cNvPr>
          <p:cNvSpPr>
            <a:spLocks noChangeShapeType="1"/>
          </p:cNvSpPr>
          <p:nvPr/>
        </p:nvSpPr>
        <p:spPr bwMode="auto">
          <a:xfrm flipV="1">
            <a:off x="1150938" y="4114800"/>
            <a:ext cx="6326187" cy="0"/>
          </a:xfrm>
          <a:prstGeom prst="line">
            <a:avLst/>
          </a:prstGeom>
          <a:noFill/>
          <a:ln w="12700">
            <a:solidFill>
              <a:schemeClr val="tx1"/>
            </a:solidFill>
            <a:round/>
            <a:headEnd type="stealth" w="lg" len="med"/>
            <a:tailEnd type="stealth" w="lg"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54" name="Text Box 18">
            <a:extLst>
              <a:ext uri="{FF2B5EF4-FFF2-40B4-BE49-F238E27FC236}">
                <a16:creationId xmlns:a16="http://schemas.microsoft.com/office/drawing/2014/main" id="{97740534-A293-F5F2-41C4-2CD7B91C60C3}"/>
              </a:ext>
            </a:extLst>
          </p:cNvPr>
          <p:cNvSpPr txBox="1">
            <a:spLocks noChangeArrowheads="1"/>
          </p:cNvSpPr>
          <p:nvPr/>
        </p:nvSpPr>
        <p:spPr bwMode="auto">
          <a:xfrm>
            <a:off x="4141788" y="4235450"/>
            <a:ext cx="2749550" cy="366713"/>
          </a:xfrm>
          <a:prstGeom prst="rect">
            <a:avLst/>
          </a:prstGeom>
          <a:noFill/>
          <a:ln>
            <a:noFill/>
          </a:ln>
          <a:effectLst/>
        </p:spPr>
        <p:txBody>
          <a:bodyPr wrap="none">
            <a:spAutoFit/>
          </a:bodyPr>
          <a:lstStyle/>
          <a:p>
            <a:pPr>
              <a:defRPr/>
            </a:pPr>
            <a:r>
              <a:rPr lang="en-US" altLang="en-US" b="1">
                <a:effectLst>
                  <a:outerShdw blurRad="38100" dist="38100" dir="2700000" algn="tl">
                    <a:srgbClr val="000000"/>
                  </a:outerShdw>
                </a:effectLst>
                <a:latin typeface="Arial" panose="020B0604020202020204" pitchFamily="34" charset="0"/>
              </a:rPr>
              <a:t>integrity hash coverage</a:t>
            </a:r>
          </a:p>
        </p:txBody>
      </p:sp>
      <p:grpSp>
        <p:nvGrpSpPr>
          <p:cNvPr id="36872" name="Group 19">
            <a:extLst>
              <a:ext uri="{FF2B5EF4-FFF2-40B4-BE49-F238E27FC236}">
                <a16:creationId xmlns:a16="http://schemas.microsoft.com/office/drawing/2014/main" id="{EF41518F-55E2-055D-92A1-2A19426DA1A9}"/>
              </a:ext>
            </a:extLst>
          </p:cNvPr>
          <p:cNvGrpSpPr>
            <a:grpSpLocks/>
          </p:cNvGrpSpPr>
          <p:nvPr/>
        </p:nvGrpSpPr>
        <p:grpSpPr bwMode="auto">
          <a:xfrm>
            <a:off x="0" y="3032125"/>
            <a:ext cx="5953125" cy="484188"/>
            <a:chOff x="0" y="1910"/>
            <a:chExt cx="3750" cy="305"/>
          </a:xfrm>
        </p:grpSpPr>
        <p:sp>
          <p:nvSpPr>
            <p:cNvPr id="14356" name="Rectangle 20">
              <a:extLst>
                <a:ext uri="{FF2B5EF4-FFF2-40B4-BE49-F238E27FC236}">
                  <a16:creationId xmlns:a16="http://schemas.microsoft.com/office/drawing/2014/main" id="{7A5C01E0-46EF-10FA-FC9D-D4A61B596C2D}"/>
                </a:ext>
              </a:extLst>
            </p:cNvPr>
            <p:cNvSpPr>
              <a:spLocks noChangeArrowheads="1"/>
            </p:cNvSpPr>
            <p:nvPr/>
          </p:nvSpPr>
          <p:spPr bwMode="auto">
            <a:xfrm>
              <a:off x="3072" y="1920"/>
              <a:ext cx="678" cy="294"/>
            </a:xfrm>
            <a:prstGeom prst="rect">
              <a:avLst/>
            </a:prstGeom>
            <a:blipFill dpi="0" rotWithShape="0">
              <a:blip r:embed="rId2"/>
              <a:srcRect/>
              <a:tile tx="0" ty="0" sx="100000" sy="100000" flip="none" algn="tl"/>
            </a:blip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57" name="Rectangle 21">
              <a:extLst>
                <a:ext uri="{FF2B5EF4-FFF2-40B4-BE49-F238E27FC236}">
                  <a16:creationId xmlns:a16="http://schemas.microsoft.com/office/drawing/2014/main" id="{18D5FCF8-5C7B-EE07-9FCB-F18B13DD09DE}"/>
                </a:ext>
              </a:extLst>
            </p:cNvPr>
            <p:cNvSpPr>
              <a:spLocks noChangeArrowheads="1"/>
            </p:cNvSpPr>
            <p:nvPr/>
          </p:nvSpPr>
          <p:spPr bwMode="auto">
            <a:xfrm>
              <a:off x="3126" y="1910"/>
              <a:ext cx="476"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4358" name="Rectangle 22">
              <a:extLst>
                <a:ext uri="{FF2B5EF4-FFF2-40B4-BE49-F238E27FC236}">
                  <a16:creationId xmlns:a16="http://schemas.microsoft.com/office/drawing/2014/main" id="{A4322ECF-9092-C5B4-F9BD-4A56FE855064}"/>
                </a:ext>
              </a:extLst>
            </p:cNvPr>
            <p:cNvSpPr>
              <a:spLocks noChangeArrowheads="1"/>
            </p:cNvSpPr>
            <p:nvPr/>
          </p:nvSpPr>
          <p:spPr bwMode="auto">
            <a:xfrm>
              <a:off x="2256" y="1920"/>
              <a:ext cx="821" cy="295"/>
            </a:xfrm>
            <a:prstGeom prst="rect">
              <a:avLst/>
            </a:prstGeom>
            <a:blipFill dpi="0" rotWithShape="0">
              <a:blip r:embed="rId2"/>
              <a:srcRect/>
              <a:tile tx="0" ty="0" sx="100000" sy="100000" flip="none" algn="tl"/>
            </a:blip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TCP Hdr</a:t>
              </a:r>
            </a:p>
          </p:txBody>
        </p:sp>
        <p:sp>
          <p:nvSpPr>
            <p:cNvPr id="14359" name="Rectangle 23">
              <a:extLst>
                <a:ext uri="{FF2B5EF4-FFF2-40B4-BE49-F238E27FC236}">
                  <a16:creationId xmlns:a16="http://schemas.microsoft.com/office/drawing/2014/main" id="{B4AFEC97-C792-0598-64FD-32E1CB51DCB1}"/>
                </a:ext>
              </a:extLst>
            </p:cNvPr>
            <p:cNvSpPr>
              <a:spLocks noChangeArrowheads="1"/>
            </p:cNvSpPr>
            <p:nvPr/>
          </p:nvSpPr>
          <p:spPr bwMode="auto">
            <a:xfrm>
              <a:off x="720" y="1920"/>
              <a:ext cx="800" cy="294"/>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ESP Hdr</a:t>
              </a:r>
            </a:p>
          </p:txBody>
        </p:sp>
        <p:sp>
          <p:nvSpPr>
            <p:cNvPr id="14360" name="Rectangle 24">
              <a:extLst>
                <a:ext uri="{FF2B5EF4-FFF2-40B4-BE49-F238E27FC236}">
                  <a16:creationId xmlns:a16="http://schemas.microsoft.com/office/drawing/2014/main" id="{8437FF25-8D99-D8E9-FEF6-7E35A9B87499}"/>
                </a:ext>
              </a:extLst>
            </p:cNvPr>
            <p:cNvSpPr>
              <a:spLocks noChangeArrowheads="1"/>
            </p:cNvSpPr>
            <p:nvPr/>
          </p:nvSpPr>
          <p:spPr bwMode="auto">
            <a:xfrm>
              <a:off x="1488" y="1920"/>
              <a:ext cx="765" cy="294"/>
            </a:xfrm>
            <a:prstGeom prst="rect">
              <a:avLst/>
            </a:prstGeom>
            <a:blipFill dpi="0" rotWithShape="0">
              <a:blip r:embed="rId2"/>
              <a:srcRect/>
              <a:tile tx="0" ty="0" sx="100000" sy="100000" flip="none" algn="tl"/>
            </a:blip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 IP Hdr</a:t>
              </a:r>
            </a:p>
          </p:txBody>
        </p:sp>
        <p:sp>
          <p:nvSpPr>
            <p:cNvPr id="14361" name="Rectangle 25">
              <a:extLst>
                <a:ext uri="{FF2B5EF4-FFF2-40B4-BE49-F238E27FC236}">
                  <a16:creationId xmlns:a16="http://schemas.microsoft.com/office/drawing/2014/main" id="{3EDF6DA6-EEF9-0AA4-9276-71085282F220}"/>
                </a:ext>
              </a:extLst>
            </p:cNvPr>
            <p:cNvSpPr>
              <a:spLocks noChangeArrowheads="1"/>
            </p:cNvSpPr>
            <p:nvPr/>
          </p:nvSpPr>
          <p:spPr bwMode="auto">
            <a:xfrm>
              <a:off x="0" y="1920"/>
              <a:ext cx="725" cy="294"/>
            </a:xfrm>
            <a:prstGeom prst="rect">
              <a:avLst/>
            </a:prstGeom>
            <a:solidFill>
              <a:schemeClr val="accent1"/>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IPHdr</a:t>
              </a:r>
            </a:p>
          </p:txBody>
        </p:sp>
      </p:grpSp>
      <p:sp>
        <p:nvSpPr>
          <p:cNvPr id="14362" name="Line 26">
            <a:extLst>
              <a:ext uri="{FF2B5EF4-FFF2-40B4-BE49-F238E27FC236}">
                <a16:creationId xmlns:a16="http://schemas.microsoft.com/office/drawing/2014/main" id="{3DDB7188-2839-40C3-C14D-1A35262F2CC3}"/>
              </a:ext>
            </a:extLst>
          </p:cNvPr>
          <p:cNvSpPr>
            <a:spLocks noChangeShapeType="1"/>
          </p:cNvSpPr>
          <p:nvPr/>
        </p:nvSpPr>
        <p:spPr bwMode="auto">
          <a:xfrm>
            <a:off x="2162175" y="2495550"/>
            <a:ext cx="198438" cy="506413"/>
          </a:xfrm>
          <a:prstGeom prst="line">
            <a:avLst/>
          </a:prstGeom>
          <a:noFill/>
          <a:ln w="12700">
            <a:solidFill>
              <a:schemeClr val="tx1"/>
            </a:solidFill>
            <a:round/>
            <a:headEnd type="none" w="sm" len="sm"/>
            <a:tailEnd type="triangle" w="sm" len="sm"/>
          </a:ln>
          <a:effectLst/>
        </p:spPr>
        <p:txBody>
          <a:bodyPr/>
          <a:lstStyle/>
          <a:p>
            <a:pPr>
              <a:defRPr/>
            </a:pPr>
            <a:endParaRPr lang="en-GB">
              <a:effectLst>
                <a:outerShdw blurRad="38100" dist="38100" dir="2700000" algn="tl">
                  <a:srgbClr val="000000">
                    <a:alpha val="43137"/>
                  </a:srgbClr>
                </a:outerShdw>
              </a:effectLst>
            </a:endParaRPr>
          </a:p>
        </p:txBody>
      </p:sp>
      <p:sp>
        <p:nvSpPr>
          <p:cNvPr id="14363" name="Line 27">
            <a:extLst>
              <a:ext uri="{FF2B5EF4-FFF2-40B4-BE49-F238E27FC236}">
                <a16:creationId xmlns:a16="http://schemas.microsoft.com/office/drawing/2014/main" id="{2CFE2196-1326-6C67-8135-0FD2CD7B2850}"/>
              </a:ext>
            </a:extLst>
          </p:cNvPr>
          <p:cNvSpPr>
            <a:spLocks noChangeShapeType="1"/>
          </p:cNvSpPr>
          <p:nvPr/>
        </p:nvSpPr>
        <p:spPr bwMode="auto">
          <a:xfrm flipH="1">
            <a:off x="5980113" y="2484438"/>
            <a:ext cx="1038225" cy="517525"/>
          </a:xfrm>
          <a:prstGeom prst="line">
            <a:avLst/>
          </a:prstGeom>
          <a:noFill/>
          <a:ln w="12700">
            <a:solidFill>
              <a:schemeClr val="tx1"/>
            </a:solidFill>
            <a:round/>
            <a:headEnd type="none" w="sm" len="sm"/>
            <a:tailEnd type="triangle" w="sm" len="sm"/>
          </a:ln>
          <a:effectLst/>
        </p:spPr>
        <p:txBody>
          <a:bodyPr/>
          <a:lstStyle/>
          <a:p>
            <a:pPr>
              <a:defRPr/>
            </a:pPr>
            <a:endParaRPr lang="en-GB">
              <a:effectLst>
                <a:outerShdw blurRad="38100" dist="38100" dir="2700000" algn="tl">
                  <a:srgbClr val="000000">
                    <a:alpha val="43137"/>
                  </a:srgbClr>
                </a:outerShdw>
              </a:effectLst>
            </a:endParaRPr>
          </a:p>
        </p:txBody>
      </p:sp>
      <p:sp>
        <p:nvSpPr>
          <p:cNvPr id="14364" name="Text Box 28">
            <a:extLst>
              <a:ext uri="{FF2B5EF4-FFF2-40B4-BE49-F238E27FC236}">
                <a16:creationId xmlns:a16="http://schemas.microsoft.com/office/drawing/2014/main" id="{ED2DFB46-5486-5CC5-6B6C-58D2072CD173}"/>
              </a:ext>
            </a:extLst>
          </p:cNvPr>
          <p:cNvSpPr txBox="1">
            <a:spLocks noChangeArrowheads="1"/>
          </p:cNvSpPr>
          <p:nvPr/>
        </p:nvSpPr>
        <p:spPr bwMode="auto">
          <a:xfrm>
            <a:off x="273050" y="4806950"/>
            <a:ext cx="5762625" cy="822325"/>
          </a:xfrm>
          <a:prstGeom prst="rect">
            <a:avLst/>
          </a:prstGeom>
          <a:noFill/>
          <a:ln>
            <a:noFill/>
          </a:ln>
          <a:effectLst/>
        </p:spPr>
        <p:txBody>
          <a:bodyPr>
            <a:spAutoFit/>
          </a:bodyPr>
          <a:lstStyle/>
          <a:p>
            <a:pPr>
              <a:spcBef>
                <a:spcPct val="50000"/>
              </a:spcBef>
              <a:defRPr/>
            </a:pPr>
            <a:r>
              <a:rPr lang="en-US" altLang="en-US" b="1">
                <a:effectLst>
                  <a:outerShdw blurRad="38100" dist="38100" dir="2700000" algn="tl">
                    <a:srgbClr val="000000">
                      <a:alpha val="43137"/>
                    </a:srgbClr>
                  </a:outerShdw>
                </a:effectLst>
                <a:latin typeface="Arial" panose="020B0604020202020204" pitchFamily="34" charset="0"/>
              </a:rPr>
              <a:t>New IP header with source &amp; destination IP address</a:t>
            </a:r>
          </a:p>
        </p:txBody>
      </p:sp>
      <p:sp>
        <p:nvSpPr>
          <p:cNvPr id="14365" name="AutoShape 29">
            <a:extLst>
              <a:ext uri="{FF2B5EF4-FFF2-40B4-BE49-F238E27FC236}">
                <a16:creationId xmlns:a16="http://schemas.microsoft.com/office/drawing/2014/main" id="{BE7416BC-4FFA-A26A-C19A-BC6BFB1DCD64}"/>
              </a:ext>
            </a:extLst>
          </p:cNvPr>
          <p:cNvSpPr>
            <a:spLocks/>
          </p:cNvSpPr>
          <p:nvPr/>
        </p:nvSpPr>
        <p:spPr bwMode="auto">
          <a:xfrm rot="16204929">
            <a:off x="-793" y="3544093"/>
            <a:ext cx="1149350" cy="1147763"/>
          </a:xfrm>
          <a:prstGeom prst="leftBrace">
            <a:avLst>
              <a:gd name="adj1" fmla="val 8333"/>
              <a:gd name="adj2" fmla="val 46495"/>
            </a:avLst>
          </a:prstGeom>
          <a:noFill/>
          <a:ln w="12700">
            <a:solidFill>
              <a:schemeClr val="tx1"/>
            </a:solidFill>
            <a:round/>
            <a:headEnd type="none" w="sm" len="sm"/>
            <a:tailEnd type="none" w="sm" len="sm"/>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4368" name="Text Box 32">
            <a:extLst>
              <a:ext uri="{FF2B5EF4-FFF2-40B4-BE49-F238E27FC236}">
                <a16:creationId xmlns:a16="http://schemas.microsoft.com/office/drawing/2014/main" id="{D632DC1A-9A6C-C42B-DCBC-BD814654F84C}"/>
              </a:ext>
            </a:extLst>
          </p:cNvPr>
          <p:cNvSpPr txBox="1">
            <a:spLocks noChangeArrowheads="1"/>
          </p:cNvSpPr>
          <p:nvPr/>
        </p:nvSpPr>
        <p:spPr bwMode="auto">
          <a:xfrm>
            <a:off x="6781800" y="6623050"/>
            <a:ext cx="2362200" cy="228600"/>
          </a:xfrm>
          <a:prstGeom prst="rect">
            <a:avLst/>
          </a:prstGeom>
          <a:noFill/>
          <a:ln>
            <a:noFill/>
          </a:ln>
          <a:effectLst/>
        </p:spPr>
        <p:txBody>
          <a:bodyPr lIns="182562" tIns="46038" rIns="182562" bIns="46038">
            <a:spAutoFit/>
          </a:bodyPr>
          <a:lstStyle/>
          <a:p>
            <a:pPr algn="ctr">
              <a:lnSpc>
                <a:spcPct val="90000"/>
              </a:lnSpc>
              <a:spcBef>
                <a:spcPct val="50000"/>
              </a:spcBef>
              <a:buClr>
                <a:schemeClr val="tx2"/>
              </a:buClr>
              <a:buSzPct val="75000"/>
              <a:buFont typeface="Wingdings" pitchFamily="2" charset="2"/>
              <a:buNone/>
              <a:defRPr/>
            </a:pPr>
            <a:r>
              <a:rPr lang="en-US" altLang="en-US" sz="1000">
                <a:effectLst>
                  <a:outerShdw blurRad="38100" dist="38100" dir="2700000" algn="tl">
                    <a:srgbClr val="000000">
                      <a:alpha val="43137"/>
                    </a:srgbClr>
                  </a:outerShdw>
                </a:effectLst>
                <a:latin typeface="Arial" panose="020B0604020202020204" pitchFamily="34" charset="0"/>
              </a:rPr>
              <a:t>© 2000 Microsoft Corporation</a:t>
            </a:r>
          </a:p>
        </p:txBody>
      </p:sp>
      <p:sp>
        <p:nvSpPr>
          <p:cNvPr id="14369" name="Rectangle 33">
            <a:extLst>
              <a:ext uri="{FF2B5EF4-FFF2-40B4-BE49-F238E27FC236}">
                <a16:creationId xmlns:a16="http://schemas.microsoft.com/office/drawing/2014/main" id="{E7D720CA-6363-85E9-788F-23B07A1DC85B}"/>
              </a:ext>
            </a:extLst>
          </p:cNvPr>
          <p:cNvSpPr>
            <a:spLocks noChangeArrowheads="1"/>
          </p:cNvSpPr>
          <p:nvPr/>
        </p:nvSpPr>
        <p:spPr bwMode="auto">
          <a:xfrm>
            <a:off x="5943600" y="3051175"/>
            <a:ext cx="1622425" cy="466725"/>
          </a:xfrm>
          <a:prstGeom prst="rect">
            <a:avLst/>
          </a:prstGeom>
          <a:blipFill dpi="0" rotWithShape="0">
            <a:blip r:embed="rId2"/>
            <a:srcRect/>
            <a:tile tx="0" ty="0" sx="100000" sy="100000" flip="none" algn="tl"/>
          </a:blip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ESP Trailer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5BDB156-D21E-4866-B7EA-44D1EB0EE2E2}"/>
              </a:ext>
            </a:extLst>
          </p:cNvPr>
          <p:cNvSpPr>
            <a:spLocks noGrp="1" noChangeArrowheads="1"/>
          </p:cNvSpPr>
          <p:nvPr>
            <p:ph type="title"/>
          </p:nvPr>
        </p:nvSpPr>
        <p:spPr/>
        <p:txBody>
          <a:bodyPr/>
          <a:lstStyle/>
          <a:p>
            <a:r>
              <a:rPr lang="en-US" altLang="en-US"/>
              <a:t>Authentication Header (AH)</a:t>
            </a:r>
          </a:p>
        </p:txBody>
      </p:sp>
      <p:sp>
        <p:nvSpPr>
          <p:cNvPr id="5123" name="Rectangle 3">
            <a:extLst>
              <a:ext uri="{FF2B5EF4-FFF2-40B4-BE49-F238E27FC236}">
                <a16:creationId xmlns:a16="http://schemas.microsoft.com/office/drawing/2014/main" id="{8B3ABF6F-3BFF-5FC2-C0DC-9D431C6C26E8}"/>
              </a:ext>
            </a:extLst>
          </p:cNvPr>
          <p:cNvSpPr>
            <a:spLocks noGrp="1" noChangeArrowheads="1"/>
          </p:cNvSpPr>
          <p:nvPr>
            <p:ph type="body" idx="1"/>
          </p:nvPr>
        </p:nvSpPr>
        <p:spPr/>
        <p:txBody>
          <a:bodyPr/>
          <a:lstStyle/>
          <a:p>
            <a:pPr>
              <a:defRPr/>
            </a:pPr>
            <a:r>
              <a:rPr lang="en-US" altLang="en-US"/>
              <a:t>Authentication is applied to the entire packet, with the mutable fields in the IP header zeroed out</a:t>
            </a:r>
          </a:p>
          <a:p>
            <a:pPr>
              <a:defRPr/>
            </a:pPr>
            <a:r>
              <a:rPr lang="en-US" altLang="en-US"/>
              <a:t>If both ESP and AH are applied to a packet, AH follows ESP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13D4EE0F-2FBD-BC4D-15EF-D78B56297DAA}"/>
              </a:ext>
            </a:extLst>
          </p:cNvPr>
          <p:cNvSpPr>
            <a:spLocks noGrp="1" noChangeArrowheads="1"/>
          </p:cNvSpPr>
          <p:nvPr>
            <p:ph type="title"/>
          </p:nvPr>
        </p:nvSpPr>
        <p:spPr>
          <a:xfrm>
            <a:off x="263525" y="401638"/>
            <a:ext cx="8613775" cy="9144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ltLang="en-US" sz="3600"/>
              <a:t>IPSec Authentication Header (AH)</a:t>
            </a:r>
            <a:br>
              <a:rPr lang="en-US" altLang="en-US" sz="3600"/>
            </a:br>
            <a:r>
              <a:rPr lang="en-US" altLang="en-US" sz="3600"/>
              <a:t>in Transport Mode</a:t>
            </a:r>
          </a:p>
        </p:txBody>
      </p:sp>
      <p:sp>
        <p:nvSpPr>
          <p:cNvPr id="15363" name="Rectangle 3">
            <a:extLst>
              <a:ext uri="{FF2B5EF4-FFF2-40B4-BE49-F238E27FC236}">
                <a16:creationId xmlns:a16="http://schemas.microsoft.com/office/drawing/2014/main" id="{25462A85-A501-0A38-0D75-C13CB74E7F88}"/>
              </a:ext>
            </a:extLst>
          </p:cNvPr>
          <p:cNvSpPr>
            <a:spLocks noChangeArrowheads="1"/>
          </p:cNvSpPr>
          <p:nvPr/>
        </p:nvSpPr>
        <p:spPr bwMode="auto">
          <a:xfrm>
            <a:off x="1612900" y="1922463"/>
            <a:ext cx="173990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64" name="Rectangle 4">
            <a:extLst>
              <a:ext uri="{FF2B5EF4-FFF2-40B4-BE49-F238E27FC236}">
                <a16:creationId xmlns:a16="http://schemas.microsoft.com/office/drawing/2014/main" id="{661AA0C1-9992-9D5D-9757-1238FACC1BFA}"/>
              </a:ext>
            </a:extLst>
          </p:cNvPr>
          <p:cNvSpPr>
            <a:spLocks noChangeArrowheads="1"/>
          </p:cNvSpPr>
          <p:nvPr/>
        </p:nvSpPr>
        <p:spPr bwMode="auto">
          <a:xfrm>
            <a:off x="3365500" y="1922463"/>
            <a:ext cx="128270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65" name="Rectangle 5">
            <a:extLst>
              <a:ext uri="{FF2B5EF4-FFF2-40B4-BE49-F238E27FC236}">
                <a16:creationId xmlns:a16="http://schemas.microsoft.com/office/drawing/2014/main" id="{27775A53-0A16-C0B8-3E3B-55A0A58CEDA2}"/>
              </a:ext>
            </a:extLst>
          </p:cNvPr>
          <p:cNvSpPr>
            <a:spLocks noChangeArrowheads="1"/>
          </p:cNvSpPr>
          <p:nvPr/>
        </p:nvSpPr>
        <p:spPr bwMode="auto">
          <a:xfrm>
            <a:off x="4660900" y="1922463"/>
            <a:ext cx="288290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66" name="Rectangle 6">
            <a:extLst>
              <a:ext uri="{FF2B5EF4-FFF2-40B4-BE49-F238E27FC236}">
                <a16:creationId xmlns:a16="http://schemas.microsoft.com/office/drawing/2014/main" id="{3D42FC9B-ACF1-D01F-DCBF-E5270029B5A4}"/>
              </a:ext>
            </a:extLst>
          </p:cNvPr>
          <p:cNvSpPr>
            <a:spLocks noChangeArrowheads="1"/>
          </p:cNvSpPr>
          <p:nvPr/>
        </p:nvSpPr>
        <p:spPr bwMode="auto">
          <a:xfrm>
            <a:off x="5167313" y="1895475"/>
            <a:ext cx="755650"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5367" name="Rectangle 7">
            <a:extLst>
              <a:ext uri="{FF2B5EF4-FFF2-40B4-BE49-F238E27FC236}">
                <a16:creationId xmlns:a16="http://schemas.microsoft.com/office/drawing/2014/main" id="{50FEA391-CB1C-E9B5-CC4E-320C9A808A94}"/>
              </a:ext>
            </a:extLst>
          </p:cNvPr>
          <p:cNvSpPr>
            <a:spLocks noChangeArrowheads="1"/>
          </p:cNvSpPr>
          <p:nvPr/>
        </p:nvSpPr>
        <p:spPr bwMode="auto">
          <a:xfrm>
            <a:off x="3338513" y="1895475"/>
            <a:ext cx="1290637"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sp>
        <p:nvSpPr>
          <p:cNvPr id="15368" name="Rectangle 8">
            <a:extLst>
              <a:ext uri="{FF2B5EF4-FFF2-40B4-BE49-F238E27FC236}">
                <a16:creationId xmlns:a16="http://schemas.microsoft.com/office/drawing/2014/main" id="{51F45134-E0ED-A3A8-8B7E-AC8AB1DBA450}"/>
              </a:ext>
            </a:extLst>
          </p:cNvPr>
          <p:cNvSpPr>
            <a:spLocks noChangeArrowheads="1"/>
          </p:cNvSpPr>
          <p:nvPr/>
        </p:nvSpPr>
        <p:spPr bwMode="auto">
          <a:xfrm>
            <a:off x="1585913" y="1895475"/>
            <a:ext cx="1638300"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sp>
        <p:nvSpPr>
          <p:cNvPr id="15369" name="Rectangle 9">
            <a:extLst>
              <a:ext uri="{FF2B5EF4-FFF2-40B4-BE49-F238E27FC236}">
                <a16:creationId xmlns:a16="http://schemas.microsoft.com/office/drawing/2014/main" id="{2FDA2DB4-7B6F-F522-0072-5DE508CD2239}"/>
              </a:ext>
            </a:extLst>
          </p:cNvPr>
          <p:cNvSpPr>
            <a:spLocks noChangeArrowheads="1"/>
          </p:cNvSpPr>
          <p:nvPr/>
        </p:nvSpPr>
        <p:spPr bwMode="auto">
          <a:xfrm>
            <a:off x="4197350" y="3127375"/>
            <a:ext cx="128270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70" name="Rectangle 10">
            <a:extLst>
              <a:ext uri="{FF2B5EF4-FFF2-40B4-BE49-F238E27FC236}">
                <a16:creationId xmlns:a16="http://schemas.microsoft.com/office/drawing/2014/main" id="{E2165936-798F-8180-CAB1-8167EF2083E8}"/>
              </a:ext>
            </a:extLst>
          </p:cNvPr>
          <p:cNvSpPr>
            <a:spLocks noChangeArrowheads="1"/>
          </p:cNvSpPr>
          <p:nvPr/>
        </p:nvSpPr>
        <p:spPr bwMode="auto">
          <a:xfrm>
            <a:off x="5492750" y="3127375"/>
            <a:ext cx="2882900" cy="44450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71" name="Rectangle 11">
            <a:extLst>
              <a:ext uri="{FF2B5EF4-FFF2-40B4-BE49-F238E27FC236}">
                <a16:creationId xmlns:a16="http://schemas.microsoft.com/office/drawing/2014/main" id="{9A7E3738-C881-32A2-5C30-AE7D7096D67F}"/>
              </a:ext>
            </a:extLst>
          </p:cNvPr>
          <p:cNvSpPr>
            <a:spLocks noChangeArrowheads="1"/>
          </p:cNvSpPr>
          <p:nvPr/>
        </p:nvSpPr>
        <p:spPr bwMode="auto">
          <a:xfrm>
            <a:off x="5999163" y="3100388"/>
            <a:ext cx="755650"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5372" name="Rectangle 12">
            <a:extLst>
              <a:ext uri="{FF2B5EF4-FFF2-40B4-BE49-F238E27FC236}">
                <a16:creationId xmlns:a16="http://schemas.microsoft.com/office/drawing/2014/main" id="{F1095AE1-6CAA-28E2-7A15-8FF327FDD290}"/>
              </a:ext>
            </a:extLst>
          </p:cNvPr>
          <p:cNvSpPr>
            <a:spLocks noChangeArrowheads="1"/>
          </p:cNvSpPr>
          <p:nvPr/>
        </p:nvSpPr>
        <p:spPr bwMode="auto">
          <a:xfrm>
            <a:off x="4170363" y="3100388"/>
            <a:ext cx="1290637" cy="454025"/>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grpSp>
        <p:nvGrpSpPr>
          <p:cNvPr id="38924" name="Group 13">
            <a:extLst>
              <a:ext uri="{FF2B5EF4-FFF2-40B4-BE49-F238E27FC236}">
                <a16:creationId xmlns:a16="http://schemas.microsoft.com/office/drawing/2014/main" id="{66005C93-9CE6-5E19-CBBA-C23385FBF570}"/>
              </a:ext>
            </a:extLst>
          </p:cNvPr>
          <p:cNvGrpSpPr>
            <a:grpSpLocks/>
          </p:cNvGrpSpPr>
          <p:nvPr/>
        </p:nvGrpSpPr>
        <p:grpSpPr bwMode="auto">
          <a:xfrm>
            <a:off x="2695575" y="3121025"/>
            <a:ext cx="1495425" cy="469900"/>
            <a:chOff x="1698" y="1966"/>
            <a:chExt cx="942" cy="296"/>
          </a:xfrm>
        </p:grpSpPr>
        <p:sp>
          <p:nvSpPr>
            <p:cNvPr id="15374" name="Rectangle 14">
              <a:extLst>
                <a:ext uri="{FF2B5EF4-FFF2-40B4-BE49-F238E27FC236}">
                  <a16:creationId xmlns:a16="http://schemas.microsoft.com/office/drawing/2014/main" id="{FCB989B7-8926-DAF4-9513-BCCD61121921}"/>
                </a:ext>
              </a:extLst>
            </p:cNvPr>
            <p:cNvSpPr>
              <a:spLocks noChangeArrowheads="1"/>
            </p:cNvSpPr>
            <p:nvPr/>
          </p:nvSpPr>
          <p:spPr bwMode="auto">
            <a:xfrm>
              <a:off x="1713" y="1966"/>
              <a:ext cx="927" cy="291"/>
            </a:xfrm>
            <a:prstGeom prst="rect">
              <a:avLst/>
            </a:prstGeom>
            <a:solidFill>
              <a:schemeClr val="hlink"/>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75" name="Rectangle 15">
              <a:extLst>
                <a:ext uri="{FF2B5EF4-FFF2-40B4-BE49-F238E27FC236}">
                  <a16:creationId xmlns:a16="http://schemas.microsoft.com/office/drawing/2014/main" id="{21B4808F-EBEB-7273-3AD1-5DFC7053E14E}"/>
                </a:ext>
              </a:extLst>
            </p:cNvPr>
            <p:cNvSpPr>
              <a:spLocks noChangeArrowheads="1"/>
            </p:cNvSpPr>
            <p:nvPr/>
          </p:nvSpPr>
          <p:spPr bwMode="auto">
            <a:xfrm>
              <a:off x="1698" y="1976"/>
              <a:ext cx="909" cy="286"/>
            </a:xfrm>
            <a:prstGeom prst="rect">
              <a:avLst/>
            </a:prstGeom>
            <a:solidFill>
              <a:schemeClr val="hlink"/>
            </a:solidFill>
            <a:ln>
              <a:noFill/>
            </a:ln>
            <a:effectLst/>
          </p:spPr>
          <p:txBody>
            <a:bodyPr lIns="90488" tIns="44450" rIns="90488" bIns="44450">
              <a:spAutoFit/>
            </a:bodyPr>
            <a:lstStyle/>
            <a:p>
              <a:pPr>
                <a:defRPr/>
              </a:pPr>
              <a:r>
                <a:rPr lang="en-US" altLang="en-US">
                  <a:effectLst>
                    <a:outerShdw blurRad="38100" dist="38100" dir="2700000" algn="tl">
                      <a:srgbClr val="000000"/>
                    </a:outerShdw>
                  </a:effectLst>
                </a:rPr>
                <a:t>AH Hdr</a:t>
              </a:r>
            </a:p>
          </p:txBody>
        </p:sp>
      </p:grpSp>
      <p:grpSp>
        <p:nvGrpSpPr>
          <p:cNvPr id="38925" name="Group 16">
            <a:extLst>
              <a:ext uri="{FF2B5EF4-FFF2-40B4-BE49-F238E27FC236}">
                <a16:creationId xmlns:a16="http://schemas.microsoft.com/office/drawing/2014/main" id="{A3DCAEB2-962F-6929-3C45-2169E456FAFB}"/>
              </a:ext>
            </a:extLst>
          </p:cNvPr>
          <p:cNvGrpSpPr>
            <a:grpSpLocks/>
          </p:cNvGrpSpPr>
          <p:nvPr/>
        </p:nvGrpSpPr>
        <p:grpSpPr bwMode="auto">
          <a:xfrm>
            <a:off x="928688" y="3100388"/>
            <a:ext cx="1766887" cy="471487"/>
            <a:chOff x="552" y="1598"/>
            <a:chExt cx="1113" cy="297"/>
          </a:xfrm>
        </p:grpSpPr>
        <p:sp>
          <p:nvSpPr>
            <p:cNvPr id="15377" name="Rectangle 17">
              <a:extLst>
                <a:ext uri="{FF2B5EF4-FFF2-40B4-BE49-F238E27FC236}">
                  <a16:creationId xmlns:a16="http://schemas.microsoft.com/office/drawing/2014/main" id="{73BA9568-B328-80D9-F3AF-ABF4A1B2F25C}"/>
                </a:ext>
              </a:extLst>
            </p:cNvPr>
            <p:cNvSpPr>
              <a:spLocks noChangeArrowheads="1"/>
            </p:cNvSpPr>
            <p:nvPr/>
          </p:nvSpPr>
          <p:spPr bwMode="auto">
            <a:xfrm>
              <a:off x="569" y="1615"/>
              <a:ext cx="109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78" name="Rectangle 18">
              <a:extLst>
                <a:ext uri="{FF2B5EF4-FFF2-40B4-BE49-F238E27FC236}">
                  <a16:creationId xmlns:a16="http://schemas.microsoft.com/office/drawing/2014/main" id="{0998048A-B95B-0239-3199-0503B054F56A}"/>
                </a:ext>
              </a:extLst>
            </p:cNvPr>
            <p:cNvSpPr>
              <a:spLocks noChangeArrowheads="1"/>
            </p:cNvSpPr>
            <p:nvPr/>
          </p:nvSpPr>
          <p:spPr bwMode="auto">
            <a:xfrm>
              <a:off x="552" y="1598"/>
              <a:ext cx="1032"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grpSp>
      <p:sp>
        <p:nvSpPr>
          <p:cNvPr id="15379" name="Rectangle 19">
            <a:extLst>
              <a:ext uri="{FF2B5EF4-FFF2-40B4-BE49-F238E27FC236}">
                <a16:creationId xmlns:a16="http://schemas.microsoft.com/office/drawing/2014/main" id="{A3039B28-9E8F-A2AB-1560-2D7BF75710BF}"/>
              </a:ext>
            </a:extLst>
          </p:cNvPr>
          <p:cNvSpPr>
            <a:spLocks noChangeArrowheads="1"/>
          </p:cNvSpPr>
          <p:nvPr/>
        </p:nvSpPr>
        <p:spPr bwMode="auto">
          <a:xfrm>
            <a:off x="511175" y="5003800"/>
            <a:ext cx="1354138"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Next Hdr</a:t>
            </a:r>
          </a:p>
        </p:txBody>
      </p:sp>
      <p:sp>
        <p:nvSpPr>
          <p:cNvPr id="15380" name="Rectangle 20">
            <a:extLst>
              <a:ext uri="{FF2B5EF4-FFF2-40B4-BE49-F238E27FC236}">
                <a16:creationId xmlns:a16="http://schemas.microsoft.com/office/drawing/2014/main" id="{04D7C85E-FAF2-F219-4658-97CAC31F6E21}"/>
              </a:ext>
            </a:extLst>
          </p:cNvPr>
          <p:cNvSpPr>
            <a:spLocks noChangeArrowheads="1"/>
          </p:cNvSpPr>
          <p:nvPr/>
        </p:nvSpPr>
        <p:spPr bwMode="auto">
          <a:xfrm>
            <a:off x="1862138" y="5003800"/>
            <a:ext cx="1733550"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Payload Len</a:t>
            </a:r>
          </a:p>
        </p:txBody>
      </p:sp>
      <p:sp>
        <p:nvSpPr>
          <p:cNvPr id="15381" name="Rectangle 21">
            <a:extLst>
              <a:ext uri="{FF2B5EF4-FFF2-40B4-BE49-F238E27FC236}">
                <a16:creationId xmlns:a16="http://schemas.microsoft.com/office/drawing/2014/main" id="{D174665C-4657-193C-488E-E2D71133C9BB}"/>
              </a:ext>
            </a:extLst>
          </p:cNvPr>
          <p:cNvSpPr>
            <a:spLocks noChangeArrowheads="1"/>
          </p:cNvSpPr>
          <p:nvPr/>
        </p:nvSpPr>
        <p:spPr bwMode="auto">
          <a:xfrm>
            <a:off x="3587750" y="5003800"/>
            <a:ext cx="773113"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Rsrv</a:t>
            </a:r>
          </a:p>
        </p:txBody>
      </p:sp>
      <p:sp>
        <p:nvSpPr>
          <p:cNvPr id="15382" name="Rectangle 22">
            <a:extLst>
              <a:ext uri="{FF2B5EF4-FFF2-40B4-BE49-F238E27FC236}">
                <a16:creationId xmlns:a16="http://schemas.microsoft.com/office/drawing/2014/main" id="{6CF7168C-D3D0-3634-84A6-8F01F0EACC7D}"/>
              </a:ext>
            </a:extLst>
          </p:cNvPr>
          <p:cNvSpPr>
            <a:spLocks noChangeArrowheads="1"/>
          </p:cNvSpPr>
          <p:nvPr/>
        </p:nvSpPr>
        <p:spPr bwMode="auto">
          <a:xfrm>
            <a:off x="4352925" y="5003800"/>
            <a:ext cx="2111375"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SecParamIndex</a:t>
            </a:r>
          </a:p>
        </p:txBody>
      </p:sp>
      <p:sp>
        <p:nvSpPr>
          <p:cNvPr id="15383" name="Rectangle 23">
            <a:extLst>
              <a:ext uri="{FF2B5EF4-FFF2-40B4-BE49-F238E27FC236}">
                <a16:creationId xmlns:a16="http://schemas.microsoft.com/office/drawing/2014/main" id="{4193A764-5D6C-017F-6351-DD1E79A2F9D3}"/>
              </a:ext>
            </a:extLst>
          </p:cNvPr>
          <p:cNvSpPr>
            <a:spLocks noChangeArrowheads="1"/>
          </p:cNvSpPr>
          <p:nvPr/>
        </p:nvSpPr>
        <p:spPr bwMode="auto">
          <a:xfrm>
            <a:off x="7261225" y="5003800"/>
            <a:ext cx="1704975"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Keyed Hash</a:t>
            </a:r>
          </a:p>
        </p:txBody>
      </p:sp>
      <p:sp>
        <p:nvSpPr>
          <p:cNvPr id="15384" name="Line 24">
            <a:extLst>
              <a:ext uri="{FF2B5EF4-FFF2-40B4-BE49-F238E27FC236}">
                <a16:creationId xmlns:a16="http://schemas.microsoft.com/office/drawing/2014/main" id="{56EA337E-505B-F992-2956-68BD3BDD7342}"/>
              </a:ext>
            </a:extLst>
          </p:cNvPr>
          <p:cNvSpPr>
            <a:spLocks noChangeShapeType="1"/>
          </p:cNvSpPr>
          <p:nvPr/>
        </p:nvSpPr>
        <p:spPr bwMode="auto">
          <a:xfrm flipH="1">
            <a:off x="617538" y="3686175"/>
            <a:ext cx="2028825" cy="1235075"/>
          </a:xfrm>
          <a:prstGeom prst="line">
            <a:avLst/>
          </a:prstGeom>
          <a:noFill/>
          <a:ln w="9525" cap="rnd">
            <a:solidFill>
              <a:schemeClr val="tx1"/>
            </a:solidFill>
            <a:prstDash val="sysDot"/>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85" name="Line 25">
            <a:extLst>
              <a:ext uri="{FF2B5EF4-FFF2-40B4-BE49-F238E27FC236}">
                <a16:creationId xmlns:a16="http://schemas.microsoft.com/office/drawing/2014/main" id="{013D0FA2-D6EF-6EE8-33C8-493DA6D08E88}"/>
              </a:ext>
            </a:extLst>
          </p:cNvPr>
          <p:cNvSpPr>
            <a:spLocks noChangeShapeType="1"/>
          </p:cNvSpPr>
          <p:nvPr/>
        </p:nvSpPr>
        <p:spPr bwMode="auto">
          <a:xfrm>
            <a:off x="4246563" y="3673475"/>
            <a:ext cx="4573587" cy="1295400"/>
          </a:xfrm>
          <a:prstGeom prst="line">
            <a:avLst/>
          </a:prstGeom>
          <a:noFill/>
          <a:ln w="9525" cap="rnd">
            <a:solidFill>
              <a:schemeClr val="tx1"/>
            </a:solidFill>
            <a:prstDash val="sysDot"/>
            <a:round/>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86" name="Text Box 26">
            <a:extLst>
              <a:ext uri="{FF2B5EF4-FFF2-40B4-BE49-F238E27FC236}">
                <a16:creationId xmlns:a16="http://schemas.microsoft.com/office/drawing/2014/main" id="{38C421B8-E17E-346A-DD09-C1A2F149DE48}"/>
              </a:ext>
            </a:extLst>
          </p:cNvPr>
          <p:cNvSpPr txBox="1">
            <a:spLocks noChangeArrowheads="1"/>
          </p:cNvSpPr>
          <p:nvPr/>
        </p:nvSpPr>
        <p:spPr bwMode="auto">
          <a:xfrm>
            <a:off x="1673225" y="3983038"/>
            <a:ext cx="6635750" cy="366712"/>
          </a:xfrm>
          <a:prstGeom prst="rect">
            <a:avLst/>
          </a:prstGeom>
          <a:noFill/>
          <a:ln>
            <a:noFill/>
          </a:ln>
          <a:effectLst/>
        </p:spPr>
        <p:txBody>
          <a:bodyPr wrap="none">
            <a:spAutoFit/>
          </a:bodyPr>
          <a:lstStyle/>
          <a:p>
            <a:pPr>
              <a:defRPr/>
            </a:pPr>
            <a:r>
              <a:rPr lang="en-US" altLang="en-US" b="1">
                <a:effectLst>
                  <a:outerShdw blurRad="38100" dist="38100" dir="2700000" algn="tl">
                    <a:srgbClr val="000000"/>
                  </a:outerShdw>
                </a:effectLst>
                <a:latin typeface="Arial" panose="020B0604020202020204" pitchFamily="34" charset="0"/>
              </a:rPr>
              <a:t>Integrity hash coverage (except for mutable fields in IP hdr)</a:t>
            </a:r>
          </a:p>
        </p:txBody>
      </p:sp>
      <p:sp>
        <p:nvSpPr>
          <p:cNvPr id="15387" name="Line 27">
            <a:extLst>
              <a:ext uri="{FF2B5EF4-FFF2-40B4-BE49-F238E27FC236}">
                <a16:creationId xmlns:a16="http://schemas.microsoft.com/office/drawing/2014/main" id="{A39B245C-1095-6DDD-6D1E-36AD8B65D677}"/>
              </a:ext>
            </a:extLst>
          </p:cNvPr>
          <p:cNvSpPr>
            <a:spLocks noChangeShapeType="1"/>
          </p:cNvSpPr>
          <p:nvPr/>
        </p:nvSpPr>
        <p:spPr bwMode="auto">
          <a:xfrm>
            <a:off x="939800" y="3860800"/>
            <a:ext cx="7442200" cy="0"/>
          </a:xfrm>
          <a:prstGeom prst="line">
            <a:avLst/>
          </a:prstGeom>
          <a:noFill/>
          <a:ln w="12700">
            <a:solidFill>
              <a:schemeClr val="tx1"/>
            </a:solidFill>
            <a:round/>
            <a:headEnd type="stealth" w="lg" len="med"/>
            <a:tailEnd type="stealth" w="lg"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88" name="Rectangle 28">
            <a:extLst>
              <a:ext uri="{FF2B5EF4-FFF2-40B4-BE49-F238E27FC236}">
                <a16:creationId xmlns:a16="http://schemas.microsoft.com/office/drawing/2014/main" id="{7C30DADB-680E-5239-1FD3-E2F0709E2D1E}"/>
              </a:ext>
            </a:extLst>
          </p:cNvPr>
          <p:cNvSpPr>
            <a:spLocks noChangeArrowheads="1"/>
          </p:cNvSpPr>
          <p:nvPr/>
        </p:nvSpPr>
        <p:spPr bwMode="auto">
          <a:xfrm>
            <a:off x="6457950" y="5003800"/>
            <a:ext cx="811213"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Seq#</a:t>
            </a:r>
          </a:p>
        </p:txBody>
      </p:sp>
      <p:sp>
        <p:nvSpPr>
          <p:cNvPr id="15389" name="Text Box 29">
            <a:extLst>
              <a:ext uri="{FF2B5EF4-FFF2-40B4-BE49-F238E27FC236}">
                <a16:creationId xmlns:a16="http://schemas.microsoft.com/office/drawing/2014/main" id="{F02340B9-4E9D-667E-B3FC-D0485E8622B6}"/>
              </a:ext>
            </a:extLst>
          </p:cNvPr>
          <p:cNvSpPr txBox="1">
            <a:spLocks noChangeArrowheads="1"/>
          </p:cNvSpPr>
          <p:nvPr/>
        </p:nvSpPr>
        <p:spPr bwMode="auto">
          <a:xfrm>
            <a:off x="5257800" y="5611813"/>
            <a:ext cx="1692275" cy="396875"/>
          </a:xfrm>
          <a:prstGeom prst="rect">
            <a:avLst/>
          </a:prstGeom>
          <a:noFill/>
          <a:ln>
            <a:noFill/>
          </a:ln>
          <a:effectLst/>
        </p:spPr>
        <p:txBody>
          <a:bodyPr wrap="none">
            <a:spAutoFit/>
          </a:bodyPr>
          <a:lstStyle/>
          <a:p>
            <a:pPr>
              <a:defRPr/>
            </a:pPr>
            <a:r>
              <a:rPr lang="en-US" altLang="en-US" sz="2000">
                <a:effectLst>
                  <a:outerShdw blurRad="38100" dist="38100" dir="2700000" algn="tl">
                    <a:srgbClr val="000000">
                      <a:alpha val="43137"/>
                    </a:srgbClr>
                  </a:outerShdw>
                </a:effectLst>
                <a:latin typeface="Arial" panose="020B0604020202020204" pitchFamily="34" charset="0"/>
              </a:rPr>
              <a:t>24 bytes total</a:t>
            </a:r>
          </a:p>
        </p:txBody>
      </p:sp>
      <p:sp>
        <p:nvSpPr>
          <p:cNvPr id="15390" name="Text Box 30">
            <a:extLst>
              <a:ext uri="{FF2B5EF4-FFF2-40B4-BE49-F238E27FC236}">
                <a16:creationId xmlns:a16="http://schemas.microsoft.com/office/drawing/2014/main" id="{C1B7631C-9F9D-D4C7-77B0-29C1C96F0088}"/>
              </a:ext>
            </a:extLst>
          </p:cNvPr>
          <p:cNvSpPr txBox="1">
            <a:spLocks noChangeArrowheads="1"/>
          </p:cNvSpPr>
          <p:nvPr/>
        </p:nvSpPr>
        <p:spPr bwMode="auto">
          <a:xfrm>
            <a:off x="1420813" y="5588000"/>
            <a:ext cx="2900362" cy="396875"/>
          </a:xfrm>
          <a:prstGeom prst="rect">
            <a:avLst/>
          </a:prstGeom>
          <a:noFill/>
          <a:ln>
            <a:noFill/>
          </a:ln>
          <a:effectLst/>
        </p:spPr>
        <p:txBody>
          <a:bodyPr>
            <a:spAutoFit/>
          </a:bodyPr>
          <a:lstStyle/>
          <a:p>
            <a:pPr>
              <a:spcBef>
                <a:spcPct val="50000"/>
              </a:spcBef>
              <a:defRPr/>
            </a:pPr>
            <a:r>
              <a:rPr lang="en-US" altLang="en-US" sz="2000">
                <a:effectLst>
                  <a:outerShdw blurRad="38100" dist="38100" dir="2700000" algn="tl">
                    <a:srgbClr val="000000">
                      <a:alpha val="43137"/>
                    </a:srgbClr>
                  </a:outerShdw>
                </a:effectLst>
                <a:latin typeface="Arial" panose="020B0604020202020204" pitchFamily="34" charset="0"/>
              </a:rPr>
              <a:t>AH is IP protocol 51</a:t>
            </a:r>
          </a:p>
        </p:txBody>
      </p:sp>
      <p:sp>
        <p:nvSpPr>
          <p:cNvPr id="15391" name="Line 31">
            <a:extLst>
              <a:ext uri="{FF2B5EF4-FFF2-40B4-BE49-F238E27FC236}">
                <a16:creationId xmlns:a16="http://schemas.microsoft.com/office/drawing/2014/main" id="{1C5B3A5E-CCBD-DB75-0DDD-0B5A670AA739}"/>
              </a:ext>
            </a:extLst>
          </p:cNvPr>
          <p:cNvSpPr>
            <a:spLocks noChangeShapeType="1"/>
          </p:cNvSpPr>
          <p:nvPr/>
        </p:nvSpPr>
        <p:spPr bwMode="auto">
          <a:xfrm flipH="1">
            <a:off x="2728913" y="2403475"/>
            <a:ext cx="627062" cy="682625"/>
          </a:xfrm>
          <a:prstGeom prst="line">
            <a:avLst/>
          </a:prstGeom>
          <a:noFill/>
          <a:ln w="12700">
            <a:solidFill>
              <a:schemeClr val="tx1"/>
            </a:solidFill>
            <a:round/>
            <a:headEnd type="none" w="sm" len="sm"/>
            <a:tailEnd type="stealth" w="sm"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92" name="Line 32">
            <a:extLst>
              <a:ext uri="{FF2B5EF4-FFF2-40B4-BE49-F238E27FC236}">
                <a16:creationId xmlns:a16="http://schemas.microsoft.com/office/drawing/2014/main" id="{40165C53-0B52-BAA8-DA14-36D500DED70F}"/>
              </a:ext>
            </a:extLst>
          </p:cNvPr>
          <p:cNvSpPr>
            <a:spLocks noChangeShapeType="1"/>
          </p:cNvSpPr>
          <p:nvPr/>
        </p:nvSpPr>
        <p:spPr bwMode="auto">
          <a:xfrm>
            <a:off x="3397250" y="2446338"/>
            <a:ext cx="768350" cy="639762"/>
          </a:xfrm>
          <a:prstGeom prst="line">
            <a:avLst/>
          </a:prstGeom>
          <a:noFill/>
          <a:ln w="12700">
            <a:solidFill>
              <a:schemeClr val="tx1"/>
            </a:solidFill>
            <a:round/>
            <a:headEnd type="none" w="sm" len="sm"/>
            <a:tailEnd type="stealth" w="sm"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5393" name="Text Box 33">
            <a:extLst>
              <a:ext uri="{FF2B5EF4-FFF2-40B4-BE49-F238E27FC236}">
                <a16:creationId xmlns:a16="http://schemas.microsoft.com/office/drawing/2014/main" id="{C66843BA-4995-D4FC-7B20-B56BACAFFF32}"/>
              </a:ext>
            </a:extLst>
          </p:cNvPr>
          <p:cNvSpPr txBox="1">
            <a:spLocks noChangeArrowheads="1"/>
          </p:cNvSpPr>
          <p:nvPr/>
        </p:nvSpPr>
        <p:spPr bwMode="auto">
          <a:xfrm>
            <a:off x="2957513" y="2646363"/>
            <a:ext cx="1096962" cy="457200"/>
          </a:xfrm>
          <a:prstGeom prst="rect">
            <a:avLst/>
          </a:prstGeom>
          <a:noFill/>
          <a:ln>
            <a:noFill/>
          </a:ln>
          <a:effectLst/>
        </p:spPr>
        <p:txBody>
          <a:bodyPr>
            <a:spAutoFit/>
          </a:bodyPr>
          <a:lstStyle/>
          <a:p>
            <a:pPr>
              <a:spcBef>
                <a:spcPct val="50000"/>
              </a:spcBef>
              <a:defRPr/>
            </a:pPr>
            <a:r>
              <a:rPr lang="en-US" altLang="en-US">
                <a:solidFill>
                  <a:schemeClr val="hlink"/>
                </a:solidFill>
                <a:effectLst>
                  <a:outerShdw blurRad="38100" dist="38100" dir="2700000" algn="tl">
                    <a:srgbClr val="000000">
                      <a:alpha val="43137"/>
                    </a:srgbClr>
                  </a:outerShdw>
                </a:effectLst>
              </a:rPr>
              <a:t>Insert</a:t>
            </a:r>
          </a:p>
        </p:txBody>
      </p:sp>
      <p:sp>
        <p:nvSpPr>
          <p:cNvPr id="15394" name="Text Box 34">
            <a:extLst>
              <a:ext uri="{FF2B5EF4-FFF2-40B4-BE49-F238E27FC236}">
                <a16:creationId xmlns:a16="http://schemas.microsoft.com/office/drawing/2014/main" id="{0BC3C9D7-87EA-A14A-01BA-B6DBD67D972C}"/>
              </a:ext>
            </a:extLst>
          </p:cNvPr>
          <p:cNvSpPr txBox="1">
            <a:spLocks noChangeArrowheads="1"/>
          </p:cNvSpPr>
          <p:nvPr/>
        </p:nvSpPr>
        <p:spPr bwMode="auto">
          <a:xfrm>
            <a:off x="6781800" y="6623050"/>
            <a:ext cx="2362200" cy="228600"/>
          </a:xfrm>
          <a:prstGeom prst="rect">
            <a:avLst/>
          </a:prstGeom>
          <a:noFill/>
          <a:ln>
            <a:noFill/>
          </a:ln>
          <a:effectLst/>
        </p:spPr>
        <p:txBody>
          <a:bodyPr lIns="182562" tIns="46038" rIns="182562" bIns="46038">
            <a:spAutoFit/>
          </a:bodyPr>
          <a:lstStyle/>
          <a:p>
            <a:pPr algn="ctr">
              <a:lnSpc>
                <a:spcPct val="90000"/>
              </a:lnSpc>
              <a:spcBef>
                <a:spcPct val="50000"/>
              </a:spcBef>
              <a:buClr>
                <a:schemeClr val="tx2"/>
              </a:buClr>
              <a:buSzPct val="75000"/>
              <a:buFont typeface="Wingdings" pitchFamily="2" charset="2"/>
              <a:buNone/>
              <a:defRPr/>
            </a:pPr>
            <a:r>
              <a:rPr lang="en-US" altLang="en-US" sz="1000">
                <a:effectLst>
                  <a:outerShdw blurRad="38100" dist="38100" dir="2700000" algn="tl">
                    <a:srgbClr val="000000">
                      <a:alpha val="43137"/>
                    </a:srgbClr>
                  </a:outerShdw>
                </a:effectLst>
                <a:latin typeface="Arial" panose="020B0604020202020204" pitchFamily="34" charset="0"/>
              </a:rPr>
              <a:t>© 2000 Microsoft Corporation</a:t>
            </a:r>
          </a:p>
        </p:txBody>
      </p:sp>
    </p:spTree>
  </p:cSld>
  <p:clrMapOvr>
    <a:masterClrMapping/>
  </p:clrMapOvr>
  <p:transition>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7ECCB811-2205-25C3-F4C8-DA57449A3CA9}"/>
              </a:ext>
            </a:extLst>
          </p:cNvPr>
          <p:cNvSpPr>
            <a:spLocks noGrp="1" noChangeArrowheads="1"/>
          </p:cNvSpPr>
          <p:nvPr>
            <p:ph type="title"/>
          </p:nvPr>
        </p:nvSpPr>
        <p:spPr>
          <a:xfrm>
            <a:off x="685800" y="609600"/>
            <a:ext cx="7772400" cy="976313"/>
          </a:xfrm>
        </p:spPr>
        <p:txBody>
          <a:bodyPr/>
          <a:lstStyle/>
          <a:p>
            <a:r>
              <a:rPr lang="en-US" altLang="en-US" sz="3600"/>
              <a:t>IPSec AH Tunnel Mode</a:t>
            </a:r>
          </a:p>
        </p:txBody>
      </p:sp>
      <p:grpSp>
        <p:nvGrpSpPr>
          <p:cNvPr id="39938" name="Group 3">
            <a:extLst>
              <a:ext uri="{FF2B5EF4-FFF2-40B4-BE49-F238E27FC236}">
                <a16:creationId xmlns:a16="http://schemas.microsoft.com/office/drawing/2014/main" id="{ADE2FCFA-8CB3-3D98-5DCE-E44D47121650}"/>
              </a:ext>
            </a:extLst>
          </p:cNvPr>
          <p:cNvGrpSpPr>
            <a:grpSpLocks/>
          </p:cNvGrpSpPr>
          <p:nvPr/>
        </p:nvGrpSpPr>
        <p:grpSpPr bwMode="auto">
          <a:xfrm>
            <a:off x="1576388" y="1981200"/>
            <a:ext cx="5957887" cy="471488"/>
            <a:chOff x="993" y="1248"/>
            <a:chExt cx="3753" cy="297"/>
          </a:xfrm>
        </p:grpSpPr>
        <p:sp>
          <p:nvSpPr>
            <p:cNvPr id="13316" name="Rectangle 4">
              <a:extLst>
                <a:ext uri="{FF2B5EF4-FFF2-40B4-BE49-F238E27FC236}">
                  <a16:creationId xmlns:a16="http://schemas.microsoft.com/office/drawing/2014/main" id="{6E829DB0-6BB2-1377-1E78-B966485019CA}"/>
                </a:ext>
              </a:extLst>
            </p:cNvPr>
            <p:cNvSpPr>
              <a:spLocks noChangeArrowheads="1"/>
            </p:cNvSpPr>
            <p:nvPr/>
          </p:nvSpPr>
          <p:spPr bwMode="auto">
            <a:xfrm>
              <a:off x="1010" y="1265"/>
              <a:ext cx="109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17" name="Rectangle 5">
              <a:extLst>
                <a:ext uri="{FF2B5EF4-FFF2-40B4-BE49-F238E27FC236}">
                  <a16:creationId xmlns:a16="http://schemas.microsoft.com/office/drawing/2014/main" id="{E0294C50-BB8E-5885-AB9F-58978BFA72E9}"/>
                </a:ext>
              </a:extLst>
            </p:cNvPr>
            <p:cNvSpPr>
              <a:spLocks noChangeArrowheads="1"/>
            </p:cNvSpPr>
            <p:nvPr/>
          </p:nvSpPr>
          <p:spPr bwMode="auto">
            <a:xfrm>
              <a:off x="2114" y="1265"/>
              <a:ext cx="808"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18" name="Rectangle 6">
              <a:extLst>
                <a:ext uri="{FF2B5EF4-FFF2-40B4-BE49-F238E27FC236}">
                  <a16:creationId xmlns:a16="http://schemas.microsoft.com/office/drawing/2014/main" id="{29938946-5BA1-280B-4561-5B894D5FC467}"/>
                </a:ext>
              </a:extLst>
            </p:cNvPr>
            <p:cNvSpPr>
              <a:spLocks noChangeArrowheads="1"/>
            </p:cNvSpPr>
            <p:nvPr/>
          </p:nvSpPr>
          <p:spPr bwMode="auto">
            <a:xfrm>
              <a:off x="2930" y="1265"/>
              <a:ext cx="181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19" name="Rectangle 7">
              <a:extLst>
                <a:ext uri="{FF2B5EF4-FFF2-40B4-BE49-F238E27FC236}">
                  <a16:creationId xmlns:a16="http://schemas.microsoft.com/office/drawing/2014/main" id="{75628E05-7CCF-19F0-2AC4-B0FA511887A5}"/>
                </a:ext>
              </a:extLst>
            </p:cNvPr>
            <p:cNvSpPr>
              <a:spLocks noChangeArrowheads="1"/>
            </p:cNvSpPr>
            <p:nvPr/>
          </p:nvSpPr>
          <p:spPr bwMode="auto">
            <a:xfrm>
              <a:off x="3249" y="1248"/>
              <a:ext cx="476"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3320" name="Rectangle 8">
              <a:extLst>
                <a:ext uri="{FF2B5EF4-FFF2-40B4-BE49-F238E27FC236}">
                  <a16:creationId xmlns:a16="http://schemas.microsoft.com/office/drawing/2014/main" id="{3F74526B-B96B-46C2-7759-F02945CA18AC}"/>
                </a:ext>
              </a:extLst>
            </p:cNvPr>
            <p:cNvSpPr>
              <a:spLocks noChangeArrowheads="1"/>
            </p:cNvSpPr>
            <p:nvPr/>
          </p:nvSpPr>
          <p:spPr bwMode="auto">
            <a:xfrm>
              <a:off x="2097" y="1248"/>
              <a:ext cx="813"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sp>
          <p:nvSpPr>
            <p:cNvPr id="13321" name="Rectangle 9">
              <a:extLst>
                <a:ext uri="{FF2B5EF4-FFF2-40B4-BE49-F238E27FC236}">
                  <a16:creationId xmlns:a16="http://schemas.microsoft.com/office/drawing/2014/main" id="{406E3871-48CB-AA34-B5C7-75D3AD07B738}"/>
                </a:ext>
              </a:extLst>
            </p:cNvPr>
            <p:cNvSpPr>
              <a:spLocks noChangeArrowheads="1"/>
            </p:cNvSpPr>
            <p:nvPr/>
          </p:nvSpPr>
          <p:spPr bwMode="auto">
            <a:xfrm>
              <a:off x="993" y="1248"/>
              <a:ext cx="1032"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grpSp>
      <p:sp>
        <p:nvSpPr>
          <p:cNvPr id="13322" name="Text Box 10">
            <a:extLst>
              <a:ext uri="{FF2B5EF4-FFF2-40B4-BE49-F238E27FC236}">
                <a16:creationId xmlns:a16="http://schemas.microsoft.com/office/drawing/2014/main" id="{34B8359B-81E0-AEA8-C0F0-403467FF6926}"/>
              </a:ext>
            </a:extLst>
          </p:cNvPr>
          <p:cNvSpPr txBox="1">
            <a:spLocks noChangeArrowheads="1"/>
          </p:cNvSpPr>
          <p:nvPr/>
        </p:nvSpPr>
        <p:spPr bwMode="auto">
          <a:xfrm>
            <a:off x="1824038" y="4405313"/>
            <a:ext cx="6877050" cy="366712"/>
          </a:xfrm>
          <a:prstGeom prst="rect">
            <a:avLst/>
          </a:prstGeom>
          <a:noFill/>
          <a:ln>
            <a:noFill/>
          </a:ln>
          <a:effectLst/>
        </p:spPr>
        <p:txBody>
          <a:bodyPr wrap="none">
            <a:spAutoFit/>
          </a:bodyPr>
          <a:lstStyle/>
          <a:p>
            <a:pPr>
              <a:defRPr/>
            </a:pPr>
            <a:r>
              <a:rPr lang="en-US" altLang="en-US" b="1">
                <a:effectLst>
                  <a:outerShdw blurRad="38100" dist="38100" dir="2700000" algn="tl">
                    <a:srgbClr val="000000"/>
                  </a:outerShdw>
                </a:effectLst>
                <a:latin typeface="Arial" panose="020B0604020202020204" pitchFamily="34" charset="0"/>
              </a:rPr>
              <a:t>Integrity hash coverage (except for mutable new IP hdr fields)</a:t>
            </a:r>
          </a:p>
        </p:txBody>
      </p:sp>
      <p:sp>
        <p:nvSpPr>
          <p:cNvPr id="13323" name="Line 11">
            <a:extLst>
              <a:ext uri="{FF2B5EF4-FFF2-40B4-BE49-F238E27FC236}">
                <a16:creationId xmlns:a16="http://schemas.microsoft.com/office/drawing/2014/main" id="{5965BCCF-5029-0A8F-9DCA-54E01624EC98}"/>
              </a:ext>
            </a:extLst>
          </p:cNvPr>
          <p:cNvSpPr>
            <a:spLocks noChangeShapeType="1"/>
          </p:cNvSpPr>
          <p:nvPr/>
        </p:nvSpPr>
        <p:spPr bwMode="auto">
          <a:xfrm>
            <a:off x="333375" y="4295775"/>
            <a:ext cx="8640763" cy="0"/>
          </a:xfrm>
          <a:prstGeom prst="line">
            <a:avLst/>
          </a:prstGeom>
          <a:noFill/>
          <a:ln w="12700">
            <a:solidFill>
              <a:schemeClr val="tx1"/>
            </a:solidFill>
            <a:round/>
            <a:headEnd type="stealth" w="lg" len="med"/>
            <a:tailEnd type="stealth" w="lg" len="me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24" name="Rectangle 12">
            <a:extLst>
              <a:ext uri="{FF2B5EF4-FFF2-40B4-BE49-F238E27FC236}">
                <a16:creationId xmlns:a16="http://schemas.microsoft.com/office/drawing/2014/main" id="{ACABA722-22AF-4AAB-A521-2F6E85CE1AF6}"/>
              </a:ext>
            </a:extLst>
          </p:cNvPr>
          <p:cNvSpPr>
            <a:spLocks noChangeArrowheads="1"/>
          </p:cNvSpPr>
          <p:nvPr/>
        </p:nvSpPr>
        <p:spPr bwMode="auto">
          <a:xfrm>
            <a:off x="346075" y="3533775"/>
            <a:ext cx="1447800" cy="457200"/>
          </a:xfrm>
          <a:prstGeom prst="rect">
            <a:avLst/>
          </a:prstGeom>
          <a:solidFill>
            <a:schemeClr val="accent1"/>
          </a:solidFill>
          <a:ln w="12700">
            <a:solidFill>
              <a:schemeClr val="tx1"/>
            </a:solidFill>
            <a:miter lim="800000"/>
            <a:headEnd/>
            <a:tailEnd/>
          </a:ln>
          <a:effectLst/>
        </p:spPr>
        <p:txBody>
          <a:bodyPr wrap="none" anchor="ctr"/>
          <a:lstStyle/>
          <a:p>
            <a:pPr algn="ctr">
              <a:defRPr/>
            </a:pPr>
            <a:r>
              <a:rPr lang="en-US" altLang="en-US">
                <a:effectLst>
                  <a:outerShdw blurRad="38100" dist="38100" dir="2700000" algn="tl">
                    <a:srgbClr val="000000"/>
                  </a:outerShdw>
                </a:effectLst>
              </a:rPr>
              <a:t>IP Hdr</a:t>
            </a:r>
          </a:p>
        </p:txBody>
      </p:sp>
      <p:sp>
        <p:nvSpPr>
          <p:cNvPr id="13325" name="Rectangle 13">
            <a:extLst>
              <a:ext uri="{FF2B5EF4-FFF2-40B4-BE49-F238E27FC236}">
                <a16:creationId xmlns:a16="http://schemas.microsoft.com/office/drawing/2014/main" id="{AB736EB7-DA4F-AAF1-6F5E-720252957124}"/>
              </a:ext>
            </a:extLst>
          </p:cNvPr>
          <p:cNvSpPr>
            <a:spLocks noChangeArrowheads="1"/>
          </p:cNvSpPr>
          <p:nvPr/>
        </p:nvSpPr>
        <p:spPr bwMode="auto">
          <a:xfrm>
            <a:off x="2784475" y="3533775"/>
            <a:ext cx="228600" cy="454025"/>
          </a:xfrm>
          <a:prstGeom prst="rect">
            <a:avLst/>
          </a:prstGeom>
          <a:noFill/>
          <a:ln>
            <a:noFill/>
          </a:ln>
          <a:effectLst/>
        </p:spPr>
        <p:txBody>
          <a:bodyPr lIns="90488" tIns="44450" rIns="90488" bIns="44450">
            <a:spAutoFit/>
          </a:bodyPr>
          <a:lstStyle/>
          <a:p>
            <a:pPr>
              <a:defRPr/>
            </a:pPr>
            <a:endParaRPr lang="en-US" altLang="en-US">
              <a:effectLst>
                <a:outerShdw blurRad="38100" dist="38100" dir="2700000" algn="tl">
                  <a:srgbClr val="000000"/>
                </a:outerShdw>
              </a:effectLst>
            </a:endParaRPr>
          </a:p>
        </p:txBody>
      </p:sp>
      <p:sp>
        <p:nvSpPr>
          <p:cNvPr id="13326" name="Rectangle 14">
            <a:extLst>
              <a:ext uri="{FF2B5EF4-FFF2-40B4-BE49-F238E27FC236}">
                <a16:creationId xmlns:a16="http://schemas.microsoft.com/office/drawing/2014/main" id="{D38AB17E-ABCF-B34D-7428-0B16493F2B29}"/>
              </a:ext>
            </a:extLst>
          </p:cNvPr>
          <p:cNvSpPr>
            <a:spLocks noChangeArrowheads="1"/>
          </p:cNvSpPr>
          <p:nvPr/>
        </p:nvSpPr>
        <p:spPr bwMode="auto">
          <a:xfrm>
            <a:off x="1717675" y="3533775"/>
            <a:ext cx="1354138" cy="466725"/>
          </a:xfrm>
          <a:prstGeom prst="rect">
            <a:avLst/>
          </a:prstGeom>
          <a:solidFill>
            <a:schemeClr val="hlink"/>
          </a:solidFill>
          <a:ln w="12700">
            <a:solidFill>
              <a:schemeClr val="tx1"/>
            </a:solidFill>
            <a:miter lim="800000"/>
            <a:headEnd/>
            <a:tailEnd/>
          </a:ln>
          <a:effectLst/>
        </p:spPr>
        <p:txBody>
          <a:bodyPr lIns="90488" tIns="44450" rIns="90488" bIns="44450">
            <a:spAutoFit/>
          </a:bodyPr>
          <a:lstStyle/>
          <a:p>
            <a:pPr>
              <a:defRPr/>
            </a:pPr>
            <a:r>
              <a:rPr lang="en-US" altLang="en-US">
                <a:effectLst>
                  <a:outerShdw blurRad="38100" dist="38100" dir="2700000" algn="tl">
                    <a:srgbClr val="000000"/>
                  </a:outerShdw>
                </a:effectLst>
              </a:rPr>
              <a:t>  AH Hdr</a:t>
            </a:r>
          </a:p>
        </p:txBody>
      </p:sp>
      <p:sp>
        <p:nvSpPr>
          <p:cNvPr id="13327" name="Line 15">
            <a:extLst>
              <a:ext uri="{FF2B5EF4-FFF2-40B4-BE49-F238E27FC236}">
                <a16:creationId xmlns:a16="http://schemas.microsoft.com/office/drawing/2014/main" id="{8C980BA5-D3D5-8CF0-D19C-8AED599DAAC0}"/>
              </a:ext>
            </a:extLst>
          </p:cNvPr>
          <p:cNvSpPr>
            <a:spLocks noChangeShapeType="1"/>
          </p:cNvSpPr>
          <p:nvPr/>
        </p:nvSpPr>
        <p:spPr bwMode="auto">
          <a:xfrm flipH="1">
            <a:off x="533400" y="3581400"/>
            <a:ext cx="838200" cy="1447800"/>
          </a:xfrm>
          <a:prstGeom prst="line">
            <a:avLst/>
          </a:prstGeom>
          <a:noFill/>
          <a:ln>
            <a:noFill/>
          </a:ln>
          <a:effectLst/>
        </p:spPr>
        <p:txBody>
          <a:bodyPr wrap="none" lIns="90488" tIns="44450" rIns="90488" bIns="44450">
            <a:spAutoFit/>
          </a:bodyPr>
          <a:lstStyle/>
          <a:p>
            <a:pPr>
              <a:defRPr/>
            </a:pPr>
            <a:endParaRPr lang="en-GB">
              <a:effectLst>
                <a:outerShdw blurRad="38100" dist="38100" dir="2700000" algn="tl">
                  <a:srgbClr val="000000">
                    <a:alpha val="43137"/>
                  </a:srgbClr>
                </a:outerShdw>
              </a:effectLst>
            </a:endParaRPr>
          </a:p>
        </p:txBody>
      </p:sp>
      <p:sp>
        <p:nvSpPr>
          <p:cNvPr id="13328" name="Line 16">
            <a:extLst>
              <a:ext uri="{FF2B5EF4-FFF2-40B4-BE49-F238E27FC236}">
                <a16:creationId xmlns:a16="http://schemas.microsoft.com/office/drawing/2014/main" id="{BE6297CC-EE9F-BE2A-A5F2-067409A0C30F}"/>
              </a:ext>
            </a:extLst>
          </p:cNvPr>
          <p:cNvSpPr>
            <a:spLocks noChangeShapeType="1"/>
          </p:cNvSpPr>
          <p:nvPr/>
        </p:nvSpPr>
        <p:spPr bwMode="auto">
          <a:xfrm flipH="1">
            <a:off x="533400" y="3581400"/>
            <a:ext cx="838200" cy="1447800"/>
          </a:xfrm>
          <a:prstGeom prst="line">
            <a:avLst/>
          </a:prstGeom>
          <a:noFill/>
          <a:ln>
            <a:noFill/>
          </a:ln>
          <a:effectLst/>
        </p:spPr>
        <p:txBody>
          <a:bodyPr lIns="90488" tIns="44450" rIns="90488" bIns="44450">
            <a:spAutoFit/>
          </a:bodyPr>
          <a:lstStyle/>
          <a:p>
            <a:pPr>
              <a:defRPr/>
            </a:pPr>
            <a:endParaRPr lang="en-GB">
              <a:effectLst>
                <a:outerShdw blurRad="38100" dist="38100" dir="2700000" algn="tl">
                  <a:srgbClr val="000000">
                    <a:alpha val="43137"/>
                  </a:srgbClr>
                </a:outerShdw>
              </a:effectLst>
            </a:endParaRPr>
          </a:p>
        </p:txBody>
      </p:sp>
      <p:sp>
        <p:nvSpPr>
          <p:cNvPr id="13329" name="Line 17">
            <a:extLst>
              <a:ext uri="{FF2B5EF4-FFF2-40B4-BE49-F238E27FC236}">
                <a16:creationId xmlns:a16="http://schemas.microsoft.com/office/drawing/2014/main" id="{CD3F397D-C2CC-6DD5-B04D-A83B07661B6E}"/>
              </a:ext>
            </a:extLst>
          </p:cNvPr>
          <p:cNvSpPr>
            <a:spLocks noChangeShapeType="1"/>
          </p:cNvSpPr>
          <p:nvPr/>
        </p:nvSpPr>
        <p:spPr bwMode="auto">
          <a:xfrm>
            <a:off x="1593850" y="2471738"/>
            <a:ext cx="1447800" cy="1012825"/>
          </a:xfrm>
          <a:prstGeom prst="line">
            <a:avLst/>
          </a:prstGeom>
          <a:noFill/>
          <a:ln w="12700">
            <a:solidFill>
              <a:schemeClr val="tx1"/>
            </a:solidFill>
            <a:round/>
            <a:headEnd type="none" w="sm" len="sm"/>
            <a:tailEnd type="triangle" w="sm" len="sm"/>
          </a:ln>
          <a:effectLst/>
        </p:spPr>
        <p:txBody>
          <a:bodyPr/>
          <a:lstStyle/>
          <a:p>
            <a:pPr>
              <a:defRPr/>
            </a:pPr>
            <a:endParaRPr lang="en-GB">
              <a:effectLst>
                <a:outerShdw blurRad="38100" dist="38100" dir="2700000" algn="tl">
                  <a:srgbClr val="000000">
                    <a:alpha val="43137"/>
                  </a:srgbClr>
                </a:outerShdw>
              </a:effectLst>
            </a:endParaRPr>
          </a:p>
        </p:txBody>
      </p:sp>
      <p:sp>
        <p:nvSpPr>
          <p:cNvPr id="13330" name="Line 18">
            <a:extLst>
              <a:ext uri="{FF2B5EF4-FFF2-40B4-BE49-F238E27FC236}">
                <a16:creationId xmlns:a16="http://schemas.microsoft.com/office/drawing/2014/main" id="{D6158789-55F7-5CAD-2CEB-C9DD2F690795}"/>
              </a:ext>
            </a:extLst>
          </p:cNvPr>
          <p:cNvSpPr>
            <a:spLocks noChangeShapeType="1"/>
          </p:cNvSpPr>
          <p:nvPr/>
        </p:nvSpPr>
        <p:spPr bwMode="auto">
          <a:xfrm>
            <a:off x="7537450" y="2482850"/>
            <a:ext cx="1382713" cy="1050925"/>
          </a:xfrm>
          <a:prstGeom prst="line">
            <a:avLst/>
          </a:prstGeom>
          <a:noFill/>
          <a:ln w="12700">
            <a:solidFill>
              <a:schemeClr val="tx1"/>
            </a:solidFill>
            <a:round/>
            <a:headEnd type="none" w="sm" len="sm"/>
            <a:tailEnd type="triangle" w="sm" len="sm"/>
          </a:ln>
          <a:effectLst/>
        </p:spPr>
        <p:txBody>
          <a:bodyPr/>
          <a:lstStyle/>
          <a:p>
            <a:pPr>
              <a:defRPr/>
            </a:pPr>
            <a:endParaRPr lang="en-GB">
              <a:effectLst>
                <a:outerShdw blurRad="38100" dist="38100" dir="2700000" algn="tl">
                  <a:srgbClr val="000000">
                    <a:alpha val="43137"/>
                  </a:srgbClr>
                </a:outerShdw>
              </a:effectLst>
            </a:endParaRPr>
          </a:p>
        </p:txBody>
      </p:sp>
      <p:grpSp>
        <p:nvGrpSpPr>
          <p:cNvPr id="39948" name="Group 19">
            <a:extLst>
              <a:ext uri="{FF2B5EF4-FFF2-40B4-BE49-F238E27FC236}">
                <a16:creationId xmlns:a16="http://schemas.microsoft.com/office/drawing/2014/main" id="{31B54F5C-805E-789A-D621-91AEBA682ECF}"/>
              </a:ext>
            </a:extLst>
          </p:cNvPr>
          <p:cNvGrpSpPr>
            <a:grpSpLocks/>
          </p:cNvGrpSpPr>
          <p:nvPr/>
        </p:nvGrpSpPr>
        <p:grpSpPr bwMode="auto">
          <a:xfrm>
            <a:off x="3013075" y="3517900"/>
            <a:ext cx="5957888" cy="471488"/>
            <a:chOff x="993" y="1248"/>
            <a:chExt cx="3753" cy="297"/>
          </a:xfrm>
        </p:grpSpPr>
        <p:sp>
          <p:nvSpPr>
            <p:cNvPr id="13332" name="Rectangle 20">
              <a:extLst>
                <a:ext uri="{FF2B5EF4-FFF2-40B4-BE49-F238E27FC236}">
                  <a16:creationId xmlns:a16="http://schemas.microsoft.com/office/drawing/2014/main" id="{AFE181D7-360E-61B7-249B-B72EC68308E7}"/>
                </a:ext>
              </a:extLst>
            </p:cNvPr>
            <p:cNvSpPr>
              <a:spLocks noChangeArrowheads="1"/>
            </p:cNvSpPr>
            <p:nvPr/>
          </p:nvSpPr>
          <p:spPr bwMode="auto">
            <a:xfrm>
              <a:off x="1010" y="1265"/>
              <a:ext cx="109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33" name="Rectangle 21">
              <a:extLst>
                <a:ext uri="{FF2B5EF4-FFF2-40B4-BE49-F238E27FC236}">
                  <a16:creationId xmlns:a16="http://schemas.microsoft.com/office/drawing/2014/main" id="{EE7FF30B-C095-23F5-C308-08F7FEA117CC}"/>
                </a:ext>
              </a:extLst>
            </p:cNvPr>
            <p:cNvSpPr>
              <a:spLocks noChangeArrowheads="1"/>
            </p:cNvSpPr>
            <p:nvPr/>
          </p:nvSpPr>
          <p:spPr bwMode="auto">
            <a:xfrm>
              <a:off x="2114" y="1265"/>
              <a:ext cx="808"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34" name="Rectangle 22">
              <a:extLst>
                <a:ext uri="{FF2B5EF4-FFF2-40B4-BE49-F238E27FC236}">
                  <a16:creationId xmlns:a16="http://schemas.microsoft.com/office/drawing/2014/main" id="{08F613AB-2B2E-A779-C31D-6A907D712DB6}"/>
                </a:ext>
              </a:extLst>
            </p:cNvPr>
            <p:cNvSpPr>
              <a:spLocks noChangeArrowheads="1"/>
            </p:cNvSpPr>
            <p:nvPr/>
          </p:nvSpPr>
          <p:spPr bwMode="auto">
            <a:xfrm>
              <a:off x="2930" y="1265"/>
              <a:ext cx="1816" cy="280"/>
            </a:xfrm>
            <a:prstGeom prst="rect">
              <a:avLst/>
            </a:prstGeom>
            <a:solidFill>
              <a:schemeClr val="accent1"/>
            </a:solidFill>
            <a:ln w="12700">
              <a:solidFill>
                <a:schemeClr val="tx1"/>
              </a:solidFill>
              <a:miter lim="800000"/>
              <a:headEnd/>
              <a:tailEnd/>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35" name="Rectangle 23">
              <a:extLst>
                <a:ext uri="{FF2B5EF4-FFF2-40B4-BE49-F238E27FC236}">
                  <a16:creationId xmlns:a16="http://schemas.microsoft.com/office/drawing/2014/main" id="{FC526B9F-B4D6-7ED0-8498-1E4F413AFD1E}"/>
                </a:ext>
              </a:extLst>
            </p:cNvPr>
            <p:cNvSpPr>
              <a:spLocks noChangeArrowheads="1"/>
            </p:cNvSpPr>
            <p:nvPr/>
          </p:nvSpPr>
          <p:spPr bwMode="auto">
            <a:xfrm>
              <a:off x="3249" y="1248"/>
              <a:ext cx="476"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Data</a:t>
              </a:r>
            </a:p>
          </p:txBody>
        </p:sp>
        <p:sp>
          <p:nvSpPr>
            <p:cNvPr id="13336" name="Rectangle 24">
              <a:extLst>
                <a:ext uri="{FF2B5EF4-FFF2-40B4-BE49-F238E27FC236}">
                  <a16:creationId xmlns:a16="http://schemas.microsoft.com/office/drawing/2014/main" id="{BBFC280D-A866-E7B6-4DD3-A1BB51F5F719}"/>
                </a:ext>
              </a:extLst>
            </p:cNvPr>
            <p:cNvSpPr>
              <a:spLocks noChangeArrowheads="1"/>
            </p:cNvSpPr>
            <p:nvPr/>
          </p:nvSpPr>
          <p:spPr bwMode="auto">
            <a:xfrm>
              <a:off x="2097" y="1248"/>
              <a:ext cx="813"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TCP Hdr</a:t>
              </a:r>
            </a:p>
          </p:txBody>
        </p:sp>
        <p:sp>
          <p:nvSpPr>
            <p:cNvPr id="13337" name="Rectangle 25">
              <a:extLst>
                <a:ext uri="{FF2B5EF4-FFF2-40B4-BE49-F238E27FC236}">
                  <a16:creationId xmlns:a16="http://schemas.microsoft.com/office/drawing/2014/main" id="{1E64CC15-BDA6-895E-3478-18CE02FC87BA}"/>
                </a:ext>
              </a:extLst>
            </p:cNvPr>
            <p:cNvSpPr>
              <a:spLocks noChangeArrowheads="1"/>
            </p:cNvSpPr>
            <p:nvPr/>
          </p:nvSpPr>
          <p:spPr bwMode="auto">
            <a:xfrm>
              <a:off x="993" y="1248"/>
              <a:ext cx="1032" cy="286"/>
            </a:xfrm>
            <a:prstGeom prst="rect">
              <a:avLst/>
            </a:prstGeom>
            <a:noFill/>
            <a:ln>
              <a:noFill/>
            </a:ln>
            <a:effectLst/>
          </p:spPr>
          <p:txBody>
            <a:bodyPr wrap="none" lIns="90488" tIns="44450" rIns="90488" bIns="44450">
              <a:spAutoFit/>
            </a:bodyPr>
            <a:lstStyle/>
            <a:p>
              <a:pPr>
                <a:defRPr/>
              </a:pPr>
              <a:r>
                <a:rPr lang="en-US" altLang="en-US">
                  <a:effectLst>
                    <a:outerShdw blurRad="38100" dist="38100" dir="2700000" algn="tl">
                      <a:srgbClr val="000000"/>
                    </a:outerShdw>
                  </a:effectLst>
                </a:rPr>
                <a:t>Orig IP Hdr</a:t>
              </a:r>
            </a:p>
          </p:txBody>
        </p:sp>
      </p:grpSp>
      <p:sp>
        <p:nvSpPr>
          <p:cNvPr id="13338" name="Text Box 26">
            <a:extLst>
              <a:ext uri="{FF2B5EF4-FFF2-40B4-BE49-F238E27FC236}">
                <a16:creationId xmlns:a16="http://schemas.microsoft.com/office/drawing/2014/main" id="{1703DBDF-ECD1-9913-E3EE-45C26563D3F5}"/>
              </a:ext>
            </a:extLst>
          </p:cNvPr>
          <p:cNvSpPr txBox="1">
            <a:spLocks noChangeArrowheads="1"/>
          </p:cNvSpPr>
          <p:nvPr/>
        </p:nvSpPr>
        <p:spPr bwMode="auto">
          <a:xfrm>
            <a:off x="604838" y="5338763"/>
            <a:ext cx="4365625" cy="822325"/>
          </a:xfrm>
          <a:prstGeom prst="rect">
            <a:avLst/>
          </a:prstGeom>
          <a:noFill/>
          <a:ln>
            <a:noFill/>
          </a:ln>
          <a:effectLst/>
        </p:spPr>
        <p:txBody>
          <a:bodyPr>
            <a:spAutoFit/>
          </a:bodyPr>
          <a:lstStyle/>
          <a:p>
            <a:pPr>
              <a:spcBef>
                <a:spcPct val="50000"/>
              </a:spcBef>
              <a:defRPr/>
            </a:pPr>
            <a:r>
              <a:rPr lang="en-US" altLang="en-US" b="1">
                <a:effectLst>
                  <a:outerShdw blurRad="38100" dist="38100" dir="2700000" algn="tl">
                    <a:srgbClr val="000000">
                      <a:alpha val="43137"/>
                    </a:srgbClr>
                  </a:outerShdw>
                </a:effectLst>
                <a:latin typeface="Arial" panose="020B0604020202020204" pitchFamily="34" charset="0"/>
              </a:rPr>
              <a:t>New IP header with source &amp; destination IP address</a:t>
            </a:r>
          </a:p>
        </p:txBody>
      </p:sp>
      <p:sp>
        <p:nvSpPr>
          <p:cNvPr id="13339" name="AutoShape 27">
            <a:extLst>
              <a:ext uri="{FF2B5EF4-FFF2-40B4-BE49-F238E27FC236}">
                <a16:creationId xmlns:a16="http://schemas.microsoft.com/office/drawing/2014/main" id="{D8607AC4-2245-98EE-DF9C-578D06ED142F}"/>
              </a:ext>
            </a:extLst>
          </p:cNvPr>
          <p:cNvSpPr>
            <a:spLocks/>
          </p:cNvSpPr>
          <p:nvPr/>
        </p:nvSpPr>
        <p:spPr bwMode="auto">
          <a:xfrm rot="16204929">
            <a:off x="436563" y="3971925"/>
            <a:ext cx="1149350" cy="1358900"/>
          </a:xfrm>
          <a:prstGeom prst="leftBrace">
            <a:avLst>
              <a:gd name="adj1" fmla="val 9853"/>
              <a:gd name="adj2" fmla="val 46495"/>
            </a:avLst>
          </a:prstGeom>
          <a:noFill/>
          <a:ln w="12700">
            <a:solidFill>
              <a:schemeClr val="tx1"/>
            </a:solidFill>
            <a:round/>
            <a:headEnd type="none" w="sm" len="sm"/>
            <a:tailEnd type="none" w="sm" len="sm"/>
          </a:ln>
          <a:effectLst/>
        </p:spPr>
        <p:txBody>
          <a:bodyPr wrap="none" anchor="ctr"/>
          <a:lstStyle/>
          <a:p>
            <a:pPr>
              <a:defRPr/>
            </a:pPr>
            <a:endParaRPr lang="en-GB">
              <a:effectLst>
                <a:outerShdw blurRad="38100" dist="38100" dir="2700000" algn="tl">
                  <a:srgbClr val="000000">
                    <a:alpha val="43137"/>
                  </a:srgbClr>
                </a:outerShdw>
              </a:effectLst>
            </a:endParaRPr>
          </a:p>
        </p:txBody>
      </p:sp>
      <p:sp>
        <p:nvSpPr>
          <p:cNvPr id="13340" name="Text Box 28">
            <a:extLst>
              <a:ext uri="{FF2B5EF4-FFF2-40B4-BE49-F238E27FC236}">
                <a16:creationId xmlns:a16="http://schemas.microsoft.com/office/drawing/2014/main" id="{50EE076F-C128-AC05-F207-63CCAB42A0EF}"/>
              </a:ext>
            </a:extLst>
          </p:cNvPr>
          <p:cNvSpPr txBox="1">
            <a:spLocks noChangeArrowheads="1"/>
          </p:cNvSpPr>
          <p:nvPr/>
        </p:nvSpPr>
        <p:spPr bwMode="auto">
          <a:xfrm>
            <a:off x="6781800" y="6623050"/>
            <a:ext cx="2362200" cy="228600"/>
          </a:xfrm>
          <a:prstGeom prst="rect">
            <a:avLst/>
          </a:prstGeom>
          <a:noFill/>
          <a:ln>
            <a:noFill/>
          </a:ln>
          <a:effectLst/>
        </p:spPr>
        <p:txBody>
          <a:bodyPr lIns="182562" tIns="46038" rIns="182562" bIns="46038">
            <a:spAutoFit/>
          </a:bodyPr>
          <a:lstStyle/>
          <a:p>
            <a:pPr algn="ctr">
              <a:lnSpc>
                <a:spcPct val="90000"/>
              </a:lnSpc>
              <a:spcBef>
                <a:spcPct val="50000"/>
              </a:spcBef>
              <a:buClr>
                <a:schemeClr val="tx2"/>
              </a:buClr>
              <a:buSzPct val="75000"/>
              <a:buFont typeface="Wingdings" pitchFamily="2" charset="2"/>
              <a:buNone/>
              <a:defRPr/>
            </a:pPr>
            <a:r>
              <a:rPr lang="en-US" altLang="en-US" sz="1000">
                <a:effectLst>
                  <a:outerShdw blurRad="38100" dist="38100" dir="2700000" algn="tl">
                    <a:srgbClr val="000000">
                      <a:alpha val="43137"/>
                    </a:srgbClr>
                  </a:outerShdw>
                </a:effectLst>
                <a:latin typeface="Arial" panose="020B0604020202020204" pitchFamily="34" charset="0"/>
              </a:rPr>
              <a:t>© 2000 Microsoft Corporation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C08AFB4A-7279-2A14-647C-B7C8143B7FF2}"/>
              </a:ext>
            </a:extLst>
          </p:cNvPr>
          <p:cNvSpPr>
            <a:spLocks noGrp="1" noChangeArrowheads="1"/>
          </p:cNvSpPr>
          <p:nvPr>
            <p:ph type="title"/>
          </p:nvPr>
        </p:nvSpPr>
        <p:spPr/>
        <p:txBody>
          <a:bodyPr/>
          <a:lstStyle/>
          <a:p>
            <a:r>
              <a:rPr lang="en-US" altLang="en-US"/>
              <a:t>Internet Key Exchange (IKE)</a:t>
            </a:r>
          </a:p>
        </p:txBody>
      </p:sp>
      <p:sp>
        <p:nvSpPr>
          <p:cNvPr id="6147" name="Rectangle 3">
            <a:extLst>
              <a:ext uri="{FF2B5EF4-FFF2-40B4-BE49-F238E27FC236}">
                <a16:creationId xmlns:a16="http://schemas.microsoft.com/office/drawing/2014/main" id="{8136BDFE-E4A4-1356-EBB8-A51C8A49459A}"/>
              </a:ext>
            </a:extLst>
          </p:cNvPr>
          <p:cNvSpPr>
            <a:spLocks noGrp="1" noChangeArrowheads="1"/>
          </p:cNvSpPr>
          <p:nvPr>
            <p:ph type="body" idx="1"/>
          </p:nvPr>
        </p:nvSpPr>
        <p:spPr/>
        <p:txBody>
          <a:bodyPr/>
          <a:lstStyle/>
          <a:p>
            <a:pPr>
              <a:defRPr/>
            </a:pPr>
            <a:r>
              <a:rPr lang="en-US" altLang="en-US"/>
              <a:t>Phase I</a:t>
            </a:r>
          </a:p>
          <a:p>
            <a:pPr lvl="1">
              <a:defRPr/>
            </a:pPr>
            <a:r>
              <a:rPr lang="en-US" altLang="en-US"/>
              <a:t>Establish a secure channel(ISAKMP SA)</a:t>
            </a:r>
          </a:p>
          <a:p>
            <a:pPr lvl="1">
              <a:defRPr/>
            </a:pPr>
            <a:r>
              <a:rPr lang="en-US" altLang="en-US"/>
              <a:t>Authenticate computer identity</a:t>
            </a:r>
          </a:p>
          <a:p>
            <a:pPr>
              <a:defRPr/>
            </a:pPr>
            <a:r>
              <a:rPr lang="en-US" altLang="en-US"/>
              <a:t>Phase II</a:t>
            </a:r>
          </a:p>
          <a:p>
            <a:pPr lvl="1">
              <a:defRPr/>
            </a:pPr>
            <a:r>
              <a:rPr lang="en-US" altLang="en-US"/>
              <a:t>Establishes a secure channel between computers intended for the transmission of data (IPSec SA)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F8B68BE3-4679-14D1-5A3D-AD084F1F012B}"/>
              </a:ext>
            </a:extLst>
          </p:cNvPr>
          <p:cNvSpPr>
            <a:spLocks noGrp="1" noChangeArrowheads="1"/>
          </p:cNvSpPr>
          <p:nvPr>
            <p:ph type="title"/>
          </p:nvPr>
        </p:nvSpPr>
        <p:spPr/>
        <p:txBody>
          <a:bodyPr/>
          <a:lstStyle/>
          <a:p>
            <a:r>
              <a:rPr lang="en-US" altLang="en-US"/>
              <a:t>Main Mode</a:t>
            </a:r>
          </a:p>
        </p:txBody>
      </p:sp>
      <p:sp>
        <p:nvSpPr>
          <p:cNvPr id="7171" name="Rectangle 3">
            <a:extLst>
              <a:ext uri="{FF2B5EF4-FFF2-40B4-BE49-F238E27FC236}">
                <a16:creationId xmlns:a16="http://schemas.microsoft.com/office/drawing/2014/main" id="{46829330-CA2A-FCD8-D707-1C4210B39FB9}"/>
              </a:ext>
            </a:extLst>
          </p:cNvPr>
          <p:cNvSpPr>
            <a:spLocks noGrp="1" noChangeArrowheads="1"/>
          </p:cNvSpPr>
          <p:nvPr>
            <p:ph type="body" idx="1"/>
          </p:nvPr>
        </p:nvSpPr>
        <p:spPr/>
        <p:txBody>
          <a:bodyPr/>
          <a:lstStyle/>
          <a:p>
            <a:pPr>
              <a:defRPr/>
            </a:pPr>
            <a:r>
              <a:rPr lang="en-US" altLang="en-US"/>
              <a:t>Main mode negotiates an ISAKMP SA which will be used to create IPSec Sas</a:t>
            </a:r>
          </a:p>
          <a:p>
            <a:pPr>
              <a:defRPr/>
            </a:pPr>
            <a:r>
              <a:rPr lang="en-US" altLang="en-US"/>
              <a:t>Three steps</a:t>
            </a:r>
          </a:p>
          <a:p>
            <a:pPr lvl="1">
              <a:defRPr/>
            </a:pPr>
            <a:r>
              <a:rPr lang="en-US" altLang="en-US"/>
              <a:t>SA negotiation</a:t>
            </a:r>
          </a:p>
          <a:p>
            <a:pPr lvl="1">
              <a:defRPr/>
            </a:pPr>
            <a:r>
              <a:rPr lang="en-US" altLang="en-US"/>
              <a:t>Diffie-Hellman and nonce exchange</a:t>
            </a:r>
          </a:p>
          <a:p>
            <a:pPr lvl="1">
              <a:defRPr/>
            </a:pPr>
            <a:r>
              <a:rPr lang="en-US" altLang="en-US"/>
              <a:t>Authentication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DC88A8DD-A7CD-3B12-6981-4793105D52A6}"/>
              </a:ext>
            </a:extLst>
          </p:cNvPr>
          <p:cNvSpPr>
            <a:spLocks noGrp="1" noChangeArrowheads="1"/>
          </p:cNvSpPr>
          <p:nvPr>
            <p:ph type="title"/>
          </p:nvPr>
        </p:nvSpPr>
        <p:spPr/>
        <p:txBody>
          <a:bodyPr/>
          <a:lstStyle/>
          <a:p>
            <a:r>
              <a:rPr lang="en-US" altLang="en-US"/>
              <a:t>Main Mode (Kerberos)</a:t>
            </a:r>
          </a:p>
        </p:txBody>
      </p:sp>
      <p:pic>
        <p:nvPicPr>
          <p:cNvPr id="43010" name="Picture 4">
            <a:extLst>
              <a:ext uri="{FF2B5EF4-FFF2-40B4-BE49-F238E27FC236}">
                <a16:creationId xmlns:a16="http://schemas.microsoft.com/office/drawing/2014/main" id="{4ACE16B3-47B5-E901-FAB3-1A4E42303AE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1" name="Picture 5">
            <a:extLst>
              <a:ext uri="{FF2B5EF4-FFF2-40B4-BE49-F238E27FC236}">
                <a16:creationId xmlns:a16="http://schemas.microsoft.com/office/drawing/2014/main" id="{8DC3A773-1003-AAAC-777E-56D74204DEA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2" name="Line 6">
            <a:extLst>
              <a:ext uri="{FF2B5EF4-FFF2-40B4-BE49-F238E27FC236}">
                <a16:creationId xmlns:a16="http://schemas.microsoft.com/office/drawing/2014/main" id="{5D8F429C-87EC-1FA9-A50A-313852688FD7}"/>
              </a:ext>
            </a:extLst>
          </p:cNvPr>
          <p:cNvSpPr>
            <a:spLocks noChangeShapeType="1"/>
          </p:cNvSpPr>
          <p:nvPr/>
        </p:nvSpPr>
        <p:spPr bwMode="auto">
          <a:xfrm>
            <a:off x="2971800" y="3429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9223" name="Line 7">
            <a:extLst>
              <a:ext uri="{FF2B5EF4-FFF2-40B4-BE49-F238E27FC236}">
                <a16:creationId xmlns:a16="http://schemas.microsoft.com/office/drawing/2014/main" id="{FCDC985D-6CF1-2105-535A-838C72A9832F}"/>
              </a:ext>
            </a:extLst>
          </p:cNvPr>
          <p:cNvSpPr>
            <a:spLocks noChangeShapeType="1"/>
          </p:cNvSpPr>
          <p:nvPr/>
        </p:nvSpPr>
        <p:spPr bwMode="auto">
          <a:xfrm flipH="1">
            <a:off x="2971800" y="36576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9224" name="Line 8">
            <a:extLst>
              <a:ext uri="{FF2B5EF4-FFF2-40B4-BE49-F238E27FC236}">
                <a16:creationId xmlns:a16="http://schemas.microsoft.com/office/drawing/2014/main" id="{5DB69A9C-5306-D030-DAD0-129E92BC915B}"/>
              </a:ext>
            </a:extLst>
          </p:cNvPr>
          <p:cNvSpPr>
            <a:spLocks noChangeShapeType="1"/>
          </p:cNvSpPr>
          <p:nvPr/>
        </p:nvSpPr>
        <p:spPr bwMode="auto">
          <a:xfrm>
            <a:off x="2971800" y="43434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9225" name="Line 9">
            <a:extLst>
              <a:ext uri="{FF2B5EF4-FFF2-40B4-BE49-F238E27FC236}">
                <a16:creationId xmlns:a16="http://schemas.microsoft.com/office/drawing/2014/main" id="{5ECD94DB-708C-D56E-06E4-95D55893AD34}"/>
              </a:ext>
            </a:extLst>
          </p:cNvPr>
          <p:cNvSpPr>
            <a:spLocks noChangeShapeType="1"/>
          </p:cNvSpPr>
          <p:nvPr/>
        </p:nvSpPr>
        <p:spPr bwMode="auto">
          <a:xfrm flipH="1">
            <a:off x="2971800" y="4572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9226" name="Line 10">
            <a:extLst>
              <a:ext uri="{FF2B5EF4-FFF2-40B4-BE49-F238E27FC236}">
                <a16:creationId xmlns:a16="http://schemas.microsoft.com/office/drawing/2014/main" id="{F567B272-BB14-ED75-1B02-70079BF723B8}"/>
              </a:ext>
            </a:extLst>
          </p:cNvPr>
          <p:cNvSpPr>
            <a:spLocks noChangeShapeType="1"/>
          </p:cNvSpPr>
          <p:nvPr/>
        </p:nvSpPr>
        <p:spPr bwMode="auto">
          <a:xfrm>
            <a:off x="2971800" y="52578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9227" name="Line 11">
            <a:extLst>
              <a:ext uri="{FF2B5EF4-FFF2-40B4-BE49-F238E27FC236}">
                <a16:creationId xmlns:a16="http://schemas.microsoft.com/office/drawing/2014/main" id="{4FBBECF4-25A4-9EED-5703-BA9E51C7A875}"/>
              </a:ext>
            </a:extLst>
          </p:cNvPr>
          <p:cNvSpPr>
            <a:spLocks noChangeShapeType="1"/>
          </p:cNvSpPr>
          <p:nvPr/>
        </p:nvSpPr>
        <p:spPr bwMode="auto">
          <a:xfrm flipH="1">
            <a:off x="2971800" y="54864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9228" name="Text Box 12">
            <a:extLst>
              <a:ext uri="{FF2B5EF4-FFF2-40B4-BE49-F238E27FC236}">
                <a16:creationId xmlns:a16="http://schemas.microsoft.com/office/drawing/2014/main" id="{8C88EE20-CB3B-2D3C-CF57-4B59A77388A3}"/>
              </a:ext>
            </a:extLst>
          </p:cNvPr>
          <p:cNvSpPr txBox="1">
            <a:spLocks noChangeArrowheads="1"/>
          </p:cNvSpPr>
          <p:nvPr/>
        </p:nvSpPr>
        <p:spPr bwMode="auto">
          <a:xfrm>
            <a:off x="1905000" y="2590800"/>
            <a:ext cx="914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Initiator</a:t>
            </a:r>
          </a:p>
        </p:txBody>
      </p:sp>
      <p:sp>
        <p:nvSpPr>
          <p:cNvPr id="9229" name="Text Box 13">
            <a:extLst>
              <a:ext uri="{FF2B5EF4-FFF2-40B4-BE49-F238E27FC236}">
                <a16:creationId xmlns:a16="http://schemas.microsoft.com/office/drawing/2014/main" id="{72C42DBF-98BD-0D59-2B06-C3FC93907C87}"/>
              </a:ext>
            </a:extLst>
          </p:cNvPr>
          <p:cNvSpPr txBox="1">
            <a:spLocks noChangeArrowheads="1"/>
          </p:cNvSpPr>
          <p:nvPr/>
        </p:nvSpPr>
        <p:spPr bwMode="auto">
          <a:xfrm>
            <a:off x="6248400" y="2574925"/>
            <a:ext cx="10668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Responder</a:t>
            </a:r>
          </a:p>
        </p:txBody>
      </p:sp>
      <p:sp>
        <p:nvSpPr>
          <p:cNvPr id="9230" name="Text Box 14">
            <a:extLst>
              <a:ext uri="{FF2B5EF4-FFF2-40B4-BE49-F238E27FC236}">
                <a16:creationId xmlns:a16="http://schemas.microsoft.com/office/drawing/2014/main" id="{FD792606-CC65-3A5E-DAB0-2C40CD37D947}"/>
              </a:ext>
            </a:extLst>
          </p:cNvPr>
          <p:cNvSpPr txBox="1">
            <a:spLocks noChangeArrowheads="1"/>
          </p:cNvSpPr>
          <p:nvPr/>
        </p:nvSpPr>
        <p:spPr bwMode="auto">
          <a:xfrm>
            <a:off x="1143000" y="3260725"/>
            <a:ext cx="2057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SA Proposals</a:t>
            </a:r>
          </a:p>
        </p:txBody>
      </p:sp>
      <p:sp>
        <p:nvSpPr>
          <p:cNvPr id="9231" name="Text Box 15">
            <a:extLst>
              <a:ext uri="{FF2B5EF4-FFF2-40B4-BE49-F238E27FC236}">
                <a16:creationId xmlns:a16="http://schemas.microsoft.com/office/drawing/2014/main" id="{D31444F5-577E-D0A7-A29F-B9C13969693E}"/>
              </a:ext>
            </a:extLst>
          </p:cNvPr>
          <p:cNvSpPr txBox="1">
            <a:spLocks noChangeArrowheads="1"/>
          </p:cNvSpPr>
          <p:nvPr/>
        </p:nvSpPr>
        <p:spPr bwMode="auto">
          <a:xfrm>
            <a:off x="6172200" y="3505200"/>
            <a:ext cx="25146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Selected SA Proposal</a:t>
            </a:r>
          </a:p>
        </p:txBody>
      </p:sp>
      <p:sp>
        <p:nvSpPr>
          <p:cNvPr id="9232" name="Text Box 16">
            <a:extLst>
              <a:ext uri="{FF2B5EF4-FFF2-40B4-BE49-F238E27FC236}">
                <a16:creationId xmlns:a16="http://schemas.microsoft.com/office/drawing/2014/main" id="{CBD2C339-FB3D-BE5C-B368-8B6EB15A4287}"/>
              </a:ext>
            </a:extLst>
          </p:cNvPr>
          <p:cNvSpPr txBox="1">
            <a:spLocks noChangeArrowheads="1"/>
          </p:cNvSpPr>
          <p:nvPr/>
        </p:nvSpPr>
        <p:spPr bwMode="auto">
          <a:xfrm>
            <a:off x="0" y="4114800"/>
            <a:ext cx="3276600" cy="822325"/>
          </a:xfrm>
          <a:prstGeom prst="rect">
            <a:avLst/>
          </a:prstGeom>
          <a:noFill/>
          <a:ln>
            <a:noFill/>
          </a:ln>
          <a:effectLst/>
        </p:spPr>
        <p:txBody>
          <a:bodyPr/>
          <a:lstStyle/>
          <a:p>
            <a:pPr>
              <a:spcBef>
                <a:spcPct val="50000"/>
              </a:spcBef>
              <a:defRPr/>
            </a:pPr>
            <a:r>
              <a:rPr lang="en-US" altLang="en-US" sz="1500">
                <a:effectLst>
                  <a:outerShdw blurRad="38100" dist="38100" dir="2700000" algn="tl">
                    <a:srgbClr val="000000">
                      <a:alpha val="43137"/>
                    </a:srgbClr>
                  </a:outerShdw>
                </a:effectLst>
              </a:rPr>
              <a:t>Header, D-H Key Exchange, Nonce</a:t>
            </a:r>
            <a:r>
              <a:rPr lang="en-US" altLang="en-US" sz="1500" baseline="-25000">
                <a:effectLst>
                  <a:outerShdw blurRad="38100" dist="38100" dir="2700000" algn="tl">
                    <a:srgbClr val="000000">
                      <a:alpha val="43137"/>
                    </a:srgbClr>
                  </a:outerShdw>
                </a:effectLst>
              </a:rPr>
              <a:t>i</a:t>
            </a:r>
            <a:r>
              <a:rPr lang="en-US" altLang="en-US" sz="1500">
                <a:effectLst>
                  <a:outerShdw blurRad="38100" dist="38100" dir="2700000" algn="tl">
                    <a:srgbClr val="000000">
                      <a:alpha val="43137"/>
                    </a:srgbClr>
                  </a:outerShdw>
                </a:effectLst>
              </a:rPr>
              <a:t>, Kerberos Token</a:t>
            </a:r>
            <a:r>
              <a:rPr lang="en-US" altLang="en-US" sz="1500" baseline="-25000">
                <a:effectLst>
                  <a:outerShdw blurRad="38100" dist="38100" dir="2700000" algn="tl">
                    <a:srgbClr val="000000">
                      <a:alpha val="43137"/>
                    </a:srgbClr>
                  </a:outerShdw>
                </a:effectLst>
              </a:rPr>
              <a:t>i</a:t>
            </a:r>
          </a:p>
        </p:txBody>
      </p:sp>
      <p:sp>
        <p:nvSpPr>
          <p:cNvPr id="9233" name="Text Box 17">
            <a:extLst>
              <a:ext uri="{FF2B5EF4-FFF2-40B4-BE49-F238E27FC236}">
                <a16:creationId xmlns:a16="http://schemas.microsoft.com/office/drawing/2014/main" id="{6F158FAF-1D11-4400-34C2-013A942F26B4}"/>
              </a:ext>
            </a:extLst>
          </p:cNvPr>
          <p:cNvSpPr txBox="1">
            <a:spLocks noChangeArrowheads="1"/>
          </p:cNvSpPr>
          <p:nvPr/>
        </p:nvSpPr>
        <p:spPr bwMode="auto">
          <a:xfrm>
            <a:off x="6172200" y="4419600"/>
            <a:ext cx="3200400" cy="7778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D-H Key Exchange, Nonce</a:t>
            </a:r>
            <a:r>
              <a:rPr lang="en-US" altLang="en-US" sz="1500" baseline="-25000">
                <a:effectLst>
                  <a:outerShdw blurRad="38100" dist="38100" dir="2700000" algn="tl">
                    <a:srgbClr val="000000">
                      <a:alpha val="43137"/>
                    </a:srgbClr>
                  </a:outerShdw>
                </a:effectLst>
              </a:rPr>
              <a:t>r</a:t>
            </a:r>
            <a:r>
              <a:rPr lang="en-US" altLang="en-US" sz="1500">
                <a:effectLst>
                  <a:outerShdw blurRad="38100" dist="38100" dir="2700000" algn="tl">
                    <a:srgbClr val="000000">
                      <a:alpha val="43137"/>
                    </a:srgbClr>
                  </a:outerShdw>
                </a:effectLst>
              </a:rPr>
              <a:t>, Kerberos Token</a:t>
            </a:r>
            <a:r>
              <a:rPr lang="en-US" altLang="en-US" sz="1500" baseline="-25000">
                <a:effectLst>
                  <a:outerShdw blurRad="38100" dist="38100" dir="2700000" algn="tl">
                    <a:srgbClr val="000000">
                      <a:alpha val="43137"/>
                    </a:srgbClr>
                  </a:outerShdw>
                </a:effectLst>
              </a:rPr>
              <a:t>r</a:t>
            </a:r>
          </a:p>
          <a:p>
            <a:pPr>
              <a:spcBef>
                <a:spcPct val="50000"/>
              </a:spcBef>
              <a:defRPr/>
            </a:pPr>
            <a:endParaRPr lang="en-US" altLang="en-US" sz="1500" baseline="-25000">
              <a:effectLst>
                <a:outerShdw blurRad="38100" dist="38100" dir="2700000" algn="tl">
                  <a:srgbClr val="000000">
                    <a:alpha val="43137"/>
                  </a:srgbClr>
                </a:outerShdw>
              </a:effectLst>
            </a:endParaRPr>
          </a:p>
        </p:txBody>
      </p:sp>
      <p:sp>
        <p:nvSpPr>
          <p:cNvPr id="9236" name="Text Box 20">
            <a:extLst>
              <a:ext uri="{FF2B5EF4-FFF2-40B4-BE49-F238E27FC236}">
                <a16:creationId xmlns:a16="http://schemas.microsoft.com/office/drawing/2014/main" id="{221CF9EC-6F24-E3E3-C397-F6E5BAA887F4}"/>
              </a:ext>
            </a:extLst>
          </p:cNvPr>
          <p:cNvSpPr txBox="1">
            <a:spLocks noChangeArrowheads="1"/>
          </p:cNvSpPr>
          <p:nvPr/>
        </p:nvSpPr>
        <p:spPr bwMode="auto">
          <a:xfrm>
            <a:off x="1447800" y="5029200"/>
            <a:ext cx="1676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Id</a:t>
            </a:r>
            <a:r>
              <a:rPr lang="en-US" altLang="en-US" sz="1500" baseline="-25000">
                <a:effectLst>
                  <a:outerShdw blurRad="38100" dist="38100" dir="2700000" algn="tl">
                    <a:srgbClr val="000000">
                      <a:alpha val="43137"/>
                    </a:srgbClr>
                  </a:outerShdw>
                </a:effectLst>
              </a:rPr>
              <a:t>i</a:t>
            </a:r>
            <a:r>
              <a:rPr lang="en-US" altLang="en-US" sz="1500">
                <a:effectLst>
                  <a:outerShdw blurRad="38100" dist="38100" dir="2700000" algn="tl">
                    <a:srgbClr val="000000">
                      <a:alpha val="43137"/>
                    </a:srgbClr>
                  </a:outerShdw>
                </a:effectLst>
              </a:rPr>
              <a:t>, Hash</a:t>
            </a:r>
            <a:r>
              <a:rPr lang="en-US" altLang="en-US" sz="1500" baseline="-25000">
                <a:effectLst>
                  <a:outerShdw blurRad="38100" dist="38100" dir="2700000" algn="tl">
                    <a:srgbClr val="000000">
                      <a:alpha val="43137"/>
                    </a:srgbClr>
                  </a:outerShdw>
                </a:effectLst>
              </a:rPr>
              <a:t>i</a:t>
            </a:r>
          </a:p>
        </p:txBody>
      </p:sp>
      <p:sp>
        <p:nvSpPr>
          <p:cNvPr id="9237" name="Text Box 21">
            <a:extLst>
              <a:ext uri="{FF2B5EF4-FFF2-40B4-BE49-F238E27FC236}">
                <a16:creationId xmlns:a16="http://schemas.microsoft.com/office/drawing/2014/main" id="{1D3A2DD4-BEC6-6E27-EBCD-F160573D159F}"/>
              </a:ext>
            </a:extLst>
          </p:cNvPr>
          <p:cNvSpPr txBox="1">
            <a:spLocks noChangeArrowheads="1"/>
          </p:cNvSpPr>
          <p:nvPr/>
        </p:nvSpPr>
        <p:spPr bwMode="auto">
          <a:xfrm>
            <a:off x="6172200" y="5318125"/>
            <a:ext cx="1676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Id</a:t>
            </a:r>
            <a:r>
              <a:rPr lang="en-US" altLang="en-US" sz="1500" baseline="-25000">
                <a:effectLst>
                  <a:outerShdw blurRad="38100" dist="38100" dir="2700000" algn="tl">
                    <a:srgbClr val="000000">
                      <a:alpha val="43137"/>
                    </a:srgbClr>
                  </a:outerShdw>
                </a:effectLst>
              </a:rPr>
              <a:t>r</a:t>
            </a:r>
            <a:r>
              <a:rPr lang="en-US" altLang="en-US" sz="1500">
                <a:effectLst>
                  <a:outerShdw blurRad="38100" dist="38100" dir="2700000" algn="tl">
                    <a:srgbClr val="000000">
                      <a:alpha val="43137"/>
                    </a:srgbClr>
                  </a:outerShdw>
                </a:effectLst>
              </a:rPr>
              <a:t>, Hash</a:t>
            </a:r>
            <a:r>
              <a:rPr lang="en-US" altLang="en-US" sz="1500" baseline="-25000">
                <a:effectLst>
                  <a:outerShdw blurRad="38100" dist="38100" dir="2700000" algn="tl">
                    <a:srgbClr val="000000">
                      <a:alpha val="43137"/>
                    </a:srgbClr>
                  </a:outerShdw>
                </a:effectLst>
              </a:rPr>
              <a:t>r</a:t>
            </a:r>
          </a:p>
        </p:txBody>
      </p:sp>
      <p:sp>
        <p:nvSpPr>
          <p:cNvPr id="9240" name="Rectangle 24">
            <a:extLst>
              <a:ext uri="{FF2B5EF4-FFF2-40B4-BE49-F238E27FC236}">
                <a16:creationId xmlns:a16="http://schemas.microsoft.com/office/drawing/2014/main" id="{AE707B6B-2DAB-DC81-8897-C00CB8DA29C9}"/>
              </a:ext>
            </a:extLst>
          </p:cNvPr>
          <p:cNvSpPr>
            <a:spLocks noChangeArrowheads="1"/>
          </p:cNvSpPr>
          <p:nvPr/>
        </p:nvSpPr>
        <p:spPr bwMode="auto">
          <a:xfrm>
            <a:off x="152400" y="4953000"/>
            <a:ext cx="8839200" cy="1066800"/>
          </a:xfrm>
          <a:prstGeom prst="rect">
            <a:avLst/>
          </a:prstGeom>
          <a:noFill/>
          <a:ln w="9525">
            <a:solidFill>
              <a:srgbClr val="FF00FF"/>
            </a:solidFill>
            <a:prstDash val="dash"/>
            <a:miter lim="800000"/>
            <a:headEnd/>
            <a:tailEnd/>
          </a:ln>
          <a:effectLst/>
        </p:spPr>
        <p:txBody>
          <a:bodyPr wrap="none" anchor="ctr"/>
          <a:lstStyle/>
          <a:p>
            <a:pPr algn="ctr">
              <a:defRPr/>
            </a:pPr>
            <a:endParaRPr lang="en-US" altLang="en-US">
              <a:effectLst>
                <a:outerShdw blurRad="38100" dist="38100" dir="2700000" algn="tl">
                  <a:srgbClr val="000000">
                    <a:alpha val="43137"/>
                  </a:srgbClr>
                </a:outerShdw>
              </a:effectLst>
            </a:endParaRPr>
          </a:p>
        </p:txBody>
      </p:sp>
      <p:sp>
        <p:nvSpPr>
          <p:cNvPr id="9241" name="Text Box 25">
            <a:extLst>
              <a:ext uri="{FF2B5EF4-FFF2-40B4-BE49-F238E27FC236}">
                <a16:creationId xmlns:a16="http://schemas.microsoft.com/office/drawing/2014/main" id="{E0D3BC05-D882-6F65-5E32-0A9E2746CD44}"/>
              </a:ext>
            </a:extLst>
          </p:cNvPr>
          <p:cNvSpPr txBox="1">
            <a:spLocks noChangeArrowheads="1"/>
          </p:cNvSpPr>
          <p:nvPr/>
        </p:nvSpPr>
        <p:spPr bwMode="auto">
          <a:xfrm>
            <a:off x="120650" y="4876800"/>
            <a:ext cx="2012950" cy="320675"/>
          </a:xfrm>
          <a:prstGeom prst="rect">
            <a:avLst/>
          </a:prstGeom>
          <a:noFill/>
          <a:ln>
            <a:noFill/>
          </a:ln>
          <a:effectLst/>
        </p:spPr>
        <p:txBody>
          <a:bodyPr>
            <a:spAutoFit/>
          </a:bodyPr>
          <a:lstStyle/>
          <a:p>
            <a:pPr>
              <a:spcBef>
                <a:spcPct val="50000"/>
              </a:spcBef>
              <a:defRPr/>
            </a:pPr>
            <a:r>
              <a:rPr lang="en-US" altLang="en-US" sz="1500">
                <a:solidFill>
                  <a:srgbClr val="FF00FF"/>
                </a:solidFill>
                <a:effectLst>
                  <a:outerShdw blurRad="38100" dist="38100" dir="2700000" algn="tl">
                    <a:srgbClr val="000000">
                      <a:alpha val="43137"/>
                    </a:srgbClr>
                  </a:outerShdw>
                </a:effectLst>
              </a:rPr>
              <a:t>Encrypted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5DF76386-C08D-C506-6897-76E71623F786}"/>
              </a:ext>
            </a:extLst>
          </p:cNvPr>
          <p:cNvSpPr>
            <a:spLocks noGrp="1" noChangeArrowheads="1"/>
          </p:cNvSpPr>
          <p:nvPr>
            <p:ph type="title"/>
          </p:nvPr>
        </p:nvSpPr>
        <p:spPr/>
        <p:txBody>
          <a:bodyPr/>
          <a:lstStyle/>
          <a:p>
            <a:r>
              <a:rPr lang="en-US" altLang="en-US"/>
              <a:t>Main Mode (Certificate)</a:t>
            </a:r>
          </a:p>
        </p:txBody>
      </p:sp>
      <p:pic>
        <p:nvPicPr>
          <p:cNvPr id="44034" name="Picture 4">
            <a:extLst>
              <a:ext uri="{FF2B5EF4-FFF2-40B4-BE49-F238E27FC236}">
                <a16:creationId xmlns:a16="http://schemas.microsoft.com/office/drawing/2014/main" id="{03E1837D-B57D-B69D-AAC9-8A4DD4E9408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035" name="Picture 5">
            <a:extLst>
              <a:ext uri="{FF2B5EF4-FFF2-40B4-BE49-F238E27FC236}">
                <a16:creationId xmlns:a16="http://schemas.microsoft.com/office/drawing/2014/main" id="{B1790FC0-0EB9-8222-DE9C-2FC221A123E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6" name="Line 6">
            <a:extLst>
              <a:ext uri="{FF2B5EF4-FFF2-40B4-BE49-F238E27FC236}">
                <a16:creationId xmlns:a16="http://schemas.microsoft.com/office/drawing/2014/main" id="{E8A91E4C-0B93-D9B7-B318-1F29339F6A67}"/>
              </a:ext>
            </a:extLst>
          </p:cNvPr>
          <p:cNvSpPr>
            <a:spLocks noChangeShapeType="1"/>
          </p:cNvSpPr>
          <p:nvPr/>
        </p:nvSpPr>
        <p:spPr bwMode="auto">
          <a:xfrm>
            <a:off x="2971800" y="3429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0247" name="Line 7">
            <a:extLst>
              <a:ext uri="{FF2B5EF4-FFF2-40B4-BE49-F238E27FC236}">
                <a16:creationId xmlns:a16="http://schemas.microsoft.com/office/drawing/2014/main" id="{24568418-3306-EE79-14C3-254352224A11}"/>
              </a:ext>
            </a:extLst>
          </p:cNvPr>
          <p:cNvSpPr>
            <a:spLocks noChangeShapeType="1"/>
          </p:cNvSpPr>
          <p:nvPr/>
        </p:nvSpPr>
        <p:spPr bwMode="auto">
          <a:xfrm flipH="1">
            <a:off x="2971800" y="36576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0248" name="Line 8">
            <a:extLst>
              <a:ext uri="{FF2B5EF4-FFF2-40B4-BE49-F238E27FC236}">
                <a16:creationId xmlns:a16="http://schemas.microsoft.com/office/drawing/2014/main" id="{C36F24A5-621F-888E-1C3F-B3C00BC76546}"/>
              </a:ext>
            </a:extLst>
          </p:cNvPr>
          <p:cNvSpPr>
            <a:spLocks noChangeShapeType="1"/>
          </p:cNvSpPr>
          <p:nvPr/>
        </p:nvSpPr>
        <p:spPr bwMode="auto">
          <a:xfrm>
            <a:off x="2971800" y="43434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0249" name="Line 9">
            <a:extLst>
              <a:ext uri="{FF2B5EF4-FFF2-40B4-BE49-F238E27FC236}">
                <a16:creationId xmlns:a16="http://schemas.microsoft.com/office/drawing/2014/main" id="{F9438D74-A364-4B6D-5EB3-CCE589D54B98}"/>
              </a:ext>
            </a:extLst>
          </p:cNvPr>
          <p:cNvSpPr>
            <a:spLocks noChangeShapeType="1"/>
          </p:cNvSpPr>
          <p:nvPr/>
        </p:nvSpPr>
        <p:spPr bwMode="auto">
          <a:xfrm flipH="1">
            <a:off x="2971800" y="4572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0250" name="Line 10">
            <a:extLst>
              <a:ext uri="{FF2B5EF4-FFF2-40B4-BE49-F238E27FC236}">
                <a16:creationId xmlns:a16="http://schemas.microsoft.com/office/drawing/2014/main" id="{A589AED7-0F04-8182-7911-010914451D58}"/>
              </a:ext>
            </a:extLst>
          </p:cNvPr>
          <p:cNvSpPr>
            <a:spLocks noChangeShapeType="1"/>
          </p:cNvSpPr>
          <p:nvPr/>
        </p:nvSpPr>
        <p:spPr bwMode="auto">
          <a:xfrm>
            <a:off x="2971800" y="52578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0251" name="Line 11">
            <a:extLst>
              <a:ext uri="{FF2B5EF4-FFF2-40B4-BE49-F238E27FC236}">
                <a16:creationId xmlns:a16="http://schemas.microsoft.com/office/drawing/2014/main" id="{2A35B6B7-851F-AD76-1178-7355E8FE0974}"/>
              </a:ext>
            </a:extLst>
          </p:cNvPr>
          <p:cNvSpPr>
            <a:spLocks noChangeShapeType="1"/>
          </p:cNvSpPr>
          <p:nvPr/>
        </p:nvSpPr>
        <p:spPr bwMode="auto">
          <a:xfrm flipH="1">
            <a:off x="2971800" y="54864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0252" name="Text Box 12">
            <a:extLst>
              <a:ext uri="{FF2B5EF4-FFF2-40B4-BE49-F238E27FC236}">
                <a16:creationId xmlns:a16="http://schemas.microsoft.com/office/drawing/2014/main" id="{606D4D47-7A6A-4D70-1178-AD37A9DEDB9A}"/>
              </a:ext>
            </a:extLst>
          </p:cNvPr>
          <p:cNvSpPr txBox="1">
            <a:spLocks noChangeArrowheads="1"/>
          </p:cNvSpPr>
          <p:nvPr/>
        </p:nvSpPr>
        <p:spPr bwMode="auto">
          <a:xfrm>
            <a:off x="1905000" y="2590800"/>
            <a:ext cx="914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Initiator</a:t>
            </a:r>
          </a:p>
        </p:txBody>
      </p:sp>
      <p:sp>
        <p:nvSpPr>
          <p:cNvPr id="10253" name="Text Box 13">
            <a:extLst>
              <a:ext uri="{FF2B5EF4-FFF2-40B4-BE49-F238E27FC236}">
                <a16:creationId xmlns:a16="http://schemas.microsoft.com/office/drawing/2014/main" id="{66B5355B-D23F-9334-0A27-098ECD70F1B5}"/>
              </a:ext>
            </a:extLst>
          </p:cNvPr>
          <p:cNvSpPr txBox="1">
            <a:spLocks noChangeArrowheads="1"/>
          </p:cNvSpPr>
          <p:nvPr/>
        </p:nvSpPr>
        <p:spPr bwMode="auto">
          <a:xfrm>
            <a:off x="6248400" y="2574925"/>
            <a:ext cx="10668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Responder</a:t>
            </a:r>
          </a:p>
        </p:txBody>
      </p:sp>
      <p:sp>
        <p:nvSpPr>
          <p:cNvPr id="10255" name="Text Box 15">
            <a:extLst>
              <a:ext uri="{FF2B5EF4-FFF2-40B4-BE49-F238E27FC236}">
                <a16:creationId xmlns:a16="http://schemas.microsoft.com/office/drawing/2014/main" id="{EE1B3829-314B-030C-4B5A-65BB5FE1CCF2}"/>
              </a:ext>
            </a:extLst>
          </p:cNvPr>
          <p:cNvSpPr txBox="1">
            <a:spLocks noChangeArrowheads="1"/>
          </p:cNvSpPr>
          <p:nvPr/>
        </p:nvSpPr>
        <p:spPr bwMode="auto">
          <a:xfrm>
            <a:off x="0" y="4175125"/>
            <a:ext cx="3276600" cy="320675"/>
          </a:xfrm>
          <a:prstGeom prst="rect">
            <a:avLst/>
          </a:prstGeom>
          <a:noFill/>
          <a:ln>
            <a:noFill/>
          </a:ln>
          <a:effectLst/>
        </p:spPr>
        <p:txBody>
          <a:bodyPr/>
          <a:lstStyle/>
          <a:p>
            <a:pPr>
              <a:spcBef>
                <a:spcPct val="50000"/>
              </a:spcBef>
              <a:defRPr/>
            </a:pPr>
            <a:r>
              <a:rPr lang="en-US" altLang="en-US" sz="1500">
                <a:effectLst>
                  <a:outerShdw blurRad="38100" dist="38100" dir="2700000" algn="tl">
                    <a:srgbClr val="000000">
                      <a:alpha val="43137"/>
                    </a:srgbClr>
                  </a:outerShdw>
                </a:effectLst>
              </a:rPr>
              <a:t>Header, D-H Key Exchange, Nonce</a:t>
            </a:r>
            <a:r>
              <a:rPr lang="en-US" altLang="en-US" sz="1500" baseline="-25000">
                <a:effectLst>
                  <a:outerShdw blurRad="38100" dist="38100" dir="2700000" algn="tl">
                    <a:srgbClr val="000000">
                      <a:alpha val="43137"/>
                    </a:srgbClr>
                  </a:outerShdw>
                </a:effectLst>
              </a:rPr>
              <a:t>i</a:t>
            </a:r>
          </a:p>
        </p:txBody>
      </p:sp>
      <p:sp>
        <p:nvSpPr>
          <p:cNvPr id="10256" name="Text Box 16">
            <a:extLst>
              <a:ext uri="{FF2B5EF4-FFF2-40B4-BE49-F238E27FC236}">
                <a16:creationId xmlns:a16="http://schemas.microsoft.com/office/drawing/2014/main" id="{B819DB07-7301-0D1A-8080-E843062E917A}"/>
              </a:ext>
            </a:extLst>
          </p:cNvPr>
          <p:cNvSpPr txBox="1">
            <a:spLocks noChangeArrowheads="1"/>
          </p:cNvSpPr>
          <p:nvPr/>
        </p:nvSpPr>
        <p:spPr bwMode="auto">
          <a:xfrm>
            <a:off x="152400" y="5089525"/>
            <a:ext cx="2971800" cy="5492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Id</a:t>
            </a:r>
            <a:r>
              <a:rPr lang="en-US" altLang="en-US" sz="1500" baseline="-25000">
                <a:effectLst>
                  <a:outerShdw blurRad="38100" dist="38100" dir="2700000" algn="tl">
                    <a:srgbClr val="000000">
                      <a:alpha val="43137"/>
                    </a:srgbClr>
                  </a:outerShdw>
                </a:effectLst>
              </a:rPr>
              <a:t>i</a:t>
            </a:r>
            <a:r>
              <a:rPr lang="en-US" altLang="en-US" sz="1500">
                <a:effectLst>
                  <a:outerShdw blurRad="38100" dist="38100" dir="2700000" algn="tl">
                    <a:srgbClr val="000000">
                      <a:alpha val="43137"/>
                    </a:srgbClr>
                  </a:outerShdw>
                </a:effectLst>
              </a:rPr>
              <a:t>, Certificate</a:t>
            </a:r>
            <a:r>
              <a:rPr lang="en-US" altLang="en-US" sz="1500" baseline="-25000">
                <a:effectLst>
                  <a:outerShdw blurRad="38100" dist="38100" dir="2700000" algn="tl">
                    <a:srgbClr val="000000">
                      <a:alpha val="43137"/>
                    </a:srgbClr>
                  </a:outerShdw>
                </a:effectLst>
              </a:rPr>
              <a:t>i</a:t>
            </a:r>
            <a:r>
              <a:rPr lang="en-US" altLang="en-US" sz="1500">
                <a:effectLst>
                  <a:outerShdw blurRad="38100" dist="38100" dir="2700000" algn="tl">
                    <a:srgbClr val="000000">
                      <a:alpha val="43137"/>
                    </a:srgbClr>
                  </a:outerShdw>
                </a:effectLst>
              </a:rPr>
              <a:t>, Signature</a:t>
            </a:r>
            <a:r>
              <a:rPr lang="en-US" altLang="en-US" sz="1500" baseline="-25000">
                <a:effectLst>
                  <a:outerShdw blurRad="38100" dist="38100" dir="2700000" algn="tl">
                    <a:srgbClr val="000000">
                      <a:alpha val="43137"/>
                    </a:srgbClr>
                  </a:outerShdw>
                </a:effectLst>
              </a:rPr>
              <a:t>i</a:t>
            </a:r>
            <a:r>
              <a:rPr lang="en-US" altLang="en-US" sz="1500">
                <a:effectLst>
                  <a:outerShdw blurRad="38100" dist="38100" dir="2700000" algn="tl">
                    <a:srgbClr val="000000">
                      <a:alpha val="43137"/>
                    </a:srgbClr>
                  </a:outerShdw>
                </a:effectLst>
              </a:rPr>
              <a:t>, Certificate Request</a:t>
            </a:r>
            <a:endParaRPr lang="en-US" altLang="en-US" sz="1500" baseline="-25000">
              <a:effectLst>
                <a:outerShdw blurRad="38100" dist="38100" dir="2700000" algn="tl">
                  <a:srgbClr val="000000">
                    <a:alpha val="43137"/>
                  </a:srgbClr>
                </a:outerShdw>
              </a:effectLst>
            </a:endParaRPr>
          </a:p>
        </p:txBody>
      </p:sp>
      <p:sp>
        <p:nvSpPr>
          <p:cNvPr id="10258" name="Text Box 18">
            <a:extLst>
              <a:ext uri="{FF2B5EF4-FFF2-40B4-BE49-F238E27FC236}">
                <a16:creationId xmlns:a16="http://schemas.microsoft.com/office/drawing/2014/main" id="{3B543C57-B30D-451C-54B8-657CB61A6168}"/>
              </a:ext>
            </a:extLst>
          </p:cNvPr>
          <p:cNvSpPr txBox="1">
            <a:spLocks noChangeArrowheads="1"/>
          </p:cNvSpPr>
          <p:nvPr/>
        </p:nvSpPr>
        <p:spPr bwMode="auto">
          <a:xfrm>
            <a:off x="6248400" y="4419600"/>
            <a:ext cx="3200400" cy="5492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D-H Key Exchange, Nonce</a:t>
            </a:r>
            <a:r>
              <a:rPr lang="en-US" altLang="en-US" sz="1500" baseline="-25000">
                <a:effectLst>
                  <a:outerShdw blurRad="38100" dist="38100" dir="2700000" algn="tl">
                    <a:srgbClr val="000000">
                      <a:alpha val="43137"/>
                    </a:srgbClr>
                  </a:outerShdw>
                </a:effectLst>
              </a:rPr>
              <a:t>r</a:t>
            </a:r>
            <a:r>
              <a:rPr lang="en-US" altLang="en-US" sz="1500">
                <a:effectLst>
                  <a:outerShdw blurRad="38100" dist="38100" dir="2700000" algn="tl">
                    <a:srgbClr val="000000">
                      <a:alpha val="43137"/>
                    </a:srgbClr>
                  </a:outerShdw>
                </a:effectLst>
              </a:rPr>
              <a:t>,Certificate Request</a:t>
            </a:r>
            <a:endParaRPr lang="en-US" altLang="en-US" sz="1500" baseline="-25000">
              <a:effectLst>
                <a:outerShdw blurRad="38100" dist="38100" dir="2700000" algn="tl">
                  <a:srgbClr val="000000">
                    <a:alpha val="43137"/>
                  </a:srgbClr>
                </a:outerShdw>
              </a:effectLst>
            </a:endParaRPr>
          </a:p>
        </p:txBody>
      </p:sp>
      <p:sp>
        <p:nvSpPr>
          <p:cNvPr id="10259" name="Text Box 19">
            <a:extLst>
              <a:ext uri="{FF2B5EF4-FFF2-40B4-BE49-F238E27FC236}">
                <a16:creationId xmlns:a16="http://schemas.microsoft.com/office/drawing/2014/main" id="{819F3465-CB7C-FC4C-A075-E7444E5DA4F3}"/>
              </a:ext>
            </a:extLst>
          </p:cNvPr>
          <p:cNvSpPr txBox="1">
            <a:spLocks noChangeArrowheads="1"/>
          </p:cNvSpPr>
          <p:nvPr/>
        </p:nvSpPr>
        <p:spPr bwMode="auto">
          <a:xfrm>
            <a:off x="6248400" y="5318125"/>
            <a:ext cx="2209800" cy="5492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Id</a:t>
            </a:r>
            <a:r>
              <a:rPr lang="en-US" altLang="en-US" sz="1500" baseline="-25000">
                <a:effectLst>
                  <a:outerShdw blurRad="38100" dist="38100" dir="2700000" algn="tl">
                    <a:srgbClr val="000000">
                      <a:alpha val="43137"/>
                    </a:srgbClr>
                  </a:outerShdw>
                </a:effectLst>
              </a:rPr>
              <a:t>r</a:t>
            </a:r>
            <a:r>
              <a:rPr lang="en-US" altLang="en-US" sz="1500">
                <a:effectLst>
                  <a:outerShdw blurRad="38100" dist="38100" dir="2700000" algn="tl">
                    <a:srgbClr val="000000">
                      <a:alpha val="43137"/>
                    </a:srgbClr>
                  </a:outerShdw>
                </a:effectLst>
              </a:rPr>
              <a:t>, Certificate</a:t>
            </a:r>
            <a:r>
              <a:rPr lang="en-US" altLang="en-US" sz="1500" baseline="-25000">
                <a:effectLst>
                  <a:outerShdw blurRad="38100" dist="38100" dir="2700000" algn="tl">
                    <a:srgbClr val="000000">
                      <a:alpha val="43137"/>
                    </a:srgbClr>
                  </a:outerShdw>
                </a:effectLst>
              </a:rPr>
              <a:t>r</a:t>
            </a:r>
            <a:r>
              <a:rPr lang="en-US" altLang="en-US" sz="1500">
                <a:effectLst>
                  <a:outerShdw blurRad="38100" dist="38100" dir="2700000" algn="tl">
                    <a:srgbClr val="000000">
                      <a:alpha val="43137"/>
                    </a:srgbClr>
                  </a:outerShdw>
                </a:effectLst>
              </a:rPr>
              <a:t>, Signature</a:t>
            </a:r>
            <a:r>
              <a:rPr lang="en-US" altLang="en-US" sz="1500" baseline="-25000">
                <a:effectLst>
                  <a:outerShdw blurRad="38100" dist="38100" dir="2700000" algn="tl">
                    <a:srgbClr val="000000">
                      <a:alpha val="43137"/>
                    </a:srgbClr>
                  </a:outerShdw>
                </a:effectLst>
              </a:rPr>
              <a:t>r</a:t>
            </a:r>
          </a:p>
        </p:txBody>
      </p:sp>
      <p:sp>
        <p:nvSpPr>
          <p:cNvPr id="10260" name="Rectangle 20">
            <a:extLst>
              <a:ext uri="{FF2B5EF4-FFF2-40B4-BE49-F238E27FC236}">
                <a16:creationId xmlns:a16="http://schemas.microsoft.com/office/drawing/2014/main" id="{D57D3B4D-F4FE-322A-0C8B-5B39C886D551}"/>
              </a:ext>
            </a:extLst>
          </p:cNvPr>
          <p:cNvSpPr>
            <a:spLocks noChangeArrowheads="1"/>
          </p:cNvSpPr>
          <p:nvPr/>
        </p:nvSpPr>
        <p:spPr bwMode="auto">
          <a:xfrm>
            <a:off x="152400" y="4953000"/>
            <a:ext cx="8839200" cy="1066800"/>
          </a:xfrm>
          <a:prstGeom prst="rect">
            <a:avLst/>
          </a:prstGeom>
          <a:noFill/>
          <a:ln w="9525">
            <a:solidFill>
              <a:srgbClr val="FF00FF"/>
            </a:solidFill>
            <a:prstDash val="dash"/>
            <a:miter lim="800000"/>
            <a:headEnd/>
            <a:tailEnd/>
          </a:ln>
          <a:effectLst/>
        </p:spPr>
        <p:txBody>
          <a:bodyPr wrap="none" anchor="ctr"/>
          <a:lstStyle/>
          <a:p>
            <a:pPr algn="ctr">
              <a:defRPr/>
            </a:pPr>
            <a:endParaRPr lang="en-US" altLang="en-US">
              <a:effectLst>
                <a:outerShdw blurRad="38100" dist="38100" dir="2700000" algn="tl">
                  <a:srgbClr val="000000">
                    <a:alpha val="43137"/>
                  </a:srgbClr>
                </a:outerShdw>
              </a:effectLst>
            </a:endParaRPr>
          </a:p>
        </p:txBody>
      </p:sp>
      <p:sp>
        <p:nvSpPr>
          <p:cNvPr id="10261" name="Text Box 21">
            <a:extLst>
              <a:ext uri="{FF2B5EF4-FFF2-40B4-BE49-F238E27FC236}">
                <a16:creationId xmlns:a16="http://schemas.microsoft.com/office/drawing/2014/main" id="{4E011788-785C-26D9-EED0-A6563A853DA3}"/>
              </a:ext>
            </a:extLst>
          </p:cNvPr>
          <p:cNvSpPr txBox="1">
            <a:spLocks noChangeArrowheads="1"/>
          </p:cNvSpPr>
          <p:nvPr/>
        </p:nvSpPr>
        <p:spPr bwMode="auto">
          <a:xfrm>
            <a:off x="120650" y="4876800"/>
            <a:ext cx="2012950" cy="320675"/>
          </a:xfrm>
          <a:prstGeom prst="rect">
            <a:avLst/>
          </a:prstGeom>
          <a:noFill/>
          <a:ln>
            <a:noFill/>
          </a:ln>
          <a:effectLst/>
        </p:spPr>
        <p:txBody>
          <a:bodyPr>
            <a:spAutoFit/>
          </a:bodyPr>
          <a:lstStyle/>
          <a:p>
            <a:pPr>
              <a:spcBef>
                <a:spcPct val="50000"/>
              </a:spcBef>
              <a:defRPr/>
            </a:pPr>
            <a:r>
              <a:rPr lang="en-US" altLang="en-US" sz="1500">
                <a:solidFill>
                  <a:srgbClr val="FF00FF"/>
                </a:solidFill>
                <a:effectLst>
                  <a:outerShdw blurRad="38100" dist="38100" dir="2700000" algn="tl">
                    <a:srgbClr val="000000">
                      <a:alpha val="43137"/>
                    </a:srgbClr>
                  </a:outerShdw>
                </a:effectLst>
              </a:rPr>
              <a:t>Encrypted</a:t>
            </a:r>
          </a:p>
        </p:txBody>
      </p:sp>
      <p:sp>
        <p:nvSpPr>
          <p:cNvPr id="10262" name="Text Box 22">
            <a:extLst>
              <a:ext uri="{FF2B5EF4-FFF2-40B4-BE49-F238E27FC236}">
                <a16:creationId xmlns:a16="http://schemas.microsoft.com/office/drawing/2014/main" id="{5DF3F690-7381-9D98-73AA-FB54B4BF9255}"/>
              </a:ext>
            </a:extLst>
          </p:cNvPr>
          <p:cNvSpPr txBox="1">
            <a:spLocks noChangeArrowheads="1"/>
          </p:cNvSpPr>
          <p:nvPr/>
        </p:nvSpPr>
        <p:spPr bwMode="auto">
          <a:xfrm>
            <a:off x="1143000" y="3260725"/>
            <a:ext cx="2057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SA Proposals</a:t>
            </a:r>
          </a:p>
        </p:txBody>
      </p:sp>
      <p:sp>
        <p:nvSpPr>
          <p:cNvPr id="10263" name="Text Box 23">
            <a:extLst>
              <a:ext uri="{FF2B5EF4-FFF2-40B4-BE49-F238E27FC236}">
                <a16:creationId xmlns:a16="http://schemas.microsoft.com/office/drawing/2014/main" id="{E6F66163-15ED-7B71-509F-050B40B7B0EC}"/>
              </a:ext>
            </a:extLst>
          </p:cNvPr>
          <p:cNvSpPr txBox="1">
            <a:spLocks noChangeArrowheads="1"/>
          </p:cNvSpPr>
          <p:nvPr/>
        </p:nvSpPr>
        <p:spPr bwMode="auto">
          <a:xfrm>
            <a:off x="6172200" y="3505200"/>
            <a:ext cx="25146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Selected SA Proposal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3F8D13F4-5856-17F8-F80B-F59A86CA16F4}"/>
              </a:ext>
            </a:extLst>
          </p:cNvPr>
          <p:cNvSpPr>
            <a:spLocks noGrp="1" noChangeArrowheads="1"/>
          </p:cNvSpPr>
          <p:nvPr>
            <p:ph type="title"/>
          </p:nvPr>
        </p:nvSpPr>
        <p:spPr/>
        <p:txBody>
          <a:bodyPr/>
          <a:lstStyle/>
          <a:p>
            <a:r>
              <a:rPr lang="en-US" altLang="en-US"/>
              <a:t>Main Mode (Pre-shared Key)</a:t>
            </a:r>
          </a:p>
        </p:txBody>
      </p:sp>
      <p:pic>
        <p:nvPicPr>
          <p:cNvPr id="45058" name="Picture 4">
            <a:extLst>
              <a:ext uri="{FF2B5EF4-FFF2-40B4-BE49-F238E27FC236}">
                <a16:creationId xmlns:a16="http://schemas.microsoft.com/office/drawing/2014/main" id="{005AE7C1-CDE0-AA3B-E420-21FAF3D85E7F}"/>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059" name="Picture 5">
            <a:extLst>
              <a:ext uri="{FF2B5EF4-FFF2-40B4-BE49-F238E27FC236}">
                <a16:creationId xmlns:a16="http://schemas.microsoft.com/office/drawing/2014/main" id="{23278BD3-C4E8-B519-52ED-F6C9B74D9A6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0" name="Line 6">
            <a:extLst>
              <a:ext uri="{FF2B5EF4-FFF2-40B4-BE49-F238E27FC236}">
                <a16:creationId xmlns:a16="http://schemas.microsoft.com/office/drawing/2014/main" id="{A810FC41-423F-004C-A3EB-0B05E43FC4CB}"/>
              </a:ext>
            </a:extLst>
          </p:cNvPr>
          <p:cNvSpPr>
            <a:spLocks noChangeShapeType="1"/>
          </p:cNvSpPr>
          <p:nvPr/>
        </p:nvSpPr>
        <p:spPr bwMode="auto">
          <a:xfrm>
            <a:off x="2971800" y="3429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1271" name="Line 7">
            <a:extLst>
              <a:ext uri="{FF2B5EF4-FFF2-40B4-BE49-F238E27FC236}">
                <a16:creationId xmlns:a16="http://schemas.microsoft.com/office/drawing/2014/main" id="{182FC07A-38D1-6108-8AD0-6E3EF029D6B8}"/>
              </a:ext>
            </a:extLst>
          </p:cNvPr>
          <p:cNvSpPr>
            <a:spLocks noChangeShapeType="1"/>
          </p:cNvSpPr>
          <p:nvPr/>
        </p:nvSpPr>
        <p:spPr bwMode="auto">
          <a:xfrm flipH="1">
            <a:off x="2971800" y="36576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1272" name="Line 8">
            <a:extLst>
              <a:ext uri="{FF2B5EF4-FFF2-40B4-BE49-F238E27FC236}">
                <a16:creationId xmlns:a16="http://schemas.microsoft.com/office/drawing/2014/main" id="{AD51BE5C-A90F-E1F6-74BF-5227DB912899}"/>
              </a:ext>
            </a:extLst>
          </p:cNvPr>
          <p:cNvSpPr>
            <a:spLocks noChangeShapeType="1"/>
          </p:cNvSpPr>
          <p:nvPr/>
        </p:nvSpPr>
        <p:spPr bwMode="auto">
          <a:xfrm>
            <a:off x="2971800" y="43434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1273" name="Line 9">
            <a:extLst>
              <a:ext uri="{FF2B5EF4-FFF2-40B4-BE49-F238E27FC236}">
                <a16:creationId xmlns:a16="http://schemas.microsoft.com/office/drawing/2014/main" id="{0CB48F7A-77EA-76C7-D53C-1CA8850AD74F}"/>
              </a:ext>
            </a:extLst>
          </p:cNvPr>
          <p:cNvSpPr>
            <a:spLocks noChangeShapeType="1"/>
          </p:cNvSpPr>
          <p:nvPr/>
        </p:nvSpPr>
        <p:spPr bwMode="auto">
          <a:xfrm flipH="1">
            <a:off x="2971800" y="4572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1274" name="Line 10">
            <a:extLst>
              <a:ext uri="{FF2B5EF4-FFF2-40B4-BE49-F238E27FC236}">
                <a16:creationId xmlns:a16="http://schemas.microsoft.com/office/drawing/2014/main" id="{2C86D344-62BA-E3BF-71BF-B186C53E3041}"/>
              </a:ext>
            </a:extLst>
          </p:cNvPr>
          <p:cNvSpPr>
            <a:spLocks noChangeShapeType="1"/>
          </p:cNvSpPr>
          <p:nvPr/>
        </p:nvSpPr>
        <p:spPr bwMode="auto">
          <a:xfrm>
            <a:off x="2971800" y="52578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1275" name="Line 11">
            <a:extLst>
              <a:ext uri="{FF2B5EF4-FFF2-40B4-BE49-F238E27FC236}">
                <a16:creationId xmlns:a16="http://schemas.microsoft.com/office/drawing/2014/main" id="{742943C6-4D52-C8DE-3CF2-00EE3C71F798}"/>
              </a:ext>
            </a:extLst>
          </p:cNvPr>
          <p:cNvSpPr>
            <a:spLocks noChangeShapeType="1"/>
          </p:cNvSpPr>
          <p:nvPr/>
        </p:nvSpPr>
        <p:spPr bwMode="auto">
          <a:xfrm flipH="1">
            <a:off x="2971800" y="54864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11276" name="Text Box 12">
            <a:extLst>
              <a:ext uri="{FF2B5EF4-FFF2-40B4-BE49-F238E27FC236}">
                <a16:creationId xmlns:a16="http://schemas.microsoft.com/office/drawing/2014/main" id="{B124D96B-94E9-3754-2E6D-08DE90F8CD1C}"/>
              </a:ext>
            </a:extLst>
          </p:cNvPr>
          <p:cNvSpPr txBox="1">
            <a:spLocks noChangeArrowheads="1"/>
          </p:cNvSpPr>
          <p:nvPr/>
        </p:nvSpPr>
        <p:spPr bwMode="auto">
          <a:xfrm>
            <a:off x="1905000" y="2590800"/>
            <a:ext cx="914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Initiator</a:t>
            </a:r>
          </a:p>
        </p:txBody>
      </p:sp>
      <p:sp>
        <p:nvSpPr>
          <p:cNvPr id="11277" name="Text Box 13">
            <a:extLst>
              <a:ext uri="{FF2B5EF4-FFF2-40B4-BE49-F238E27FC236}">
                <a16:creationId xmlns:a16="http://schemas.microsoft.com/office/drawing/2014/main" id="{EB45678F-E48A-465B-7537-31B2F25F0A39}"/>
              </a:ext>
            </a:extLst>
          </p:cNvPr>
          <p:cNvSpPr txBox="1">
            <a:spLocks noChangeArrowheads="1"/>
          </p:cNvSpPr>
          <p:nvPr/>
        </p:nvSpPr>
        <p:spPr bwMode="auto">
          <a:xfrm>
            <a:off x="6248400" y="2574925"/>
            <a:ext cx="10668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Responder</a:t>
            </a:r>
          </a:p>
        </p:txBody>
      </p:sp>
      <p:sp>
        <p:nvSpPr>
          <p:cNvPr id="11279" name="Text Box 15">
            <a:extLst>
              <a:ext uri="{FF2B5EF4-FFF2-40B4-BE49-F238E27FC236}">
                <a16:creationId xmlns:a16="http://schemas.microsoft.com/office/drawing/2014/main" id="{8E54CF70-5B5A-B1C1-B40F-1ADA58074891}"/>
              </a:ext>
            </a:extLst>
          </p:cNvPr>
          <p:cNvSpPr txBox="1">
            <a:spLocks noChangeArrowheads="1"/>
          </p:cNvSpPr>
          <p:nvPr/>
        </p:nvSpPr>
        <p:spPr bwMode="auto">
          <a:xfrm>
            <a:off x="0" y="4175125"/>
            <a:ext cx="3276600" cy="320675"/>
          </a:xfrm>
          <a:prstGeom prst="rect">
            <a:avLst/>
          </a:prstGeom>
          <a:noFill/>
          <a:ln>
            <a:noFill/>
          </a:ln>
          <a:effectLst/>
        </p:spPr>
        <p:txBody>
          <a:bodyPr/>
          <a:lstStyle/>
          <a:p>
            <a:pPr>
              <a:spcBef>
                <a:spcPct val="50000"/>
              </a:spcBef>
              <a:defRPr/>
            </a:pPr>
            <a:r>
              <a:rPr lang="en-US" altLang="en-US" sz="1500">
                <a:effectLst>
                  <a:outerShdw blurRad="38100" dist="38100" dir="2700000" algn="tl">
                    <a:srgbClr val="000000">
                      <a:alpha val="43137"/>
                    </a:srgbClr>
                  </a:outerShdw>
                </a:effectLst>
              </a:rPr>
              <a:t>Header, D-H Key Exchange, Nonce</a:t>
            </a:r>
            <a:r>
              <a:rPr lang="en-US" altLang="en-US" sz="1500" baseline="-25000">
                <a:effectLst>
                  <a:outerShdw blurRad="38100" dist="38100" dir="2700000" algn="tl">
                    <a:srgbClr val="000000">
                      <a:alpha val="43137"/>
                    </a:srgbClr>
                  </a:outerShdw>
                </a:effectLst>
              </a:rPr>
              <a:t>i</a:t>
            </a:r>
          </a:p>
        </p:txBody>
      </p:sp>
      <p:sp>
        <p:nvSpPr>
          <p:cNvPr id="11280" name="Text Box 16">
            <a:extLst>
              <a:ext uri="{FF2B5EF4-FFF2-40B4-BE49-F238E27FC236}">
                <a16:creationId xmlns:a16="http://schemas.microsoft.com/office/drawing/2014/main" id="{42B2E576-8E5B-1C51-BA63-C2F93F716427}"/>
              </a:ext>
            </a:extLst>
          </p:cNvPr>
          <p:cNvSpPr txBox="1">
            <a:spLocks noChangeArrowheads="1"/>
          </p:cNvSpPr>
          <p:nvPr/>
        </p:nvSpPr>
        <p:spPr bwMode="auto">
          <a:xfrm>
            <a:off x="1447800" y="5089525"/>
            <a:ext cx="1676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Id</a:t>
            </a:r>
            <a:r>
              <a:rPr lang="en-US" altLang="en-US" sz="1500" baseline="-25000">
                <a:effectLst>
                  <a:outerShdw blurRad="38100" dist="38100" dir="2700000" algn="tl">
                    <a:srgbClr val="000000">
                      <a:alpha val="43137"/>
                    </a:srgbClr>
                  </a:outerShdw>
                </a:effectLst>
              </a:rPr>
              <a:t>i</a:t>
            </a:r>
            <a:r>
              <a:rPr lang="en-US" altLang="en-US" sz="1500">
                <a:effectLst>
                  <a:outerShdw blurRad="38100" dist="38100" dir="2700000" algn="tl">
                    <a:srgbClr val="000000">
                      <a:alpha val="43137"/>
                    </a:srgbClr>
                  </a:outerShdw>
                </a:effectLst>
              </a:rPr>
              <a:t>, Hash</a:t>
            </a:r>
            <a:r>
              <a:rPr lang="en-US" altLang="en-US" sz="1500" baseline="-25000">
                <a:effectLst>
                  <a:outerShdw blurRad="38100" dist="38100" dir="2700000" algn="tl">
                    <a:srgbClr val="000000">
                      <a:alpha val="43137"/>
                    </a:srgbClr>
                  </a:outerShdw>
                </a:effectLst>
              </a:rPr>
              <a:t>i</a:t>
            </a:r>
          </a:p>
        </p:txBody>
      </p:sp>
      <p:sp>
        <p:nvSpPr>
          <p:cNvPr id="11282" name="Text Box 18">
            <a:extLst>
              <a:ext uri="{FF2B5EF4-FFF2-40B4-BE49-F238E27FC236}">
                <a16:creationId xmlns:a16="http://schemas.microsoft.com/office/drawing/2014/main" id="{96B557CF-67A8-456D-4FFF-1A2346F06EC2}"/>
              </a:ext>
            </a:extLst>
          </p:cNvPr>
          <p:cNvSpPr txBox="1">
            <a:spLocks noChangeArrowheads="1"/>
          </p:cNvSpPr>
          <p:nvPr/>
        </p:nvSpPr>
        <p:spPr bwMode="auto">
          <a:xfrm>
            <a:off x="6172200" y="4419600"/>
            <a:ext cx="3200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D-H Key Exchange, Nonce</a:t>
            </a:r>
            <a:r>
              <a:rPr lang="en-US" altLang="en-US" sz="1500" baseline="-25000">
                <a:effectLst>
                  <a:outerShdw blurRad="38100" dist="38100" dir="2700000" algn="tl">
                    <a:srgbClr val="000000">
                      <a:alpha val="43137"/>
                    </a:srgbClr>
                  </a:outerShdw>
                </a:effectLst>
              </a:rPr>
              <a:t>r</a:t>
            </a:r>
          </a:p>
        </p:txBody>
      </p:sp>
      <p:sp>
        <p:nvSpPr>
          <p:cNvPr id="11283" name="Text Box 19">
            <a:extLst>
              <a:ext uri="{FF2B5EF4-FFF2-40B4-BE49-F238E27FC236}">
                <a16:creationId xmlns:a16="http://schemas.microsoft.com/office/drawing/2014/main" id="{4A594A55-06D3-FB7D-9E49-EF1AC53ABD3E}"/>
              </a:ext>
            </a:extLst>
          </p:cNvPr>
          <p:cNvSpPr txBox="1">
            <a:spLocks noChangeArrowheads="1"/>
          </p:cNvSpPr>
          <p:nvPr/>
        </p:nvSpPr>
        <p:spPr bwMode="auto">
          <a:xfrm>
            <a:off x="6172200" y="5318125"/>
            <a:ext cx="1676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Id</a:t>
            </a:r>
            <a:r>
              <a:rPr lang="en-US" altLang="en-US" sz="1500" baseline="-25000">
                <a:effectLst>
                  <a:outerShdw blurRad="38100" dist="38100" dir="2700000" algn="tl">
                    <a:srgbClr val="000000">
                      <a:alpha val="43137"/>
                    </a:srgbClr>
                  </a:outerShdw>
                </a:effectLst>
              </a:rPr>
              <a:t>r</a:t>
            </a:r>
            <a:r>
              <a:rPr lang="en-US" altLang="en-US" sz="1500">
                <a:effectLst>
                  <a:outerShdw blurRad="38100" dist="38100" dir="2700000" algn="tl">
                    <a:srgbClr val="000000">
                      <a:alpha val="43137"/>
                    </a:srgbClr>
                  </a:outerShdw>
                </a:effectLst>
              </a:rPr>
              <a:t>, Hash</a:t>
            </a:r>
            <a:r>
              <a:rPr lang="en-US" altLang="en-US" sz="1500" baseline="-25000">
                <a:effectLst>
                  <a:outerShdw blurRad="38100" dist="38100" dir="2700000" algn="tl">
                    <a:srgbClr val="000000">
                      <a:alpha val="43137"/>
                    </a:srgbClr>
                  </a:outerShdw>
                </a:effectLst>
              </a:rPr>
              <a:t>r</a:t>
            </a:r>
          </a:p>
        </p:txBody>
      </p:sp>
      <p:sp>
        <p:nvSpPr>
          <p:cNvPr id="11284" name="Rectangle 20">
            <a:extLst>
              <a:ext uri="{FF2B5EF4-FFF2-40B4-BE49-F238E27FC236}">
                <a16:creationId xmlns:a16="http://schemas.microsoft.com/office/drawing/2014/main" id="{7BB162BE-F9EF-8700-3AAD-1156B9E50F9D}"/>
              </a:ext>
            </a:extLst>
          </p:cNvPr>
          <p:cNvSpPr>
            <a:spLocks noChangeArrowheads="1"/>
          </p:cNvSpPr>
          <p:nvPr/>
        </p:nvSpPr>
        <p:spPr bwMode="auto">
          <a:xfrm>
            <a:off x="152400" y="4953000"/>
            <a:ext cx="8839200" cy="1066800"/>
          </a:xfrm>
          <a:prstGeom prst="rect">
            <a:avLst/>
          </a:prstGeom>
          <a:noFill/>
          <a:ln w="9525">
            <a:solidFill>
              <a:srgbClr val="FF00FF"/>
            </a:solidFill>
            <a:prstDash val="dash"/>
            <a:miter lim="800000"/>
            <a:headEnd/>
            <a:tailEnd/>
          </a:ln>
          <a:effectLst/>
        </p:spPr>
        <p:txBody>
          <a:bodyPr wrap="none" anchor="ctr"/>
          <a:lstStyle/>
          <a:p>
            <a:pPr algn="ctr">
              <a:defRPr/>
            </a:pPr>
            <a:endParaRPr lang="en-US" altLang="en-US">
              <a:effectLst>
                <a:outerShdw blurRad="38100" dist="38100" dir="2700000" algn="tl">
                  <a:srgbClr val="000000">
                    <a:alpha val="43137"/>
                  </a:srgbClr>
                </a:outerShdw>
              </a:effectLst>
            </a:endParaRPr>
          </a:p>
        </p:txBody>
      </p:sp>
      <p:sp>
        <p:nvSpPr>
          <p:cNvPr id="11285" name="Text Box 21">
            <a:extLst>
              <a:ext uri="{FF2B5EF4-FFF2-40B4-BE49-F238E27FC236}">
                <a16:creationId xmlns:a16="http://schemas.microsoft.com/office/drawing/2014/main" id="{611F6A50-6BC0-805B-79F7-4BC0ACA46673}"/>
              </a:ext>
            </a:extLst>
          </p:cNvPr>
          <p:cNvSpPr txBox="1">
            <a:spLocks noChangeArrowheads="1"/>
          </p:cNvSpPr>
          <p:nvPr/>
        </p:nvSpPr>
        <p:spPr bwMode="auto">
          <a:xfrm>
            <a:off x="120650" y="4876800"/>
            <a:ext cx="2012950" cy="320675"/>
          </a:xfrm>
          <a:prstGeom prst="rect">
            <a:avLst/>
          </a:prstGeom>
          <a:noFill/>
          <a:ln>
            <a:noFill/>
          </a:ln>
          <a:effectLst/>
        </p:spPr>
        <p:txBody>
          <a:bodyPr>
            <a:spAutoFit/>
          </a:bodyPr>
          <a:lstStyle/>
          <a:p>
            <a:pPr>
              <a:spcBef>
                <a:spcPct val="50000"/>
              </a:spcBef>
              <a:defRPr/>
            </a:pPr>
            <a:r>
              <a:rPr lang="en-US" altLang="en-US" sz="1500">
                <a:solidFill>
                  <a:srgbClr val="FF00FF"/>
                </a:solidFill>
                <a:effectLst>
                  <a:outerShdw blurRad="38100" dist="38100" dir="2700000" algn="tl">
                    <a:srgbClr val="000000">
                      <a:alpha val="43137"/>
                    </a:srgbClr>
                  </a:outerShdw>
                </a:effectLst>
              </a:rPr>
              <a:t>Encrypted</a:t>
            </a:r>
          </a:p>
        </p:txBody>
      </p:sp>
      <p:sp>
        <p:nvSpPr>
          <p:cNvPr id="11286" name="Text Box 22">
            <a:extLst>
              <a:ext uri="{FF2B5EF4-FFF2-40B4-BE49-F238E27FC236}">
                <a16:creationId xmlns:a16="http://schemas.microsoft.com/office/drawing/2014/main" id="{15A61AD6-7B5A-9FB7-73FD-B38CFA35ABCD}"/>
              </a:ext>
            </a:extLst>
          </p:cNvPr>
          <p:cNvSpPr txBox="1">
            <a:spLocks noChangeArrowheads="1"/>
          </p:cNvSpPr>
          <p:nvPr/>
        </p:nvSpPr>
        <p:spPr bwMode="auto">
          <a:xfrm>
            <a:off x="1143000" y="3260725"/>
            <a:ext cx="2057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SA Proposals</a:t>
            </a:r>
          </a:p>
        </p:txBody>
      </p:sp>
      <p:sp>
        <p:nvSpPr>
          <p:cNvPr id="11287" name="Text Box 23">
            <a:extLst>
              <a:ext uri="{FF2B5EF4-FFF2-40B4-BE49-F238E27FC236}">
                <a16:creationId xmlns:a16="http://schemas.microsoft.com/office/drawing/2014/main" id="{27671AAE-C716-CFC6-6FDE-B7514593F74A}"/>
              </a:ext>
            </a:extLst>
          </p:cNvPr>
          <p:cNvSpPr txBox="1">
            <a:spLocks noChangeArrowheads="1"/>
          </p:cNvSpPr>
          <p:nvPr/>
        </p:nvSpPr>
        <p:spPr bwMode="auto">
          <a:xfrm>
            <a:off x="6172200" y="3505200"/>
            <a:ext cx="25146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Selected SA Proposal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2087B2F7-3934-6BD7-CD2A-3D96A79CCB6B}"/>
              </a:ext>
            </a:extLst>
          </p:cNvPr>
          <p:cNvSpPr>
            <a:spLocks noGrp="1" noChangeArrowheads="1"/>
          </p:cNvSpPr>
          <p:nvPr>
            <p:ph type="title"/>
          </p:nvPr>
        </p:nvSpPr>
        <p:spPr/>
        <p:txBody>
          <a:bodyPr/>
          <a:lstStyle/>
          <a:p>
            <a:r>
              <a:rPr lang="en-US" altLang="en-US"/>
              <a:t>Quick Mode</a:t>
            </a:r>
          </a:p>
        </p:txBody>
      </p:sp>
      <p:sp>
        <p:nvSpPr>
          <p:cNvPr id="18435" name="Rectangle 3">
            <a:extLst>
              <a:ext uri="{FF2B5EF4-FFF2-40B4-BE49-F238E27FC236}">
                <a16:creationId xmlns:a16="http://schemas.microsoft.com/office/drawing/2014/main" id="{3617579B-2604-72CA-04BE-D46F063E3B51}"/>
              </a:ext>
            </a:extLst>
          </p:cNvPr>
          <p:cNvSpPr>
            <a:spLocks noGrp="1" noChangeArrowheads="1"/>
          </p:cNvSpPr>
          <p:nvPr>
            <p:ph type="body" idx="1"/>
          </p:nvPr>
        </p:nvSpPr>
        <p:spPr/>
        <p:txBody>
          <a:bodyPr/>
          <a:lstStyle/>
          <a:p>
            <a:pPr>
              <a:defRPr/>
            </a:pPr>
            <a:r>
              <a:rPr lang="en-US" altLang="en-US"/>
              <a:t>All traffic is encrypted using the ISAKMP Security Association</a:t>
            </a:r>
          </a:p>
          <a:p>
            <a:pPr>
              <a:defRPr/>
            </a:pPr>
            <a:r>
              <a:rPr lang="en-US" altLang="en-US"/>
              <a:t>Each quick mode negotiation results in two IPSec Security Associations (one inbound, one outbound)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3BD0DA38-E5C4-A730-AA9B-689B9A6520A4}"/>
              </a:ext>
            </a:extLst>
          </p:cNvPr>
          <p:cNvSpPr>
            <a:spLocks noGrp="1" noChangeArrowheads="1"/>
          </p:cNvSpPr>
          <p:nvPr>
            <p:ph type="title"/>
          </p:nvPr>
        </p:nvSpPr>
        <p:spPr/>
        <p:txBody>
          <a:bodyPr/>
          <a:lstStyle/>
          <a:p>
            <a:r>
              <a:rPr lang="en-US" altLang="en-US"/>
              <a:t>Quick Mode Negotiation</a:t>
            </a:r>
          </a:p>
        </p:txBody>
      </p:sp>
      <p:sp>
        <p:nvSpPr>
          <p:cNvPr id="8196" name="Line 4">
            <a:extLst>
              <a:ext uri="{FF2B5EF4-FFF2-40B4-BE49-F238E27FC236}">
                <a16:creationId xmlns:a16="http://schemas.microsoft.com/office/drawing/2014/main" id="{2124D89C-8646-FEE6-12C3-697F162CCEDF}"/>
              </a:ext>
            </a:extLst>
          </p:cNvPr>
          <p:cNvSpPr>
            <a:spLocks noChangeShapeType="1"/>
          </p:cNvSpPr>
          <p:nvPr/>
        </p:nvSpPr>
        <p:spPr bwMode="auto">
          <a:xfrm>
            <a:off x="2971800" y="34290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8197" name="Line 5">
            <a:extLst>
              <a:ext uri="{FF2B5EF4-FFF2-40B4-BE49-F238E27FC236}">
                <a16:creationId xmlns:a16="http://schemas.microsoft.com/office/drawing/2014/main" id="{06576578-0F7F-A6D0-3018-E25BBB4D4276}"/>
              </a:ext>
            </a:extLst>
          </p:cNvPr>
          <p:cNvSpPr>
            <a:spLocks noChangeShapeType="1"/>
          </p:cNvSpPr>
          <p:nvPr/>
        </p:nvSpPr>
        <p:spPr bwMode="auto">
          <a:xfrm flipH="1">
            <a:off x="2971800" y="38862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8198" name="Line 6">
            <a:extLst>
              <a:ext uri="{FF2B5EF4-FFF2-40B4-BE49-F238E27FC236}">
                <a16:creationId xmlns:a16="http://schemas.microsoft.com/office/drawing/2014/main" id="{BC4733E1-E707-460B-10D6-80D941A368A1}"/>
              </a:ext>
            </a:extLst>
          </p:cNvPr>
          <p:cNvSpPr>
            <a:spLocks noChangeShapeType="1"/>
          </p:cNvSpPr>
          <p:nvPr/>
        </p:nvSpPr>
        <p:spPr bwMode="auto">
          <a:xfrm>
            <a:off x="2971800" y="48006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8199" name="Line 7">
            <a:extLst>
              <a:ext uri="{FF2B5EF4-FFF2-40B4-BE49-F238E27FC236}">
                <a16:creationId xmlns:a16="http://schemas.microsoft.com/office/drawing/2014/main" id="{9A556E94-B7B8-9A8B-C787-8944413AEE31}"/>
              </a:ext>
            </a:extLst>
          </p:cNvPr>
          <p:cNvSpPr>
            <a:spLocks noChangeShapeType="1"/>
          </p:cNvSpPr>
          <p:nvPr/>
        </p:nvSpPr>
        <p:spPr bwMode="auto">
          <a:xfrm flipH="1">
            <a:off x="2971800" y="5257800"/>
            <a:ext cx="3200400" cy="0"/>
          </a:xfrm>
          <a:prstGeom prst="line">
            <a:avLst/>
          </a:prstGeom>
          <a:noFill/>
          <a:ln w="9525">
            <a:solidFill>
              <a:schemeClr val="tx1"/>
            </a:solidFill>
            <a:round/>
            <a:headEnd/>
            <a:tailEnd type="triangle" w="med" len="med"/>
          </a:ln>
          <a:effectLst/>
        </p:spPr>
        <p:txBody>
          <a:bodyPr/>
          <a:lstStyle/>
          <a:p>
            <a:pPr>
              <a:defRPr/>
            </a:pPr>
            <a:endParaRPr lang="en-GB">
              <a:effectLst>
                <a:outerShdw blurRad="38100" dist="38100" dir="2700000" algn="tl">
                  <a:srgbClr val="000000">
                    <a:alpha val="43137"/>
                  </a:srgbClr>
                </a:outerShdw>
              </a:effectLst>
            </a:endParaRPr>
          </a:p>
        </p:txBody>
      </p:sp>
      <p:sp>
        <p:nvSpPr>
          <p:cNvPr id="8200" name="Text Box 8">
            <a:extLst>
              <a:ext uri="{FF2B5EF4-FFF2-40B4-BE49-F238E27FC236}">
                <a16:creationId xmlns:a16="http://schemas.microsoft.com/office/drawing/2014/main" id="{7684958E-7BEF-F8CD-EFE6-C2EB73BE8819}"/>
              </a:ext>
            </a:extLst>
          </p:cNvPr>
          <p:cNvSpPr txBox="1">
            <a:spLocks noChangeArrowheads="1"/>
          </p:cNvSpPr>
          <p:nvPr/>
        </p:nvSpPr>
        <p:spPr bwMode="auto">
          <a:xfrm>
            <a:off x="1752600" y="4648200"/>
            <a:ext cx="1676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Hash</a:t>
            </a:r>
            <a:endParaRPr lang="en-US" altLang="en-US" sz="1500" baseline="-25000">
              <a:effectLst>
                <a:outerShdw blurRad="38100" dist="38100" dir="2700000" algn="tl">
                  <a:srgbClr val="000000">
                    <a:alpha val="43137"/>
                  </a:srgbClr>
                </a:outerShdw>
              </a:effectLst>
            </a:endParaRPr>
          </a:p>
        </p:txBody>
      </p:sp>
      <p:sp>
        <p:nvSpPr>
          <p:cNvPr id="8201" name="Text Box 9">
            <a:extLst>
              <a:ext uri="{FF2B5EF4-FFF2-40B4-BE49-F238E27FC236}">
                <a16:creationId xmlns:a16="http://schemas.microsoft.com/office/drawing/2014/main" id="{95D6BAB5-DE80-5CF6-F67B-866D262C47F0}"/>
              </a:ext>
            </a:extLst>
          </p:cNvPr>
          <p:cNvSpPr txBox="1">
            <a:spLocks noChangeArrowheads="1"/>
          </p:cNvSpPr>
          <p:nvPr/>
        </p:nvSpPr>
        <p:spPr bwMode="auto">
          <a:xfrm>
            <a:off x="6172200" y="5105400"/>
            <a:ext cx="26670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Connected Notification</a:t>
            </a:r>
            <a:endParaRPr lang="en-US" altLang="en-US" sz="1500" baseline="-25000">
              <a:effectLst>
                <a:outerShdw blurRad="38100" dist="38100" dir="2700000" algn="tl">
                  <a:srgbClr val="000000">
                    <a:alpha val="43137"/>
                  </a:srgbClr>
                </a:outerShdw>
              </a:effectLst>
            </a:endParaRPr>
          </a:p>
        </p:txBody>
      </p:sp>
      <p:sp>
        <p:nvSpPr>
          <p:cNvPr id="8202" name="Rectangle 10">
            <a:extLst>
              <a:ext uri="{FF2B5EF4-FFF2-40B4-BE49-F238E27FC236}">
                <a16:creationId xmlns:a16="http://schemas.microsoft.com/office/drawing/2014/main" id="{05B2FDE0-7C2D-3327-159A-363F0E072AC5}"/>
              </a:ext>
            </a:extLst>
          </p:cNvPr>
          <p:cNvSpPr>
            <a:spLocks noChangeArrowheads="1"/>
          </p:cNvSpPr>
          <p:nvPr/>
        </p:nvSpPr>
        <p:spPr bwMode="auto">
          <a:xfrm>
            <a:off x="152400" y="2819400"/>
            <a:ext cx="8839200" cy="3200400"/>
          </a:xfrm>
          <a:prstGeom prst="rect">
            <a:avLst/>
          </a:prstGeom>
          <a:noFill/>
          <a:ln w="9525">
            <a:solidFill>
              <a:srgbClr val="FF00FF"/>
            </a:solidFill>
            <a:prstDash val="dash"/>
            <a:miter lim="800000"/>
            <a:headEnd/>
            <a:tailEnd/>
          </a:ln>
          <a:effectLst/>
        </p:spPr>
        <p:txBody>
          <a:bodyPr wrap="none" anchor="ctr"/>
          <a:lstStyle/>
          <a:p>
            <a:pPr algn="ctr">
              <a:defRPr/>
            </a:pPr>
            <a:endParaRPr lang="en-US" altLang="en-US">
              <a:effectLst>
                <a:outerShdw blurRad="38100" dist="38100" dir="2700000" algn="tl">
                  <a:srgbClr val="000000">
                    <a:alpha val="43137"/>
                  </a:srgbClr>
                </a:outerShdw>
              </a:effectLst>
            </a:endParaRPr>
          </a:p>
        </p:txBody>
      </p:sp>
      <p:sp>
        <p:nvSpPr>
          <p:cNvPr id="8203" name="Text Box 11">
            <a:extLst>
              <a:ext uri="{FF2B5EF4-FFF2-40B4-BE49-F238E27FC236}">
                <a16:creationId xmlns:a16="http://schemas.microsoft.com/office/drawing/2014/main" id="{6E781A1A-A894-07C8-F3A6-1162A713B958}"/>
              </a:ext>
            </a:extLst>
          </p:cNvPr>
          <p:cNvSpPr txBox="1">
            <a:spLocks noChangeArrowheads="1"/>
          </p:cNvSpPr>
          <p:nvPr/>
        </p:nvSpPr>
        <p:spPr bwMode="auto">
          <a:xfrm>
            <a:off x="120650" y="2803525"/>
            <a:ext cx="2012950" cy="320675"/>
          </a:xfrm>
          <a:prstGeom prst="rect">
            <a:avLst/>
          </a:prstGeom>
          <a:noFill/>
          <a:ln>
            <a:noFill/>
          </a:ln>
          <a:effectLst/>
        </p:spPr>
        <p:txBody>
          <a:bodyPr>
            <a:spAutoFit/>
          </a:bodyPr>
          <a:lstStyle/>
          <a:p>
            <a:pPr>
              <a:spcBef>
                <a:spcPct val="50000"/>
              </a:spcBef>
              <a:defRPr/>
            </a:pPr>
            <a:r>
              <a:rPr lang="en-US" altLang="en-US" sz="1500">
                <a:solidFill>
                  <a:srgbClr val="FF00FF"/>
                </a:solidFill>
                <a:effectLst>
                  <a:outerShdw blurRad="38100" dist="38100" dir="2700000" algn="tl">
                    <a:srgbClr val="000000">
                      <a:alpha val="43137"/>
                    </a:srgbClr>
                  </a:outerShdw>
                </a:effectLst>
              </a:rPr>
              <a:t>Encrypted</a:t>
            </a:r>
          </a:p>
        </p:txBody>
      </p:sp>
      <p:pic>
        <p:nvPicPr>
          <p:cNvPr id="47114" name="Picture 12">
            <a:extLst>
              <a:ext uri="{FF2B5EF4-FFF2-40B4-BE49-F238E27FC236}">
                <a16:creationId xmlns:a16="http://schemas.microsoft.com/office/drawing/2014/main" id="{86E84168-C092-27B3-9A13-0FB475BEB46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5" name="Picture 13">
            <a:extLst>
              <a:ext uri="{FF2B5EF4-FFF2-40B4-BE49-F238E27FC236}">
                <a16:creationId xmlns:a16="http://schemas.microsoft.com/office/drawing/2014/main" id="{922A6149-3C4B-E148-6AFE-F584BB33650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600200"/>
            <a:ext cx="1143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06" name="Text Box 14">
            <a:extLst>
              <a:ext uri="{FF2B5EF4-FFF2-40B4-BE49-F238E27FC236}">
                <a16:creationId xmlns:a16="http://schemas.microsoft.com/office/drawing/2014/main" id="{32A91A60-990C-45A6-873E-821F990295CB}"/>
              </a:ext>
            </a:extLst>
          </p:cNvPr>
          <p:cNvSpPr txBox="1">
            <a:spLocks noChangeArrowheads="1"/>
          </p:cNvSpPr>
          <p:nvPr/>
        </p:nvSpPr>
        <p:spPr bwMode="auto">
          <a:xfrm>
            <a:off x="1905000" y="2590800"/>
            <a:ext cx="914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Initiator</a:t>
            </a:r>
          </a:p>
        </p:txBody>
      </p:sp>
      <p:sp>
        <p:nvSpPr>
          <p:cNvPr id="8207" name="Text Box 15">
            <a:extLst>
              <a:ext uri="{FF2B5EF4-FFF2-40B4-BE49-F238E27FC236}">
                <a16:creationId xmlns:a16="http://schemas.microsoft.com/office/drawing/2014/main" id="{A3F79643-18A7-54EC-AFA8-229FFC6475DF}"/>
              </a:ext>
            </a:extLst>
          </p:cNvPr>
          <p:cNvSpPr txBox="1">
            <a:spLocks noChangeArrowheads="1"/>
          </p:cNvSpPr>
          <p:nvPr/>
        </p:nvSpPr>
        <p:spPr bwMode="auto">
          <a:xfrm>
            <a:off x="6248400" y="2574925"/>
            <a:ext cx="10668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Responder</a:t>
            </a:r>
          </a:p>
        </p:txBody>
      </p:sp>
      <p:sp>
        <p:nvSpPr>
          <p:cNvPr id="8208" name="Text Box 16">
            <a:extLst>
              <a:ext uri="{FF2B5EF4-FFF2-40B4-BE49-F238E27FC236}">
                <a16:creationId xmlns:a16="http://schemas.microsoft.com/office/drawing/2014/main" id="{7E373E14-C6C7-E72A-7F3E-F4A56A04D273}"/>
              </a:ext>
            </a:extLst>
          </p:cNvPr>
          <p:cNvSpPr txBox="1">
            <a:spLocks noChangeArrowheads="1"/>
          </p:cNvSpPr>
          <p:nvPr/>
        </p:nvSpPr>
        <p:spPr bwMode="auto">
          <a:xfrm>
            <a:off x="6172200" y="3717925"/>
            <a:ext cx="22860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IPSec Selected SA</a:t>
            </a:r>
            <a:endParaRPr lang="en-US" altLang="en-US" sz="1500" baseline="-25000">
              <a:effectLst>
                <a:outerShdw blurRad="38100" dist="38100" dir="2700000" algn="tl">
                  <a:srgbClr val="000000">
                    <a:alpha val="43137"/>
                  </a:srgbClr>
                </a:outerShdw>
              </a:effectLst>
            </a:endParaRPr>
          </a:p>
        </p:txBody>
      </p:sp>
      <p:sp>
        <p:nvSpPr>
          <p:cNvPr id="8209" name="Text Box 17">
            <a:extLst>
              <a:ext uri="{FF2B5EF4-FFF2-40B4-BE49-F238E27FC236}">
                <a16:creationId xmlns:a16="http://schemas.microsoft.com/office/drawing/2014/main" id="{62ADDFC7-DB79-D18F-5648-888FF908CD61}"/>
              </a:ext>
            </a:extLst>
          </p:cNvPr>
          <p:cNvSpPr txBox="1">
            <a:spLocks noChangeArrowheads="1"/>
          </p:cNvSpPr>
          <p:nvPr/>
        </p:nvSpPr>
        <p:spPr bwMode="auto">
          <a:xfrm>
            <a:off x="685800" y="3260725"/>
            <a:ext cx="2438400" cy="320675"/>
          </a:xfrm>
          <a:prstGeom prst="rect">
            <a:avLst/>
          </a:prstGeom>
          <a:noFill/>
          <a:ln>
            <a:noFill/>
          </a:ln>
          <a:effectLst/>
        </p:spPr>
        <p:txBody>
          <a:bodyPr>
            <a:spAutoFit/>
          </a:bodyPr>
          <a:lstStyle/>
          <a:p>
            <a:pPr>
              <a:spcBef>
                <a:spcPct val="50000"/>
              </a:spcBef>
              <a:defRPr/>
            </a:pPr>
            <a:r>
              <a:rPr lang="en-US" altLang="en-US" sz="1500">
                <a:effectLst>
                  <a:outerShdw blurRad="38100" dist="38100" dir="2700000" algn="tl">
                    <a:srgbClr val="000000">
                      <a:alpha val="43137"/>
                    </a:srgbClr>
                  </a:outerShdw>
                </a:effectLst>
              </a:rPr>
              <a:t>Header, IPSec Proposed SA</a:t>
            </a:r>
            <a:endParaRPr lang="en-US" altLang="en-US" sz="1500" baseline="-25000">
              <a:effectLst>
                <a:outerShdw blurRad="38100" dist="38100" dir="2700000" algn="tl">
                  <a:srgbClr val="000000">
                    <a:alpha val="43137"/>
                  </a:srgbClr>
                </a:outerShdw>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E5300A0A-BBF7-D5E3-B92A-EF119B83A877}"/>
              </a:ext>
            </a:extLst>
          </p:cNvPr>
          <p:cNvSpPr>
            <a:spLocks noGrp="1" noChangeArrowheads="1"/>
          </p:cNvSpPr>
          <p:nvPr>
            <p:ph type="title"/>
          </p:nvPr>
        </p:nvSpPr>
        <p:spPr>
          <a:xfrm>
            <a:off x="1096963" y="258763"/>
            <a:ext cx="7772400" cy="1143000"/>
          </a:xfrm>
        </p:spPr>
        <p:txBody>
          <a:bodyPr/>
          <a:lstStyle/>
          <a:p>
            <a:r>
              <a:rPr lang="en-US" altLang="en-US"/>
              <a:t>Architecture &amp; Concepts</a:t>
            </a:r>
          </a:p>
        </p:txBody>
      </p:sp>
      <p:sp>
        <p:nvSpPr>
          <p:cNvPr id="919555" name="Rectangle 3">
            <a:extLst>
              <a:ext uri="{FF2B5EF4-FFF2-40B4-BE49-F238E27FC236}">
                <a16:creationId xmlns:a16="http://schemas.microsoft.com/office/drawing/2014/main" id="{B85C6CE9-54BF-8079-1877-25067CB4086E}"/>
              </a:ext>
            </a:extLst>
          </p:cNvPr>
          <p:cNvSpPr>
            <a:spLocks noGrp="1" noChangeArrowheads="1"/>
          </p:cNvSpPr>
          <p:nvPr>
            <p:ph type="body" idx="1"/>
          </p:nvPr>
        </p:nvSpPr>
        <p:spPr>
          <a:xfrm>
            <a:off x="773113" y="1447800"/>
            <a:ext cx="7831137" cy="5068888"/>
          </a:xfrm>
        </p:spPr>
        <p:txBody>
          <a:bodyPr/>
          <a:lstStyle/>
          <a:p>
            <a:pPr>
              <a:defRPr/>
            </a:pPr>
            <a:r>
              <a:rPr lang="en-US" dirty="0"/>
              <a:t>Tunnel vs. Transport mode</a:t>
            </a:r>
          </a:p>
          <a:p>
            <a:pPr>
              <a:defRPr/>
            </a:pPr>
            <a:r>
              <a:rPr lang="en-US" dirty="0">
                <a:solidFill>
                  <a:srgbClr val="FF0000"/>
                </a:solidFill>
              </a:rPr>
              <a:t>Security association (SA)</a:t>
            </a:r>
          </a:p>
          <a:p>
            <a:pPr lvl="1">
              <a:defRPr/>
            </a:pPr>
            <a:r>
              <a:rPr lang="en-US" dirty="0"/>
              <a:t>Security parameter index (SPI)</a:t>
            </a:r>
          </a:p>
          <a:p>
            <a:pPr lvl="1">
              <a:defRPr/>
            </a:pPr>
            <a:r>
              <a:rPr lang="en-US" dirty="0"/>
              <a:t>Security policy database (SPD)</a:t>
            </a:r>
          </a:p>
          <a:p>
            <a:pPr lvl="1">
              <a:defRPr/>
            </a:pPr>
            <a:r>
              <a:rPr lang="en-US" dirty="0"/>
              <a:t>SA database (SAD)</a:t>
            </a:r>
          </a:p>
          <a:p>
            <a:pPr>
              <a:defRPr/>
            </a:pPr>
            <a:r>
              <a:rPr lang="en-US" dirty="0"/>
              <a:t>Authentication header (AH)</a:t>
            </a:r>
          </a:p>
          <a:p>
            <a:pPr>
              <a:defRPr/>
            </a:pPr>
            <a:r>
              <a:rPr lang="en-US" dirty="0"/>
              <a:t>Encapsulating security payload (ESP)</a:t>
            </a:r>
          </a:p>
          <a:p>
            <a:pPr>
              <a:defRPr/>
            </a:pPr>
            <a:r>
              <a:rPr lang="en-US" dirty="0"/>
              <a:t>Practical Issues w/ NAT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3337FE94-0FC1-4BAB-4980-1F26834C54CD}"/>
              </a:ext>
            </a:extLst>
          </p:cNvPr>
          <p:cNvSpPr>
            <a:spLocks noGrp="1" noChangeArrowheads="1"/>
          </p:cNvSpPr>
          <p:nvPr>
            <p:ph type="title"/>
          </p:nvPr>
        </p:nvSpPr>
        <p:spPr>
          <a:xfrm>
            <a:off x="860425" y="258763"/>
            <a:ext cx="7772400" cy="1143000"/>
          </a:xfrm>
        </p:spPr>
        <p:txBody>
          <a:bodyPr/>
          <a:lstStyle/>
          <a:p>
            <a:r>
              <a:rPr lang="en-US" altLang="en-US"/>
              <a:t>Security Association - SA</a:t>
            </a:r>
          </a:p>
        </p:txBody>
      </p:sp>
      <p:sp>
        <p:nvSpPr>
          <p:cNvPr id="837635" name="Rectangle 3">
            <a:extLst>
              <a:ext uri="{FF2B5EF4-FFF2-40B4-BE49-F238E27FC236}">
                <a16:creationId xmlns:a16="http://schemas.microsoft.com/office/drawing/2014/main" id="{AFC1F68F-66F1-9733-16F3-A3D9FD47C727}"/>
              </a:ext>
            </a:extLst>
          </p:cNvPr>
          <p:cNvSpPr>
            <a:spLocks noGrp="1" noChangeArrowheads="1"/>
          </p:cNvSpPr>
          <p:nvPr>
            <p:ph type="body" idx="1"/>
          </p:nvPr>
        </p:nvSpPr>
        <p:spPr>
          <a:xfrm>
            <a:off x="158750" y="1312863"/>
            <a:ext cx="8734425" cy="5216525"/>
          </a:xfrm>
        </p:spPr>
        <p:txBody>
          <a:bodyPr/>
          <a:lstStyle/>
          <a:p>
            <a:pPr>
              <a:defRPr/>
            </a:pPr>
            <a:r>
              <a:rPr lang="en-US" dirty="0"/>
              <a:t>Have a database of Security Associations </a:t>
            </a:r>
          </a:p>
          <a:p>
            <a:pPr>
              <a:defRPr/>
            </a:pPr>
            <a:r>
              <a:rPr lang="en-US" dirty="0"/>
              <a:t>Determine IPSec processing for senders</a:t>
            </a:r>
          </a:p>
          <a:p>
            <a:pPr>
              <a:defRPr/>
            </a:pPr>
            <a:r>
              <a:rPr lang="en-US" dirty="0"/>
              <a:t>Determine IPSec decoding for destination</a:t>
            </a:r>
          </a:p>
          <a:p>
            <a:pPr>
              <a:defRPr/>
            </a:pPr>
            <a:r>
              <a:rPr lang="en-US" dirty="0"/>
              <a:t>SAs are not fixed! Generated and customized per traffic flows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688FBD9C-39AD-EEF4-252A-7AA4ABB22440}"/>
              </a:ext>
            </a:extLst>
          </p:cNvPr>
          <p:cNvSpPr>
            <a:spLocks noGrp="1" noChangeArrowheads="1"/>
          </p:cNvSpPr>
          <p:nvPr>
            <p:ph type="title"/>
          </p:nvPr>
        </p:nvSpPr>
        <p:spPr/>
        <p:txBody>
          <a:bodyPr/>
          <a:lstStyle/>
          <a:p>
            <a:r>
              <a:rPr lang="en-US" altLang="en-US"/>
              <a:t>Security Parameters Index - SPI </a:t>
            </a:r>
          </a:p>
        </p:txBody>
      </p:sp>
      <p:sp>
        <p:nvSpPr>
          <p:cNvPr id="838659" name="Rectangle 3">
            <a:extLst>
              <a:ext uri="{FF2B5EF4-FFF2-40B4-BE49-F238E27FC236}">
                <a16:creationId xmlns:a16="http://schemas.microsoft.com/office/drawing/2014/main" id="{4E77162F-787A-5C56-9469-90AB57891D18}"/>
              </a:ext>
            </a:extLst>
          </p:cNvPr>
          <p:cNvSpPr>
            <a:spLocks noGrp="1" noChangeArrowheads="1"/>
          </p:cNvSpPr>
          <p:nvPr>
            <p:ph type="body" idx="1"/>
          </p:nvPr>
        </p:nvSpPr>
        <p:spPr>
          <a:xfrm>
            <a:off x="417513" y="1724025"/>
            <a:ext cx="8277225" cy="4713288"/>
          </a:xfrm>
        </p:spPr>
        <p:txBody>
          <a:bodyPr/>
          <a:lstStyle/>
          <a:p>
            <a:pPr>
              <a:defRPr/>
            </a:pPr>
            <a:r>
              <a:rPr lang="en-US"/>
              <a:t>Can be up to 32 bits large</a:t>
            </a:r>
          </a:p>
          <a:p>
            <a:pPr>
              <a:defRPr/>
            </a:pPr>
            <a:r>
              <a:rPr lang="en-US"/>
              <a:t>The SPI allows the destination to select the correct SA under which the received packet will be processed </a:t>
            </a:r>
          </a:p>
          <a:p>
            <a:pPr lvl="1">
              <a:defRPr/>
            </a:pPr>
            <a:r>
              <a:rPr lang="en-US"/>
              <a:t>According to the agreement with the sender</a:t>
            </a:r>
          </a:p>
          <a:p>
            <a:pPr lvl="1">
              <a:defRPr/>
            </a:pPr>
            <a:r>
              <a:rPr lang="en-US"/>
              <a:t>The SPI is sent with the packet by the sender</a:t>
            </a:r>
          </a:p>
          <a:p>
            <a:pPr>
              <a:defRPr/>
            </a:pPr>
            <a:r>
              <a:rPr lang="en-US"/>
              <a:t>SPI + Dest IP address + IPSec Protocol (AH or ESP) uniquely identifies a SA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745B7329-9CD8-E9D5-F4F2-7931FE716046}"/>
              </a:ext>
            </a:extLst>
          </p:cNvPr>
          <p:cNvSpPr>
            <a:spLocks noGrp="1" noChangeArrowheads="1"/>
          </p:cNvSpPr>
          <p:nvPr>
            <p:ph type="title"/>
          </p:nvPr>
        </p:nvSpPr>
        <p:spPr/>
        <p:txBody>
          <a:bodyPr/>
          <a:lstStyle/>
          <a:p>
            <a:r>
              <a:rPr lang="en-US" altLang="en-US"/>
              <a:t>SA Database - SAD</a:t>
            </a:r>
          </a:p>
        </p:txBody>
      </p:sp>
      <p:sp>
        <p:nvSpPr>
          <p:cNvPr id="839683" name="Rectangle 3">
            <a:extLst>
              <a:ext uri="{FF2B5EF4-FFF2-40B4-BE49-F238E27FC236}">
                <a16:creationId xmlns:a16="http://schemas.microsoft.com/office/drawing/2014/main" id="{178DC6EA-F5C8-BC4B-D37F-E92CFC71BA7A}"/>
              </a:ext>
            </a:extLst>
          </p:cNvPr>
          <p:cNvSpPr>
            <a:spLocks noGrp="1" noChangeArrowheads="1"/>
          </p:cNvSpPr>
          <p:nvPr>
            <p:ph type="body" idx="1"/>
          </p:nvPr>
        </p:nvSpPr>
        <p:spPr/>
        <p:txBody>
          <a:bodyPr/>
          <a:lstStyle/>
          <a:p>
            <a:pPr>
              <a:defRPr/>
            </a:pPr>
            <a:r>
              <a:rPr lang="en-US" dirty="0"/>
              <a:t>Holds parameters for each SA</a:t>
            </a:r>
          </a:p>
          <a:p>
            <a:pPr lvl="1">
              <a:defRPr/>
            </a:pPr>
            <a:r>
              <a:rPr lang="en-US" dirty="0"/>
              <a:t>Lifetime of this SA</a:t>
            </a:r>
          </a:p>
          <a:p>
            <a:pPr lvl="1">
              <a:defRPr/>
            </a:pPr>
            <a:r>
              <a:rPr lang="en-US" dirty="0"/>
              <a:t>AH and ESP information</a:t>
            </a:r>
          </a:p>
          <a:p>
            <a:pPr lvl="1">
              <a:defRPr/>
            </a:pPr>
            <a:r>
              <a:rPr lang="en-US" dirty="0"/>
              <a:t>Tunnel or transport mode</a:t>
            </a:r>
          </a:p>
          <a:p>
            <a:pPr>
              <a:defRPr/>
            </a:pPr>
            <a:r>
              <a:rPr lang="en-US" dirty="0"/>
              <a:t>Every host or gateway participating in  IPSec has their own SA database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F4F263C6-A341-1F17-133D-4F03E841CE4F}"/>
              </a:ext>
            </a:extLst>
          </p:cNvPr>
          <p:cNvSpPr>
            <a:spLocks noGrp="1" noChangeArrowheads="1"/>
          </p:cNvSpPr>
          <p:nvPr>
            <p:ph type="title"/>
          </p:nvPr>
        </p:nvSpPr>
        <p:spPr/>
        <p:txBody>
          <a:bodyPr/>
          <a:lstStyle/>
          <a:p>
            <a:r>
              <a:rPr lang="en-US" altLang="en-US"/>
              <a:t>Security Policy Database - SPD</a:t>
            </a:r>
          </a:p>
        </p:txBody>
      </p:sp>
      <p:sp>
        <p:nvSpPr>
          <p:cNvPr id="843779" name="Rectangle 3">
            <a:extLst>
              <a:ext uri="{FF2B5EF4-FFF2-40B4-BE49-F238E27FC236}">
                <a16:creationId xmlns:a16="http://schemas.microsoft.com/office/drawing/2014/main" id="{4B4D2604-67B7-BEC2-1163-0093F8B43A3C}"/>
              </a:ext>
            </a:extLst>
          </p:cNvPr>
          <p:cNvSpPr>
            <a:spLocks noGrp="1" noChangeArrowheads="1"/>
          </p:cNvSpPr>
          <p:nvPr>
            <p:ph type="body" idx="1"/>
          </p:nvPr>
        </p:nvSpPr>
        <p:spPr>
          <a:xfrm>
            <a:off x="908050" y="1981200"/>
            <a:ext cx="7877175" cy="4465638"/>
          </a:xfrm>
        </p:spPr>
        <p:txBody>
          <a:bodyPr/>
          <a:lstStyle/>
          <a:p>
            <a:pPr>
              <a:defRPr/>
            </a:pPr>
            <a:r>
              <a:rPr lang="en-US" dirty="0"/>
              <a:t>What traffic to protect?</a:t>
            </a:r>
          </a:p>
          <a:p>
            <a:pPr>
              <a:defRPr/>
            </a:pPr>
            <a:r>
              <a:rPr lang="en-US" dirty="0"/>
              <a:t>Policy entries define which SA or SA bundles to use on IP traffic</a:t>
            </a:r>
          </a:p>
          <a:p>
            <a:pPr>
              <a:defRPr/>
            </a:pPr>
            <a:r>
              <a:rPr lang="en-US" dirty="0"/>
              <a:t>Each host or gateway has their own SPD</a:t>
            </a:r>
          </a:p>
          <a:p>
            <a:pPr>
              <a:defRPr/>
            </a:pPr>
            <a:r>
              <a:rPr lang="en-US" dirty="0"/>
              <a:t>Index into SPD by Selector fields</a:t>
            </a:r>
          </a:p>
          <a:p>
            <a:pPr lvl="1">
              <a:defRPr/>
            </a:pPr>
            <a:r>
              <a:rPr lang="en-US" dirty="0" err="1"/>
              <a:t>Dest</a:t>
            </a:r>
            <a:r>
              <a:rPr lang="en-US" dirty="0"/>
              <a:t> IP, Source IP, IPSec Protocol, Transport Protocol, Source &amp; </a:t>
            </a:r>
            <a:r>
              <a:rPr lang="en-US" dirty="0" err="1"/>
              <a:t>Dest</a:t>
            </a:r>
            <a:r>
              <a:rPr lang="en-US" dirty="0"/>
              <a:t> Ports,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EDE1E4F2-532B-94CA-5AAA-E3F45928FA54}"/>
              </a:ext>
            </a:extLst>
          </p:cNvPr>
          <p:cNvSpPr>
            <a:spLocks noGrp="1" noChangeArrowheads="1"/>
          </p:cNvSpPr>
          <p:nvPr>
            <p:ph type="title"/>
          </p:nvPr>
        </p:nvSpPr>
        <p:spPr/>
        <p:txBody>
          <a:bodyPr/>
          <a:lstStyle/>
          <a:p>
            <a:r>
              <a:rPr lang="en-US" altLang="en-US"/>
              <a:t>Security Policy Database - SPD</a:t>
            </a:r>
          </a:p>
        </p:txBody>
      </p:sp>
      <p:sp>
        <p:nvSpPr>
          <p:cNvPr id="843779" name="Rectangle 3">
            <a:extLst>
              <a:ext uri="{FF2B5EF4-FFF2-40B4-BE49-F238E27FC236}">
                <a16:creationId xmlns:a16="http://schemas.microsoft.com/office/drawing/2014/main" id="{553DADCD-9BB9-2122-0A9B-1F0256199218}"/>
              </a:ext>
            </a:extLst>
          </p:cNvPr>
          <p:cNvSpPr>
            <a:spLocks noGrp="1" noChangeArrowheads="1"/>
          </p:cNvSpPr>
          <p:nvPr>
            <p:ph type="body" idx="1"/>
          </p:nvPr>
        </p:nvSpPr>
        <p:spPr>
          <a:xfrm>
            <a:off x="908050" y="1981200"/>
            <a:ext cx="7877175" cy="4465638"/>
          </a:xfrm>
        </p:spPr>
        <p:txBody>
          <a:bodyPr/>
          <a:lstStyle/>
          <a:p>
            <a:pPr>
              <a:defRPr/>
            </a:pPr>
            <a:r>
              <a:rPr lang="en-US" dirty="0"/>
              <a:t>What traffic to protect?</a:t>
            </a:r>
          </a:p>
          <a:p>
            <a:pPr>
              <a:defRPr/>
            </a:pPr>
            <a:r>
              <a:rPr lang="en-US" dirty="0"/>
              <a:t>Policy entries define which SA or SA bundles to use on IP traffic</a:t>
            </a:r>
          </a:p>
          <a:p>
            <a:pPr>
              <a:defRPr/>
            </a:pPr>
            <a:r>
              <a:rPr lang="en-US" dirty="0"/>
              <a:t>Each host or gateway has their own SPD</a:t>
            </a:r>
          </a:p>
          <a:p>
            <a:pPr>
              <a:defRPr/>
            </a:pPr>
            <a:r>
              <a:rPr lang="en-US" dirty="0"/>
              <a:t>Index into SPD by Selector fields</a:t>
            </a:r>
          </a:p>
          <a:p>
            <a:pPr lvl="1">
              <a:defRPr/>
            </a:pPr>
            <a:r>
              <a:rPr lang="en-US" dirty="0" err="1"/>
              <a:t>Dest</a:t>
            </a:r>
            <a:r>
              <a:rPr lang="en-US" dirty="0"/>
              <a:t> IP, Source IP, IPSec Protocol, Transport Protocol, Source &amp; </a:t>
            </a:r>
            <a:r>
              <a:rPr lang="en-US" dirty="0" err="1"/>
              <a:t>Dest</a:t>
            </a:r>
            <a:r>
              <a:rPr lang="en-US" dirty="0"/>
              <a:t> Ports,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8228E2F0-C4D9-A978-BC94-A35DD69D8F44}"/>
              </a:ext>
            </a:extLst>
          </p:cNvPr>
          <p:cNvSpPr>
            <a:spLocks noGrp="1" noChangeArrowheads="1"/>
          </p:cNvSpPr>
          <p:nvPr>
            <p:ph type="title"/>
          </p:nvPr>
        </p:nvSpPr>
        <p:spPr/>
        <p:txBody>
          <a:bodyPr/>
          <a:lstStyle/>
          <a:p>
            <a:r>
              <a:rPr lang="en-US" altLang="en-US"/>
              <a:t>SPD Entry Actions</a:t>
            </a:r>
          </a:p>
        </p:txBody>
      </p:sp>
      <p:sp>
        <p:nvSpPr>
          <p:cNvPr id="845827" name="Rectangle 3">
            <a:extLst>
              <a:ext uri="{FF2B5EF4-FFF2-40B4-BE49-F238E27FC236}">
                <a16:creationId xmlns:a16="http://schemas.microsoft.com/office/drawing/2014/main" id="{5DD2B50C-7F36-C61A-6F6B-2943BB958B24}"/>
              </a:ext>
            </a:extLst>
          </p:cNvPr>
          <p:cNvSpPr>
            <a:spLocks noGrp="1" noChangeArrowheads="1"/>
          </p:cNvSpPr>
          <p:nvPr>
            <p:ph type="body" idx="1"/>
          </p:nvPr>
        </p:nvSpPr>
        <p:spPr>
          <a:xfrm>
            <a:off x="1143000" y="1981200"/>
            <a:ext cx="7772400" cy="4464050"/>
          </a:xfrm>
        </p:spPr>
        <p:txBody>
          <a:bodyPr/>
          <a:lstStyle/>
          <a:p>
            <a:pPr>
              <a:lnSpc>
                <a:spcPct val="90000"/>
              </a:lnSpc>
              <a:defRPr/>
            </a:pPr>
            <a:r>
              <a:rPr lang="en-US"/>
              <a:t>Discard</a:t>
            </a:r>
          </a:p>
          <a:p>
            <a:pPr lvl="1">
              <a:lnSpc>
                <a:spcPct val="90000"/>
              </a:lnSpc>
              <a:defRPr/>
            </a:pPr>
            <a:r>
              <a:rPr lang="en-US"/>
              <a:t>Do not let in or out</a:t>
            </a:r>
          </a:p>
          <a:p>
            <a:pPr>
              <a:lnSpc>
                <a:spcPct val="90000"/>
              </a:lnSpc>
              <a:defRPr/>
            </a:pPr>
            <a:r>
              <a:rPr lang="en-US"/>
              <a:t>Bypass</a:t>
            </a:r>
          </a:p>
          <a:p>
            <a:pPr lvl="1">
              <a:lnSpc>
                <a:spcPct val="90000"/>
              </a:lnSpc>
              <a:defRPr/>
            </a:pPr>
            <a:r>
              <a:rPr lang="en-US"/>
              <a:t>Outbound: do not apply IPSec</a:t>
            </a:r>
          </a:p>
          <a:p>
            <a:pPr lvl="1">
              <a:lnSpc>
                <a:spcPct val="90000"/>
              </a:lnSpc>
              <a:defRPr/>
            </a:pPr>
            <a:r>
              <a:rPr lang="en-US"/>
              <a:t>Inbound: do not expect IPSec</a:t>
            </a:r>
          </a:p>
          <a:p>
            <a:pPr>
              <a:lnSpc>
                <a:spcPct val="90000"/>
              </a:lnSpc>
              <a:defRPr/>
            </a:pPr>
            <a:r>
              <a:rPr lang="en-US"/>
              <a:t>Protect – will point to an SA or SA bundle</a:t>
            </a:r>
          </a:p>
          <a:p>
            <a:pPr lvl="1">
              <a:lnSpc>
                <a:spcPct val="90000"/>
              </a:lnSpc>
              <a:defRPr/>
            </a:pPr>
            <a:r>
              <a:rPr lang="en-US"/>
              <a:t>Outbound: apply security</a:t>
            </a:r>
          </a:p>
          <a:p>
            <a:pPr lvl="1">
              <a:lnSpc>
                <a:spcPct val="90000"/>
              </a:lnSpc>
              <a:defRPr/>
            </a:pPr>
            <a:r>
              <a:rPr lang="en-US"/>
              <a:t>Inbound: check that security must have been applied</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0B08587A-DD92-EF0C-036A-8D0759D2365C}"/>
              </a:ext>
            </a:extLst>
          </p:cNvPr>
          <p:cNvSpPr>
            <a:spLocks noGrp="1" noChangeArrowheads="1"/>
          </p:cNvSpPr>
          <p:nvPr>
            <p:ph type="title"/>
          </p:nvPr>
        </p:nvSpPr>
        <p:spPr/>
        <p:txBody>
          <a:bodyPr/>
          <a:lstStyle/>
          <a:p>
            <a:r>
              <a:rPr lang="en-US" altLang="en-US"/>
              <a:t>SPD Protect Action</a:t>
            </a:r>
          </a:p>
        </p:txBody>
      </p:sp>
      <p:sp>
        <p:nvSpPr>
          <p:cNvPr id="847875" name="Rectangle 3">
            <a:extLst>
              <a:ext uri="{FF2B5EF4-FFF2-40B4-BE49-F238E27FC236}">
                <a16:creationId xmlns:a16="http://schemas.microsoft.com/office/drawing/2014/main" id="{53C98ECD-5229-2692-CB45-51F9A8FC82B7}"/>
              </a:ext>
            </a:extLst>
          </p:cNvPr>
          <p:cNvSpPr>
            <a:spLocks noGrp="1" noChangeArrowheads="1"/>
          </p:cNvSpPr>
          <p:nvPr>
            <p:ph type="body" idx="1"/>
          </p:nvPr>
        </p:nvSpPr>
        <p:spPr/>
        <p:txBody>
          <a:bodyPr/>
          <a:lstStyle/>
          <a:p>
            <a:pPr>
              <a:defRPr/>
            </a:pPr>
            <a:r>
              <a:rPr lang="en-US" dirty="0"/>
              <a:t>If the SA does not exist…</a:t>
            </a:r>
          </a:p>
          <a:p>
            <a:pPr lvl="1">
              <a:defRPr/>
            </a:pPr>
            <a:r>
              <a:rPr lang="en-US" dirty="0"/>
              <a:t>Outbound processing: use IKE to generate SA dynamically</a:t>
            </a:r>
          </a:p>
          <a:p>
            <a:pPr lvl="1">
              <a:defRPr/>
            </a:pPr>
            <a:r>
              <a:rPr lang="en-US" dirty="0"/>
              <a:t>Inbound processing: drop packet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Line 2">
            <a:extLst>
              <a:ext uri="{FF2B5EF4-FFF2-40B4-BE49-F238E27FC236}">
                <a16:creationId xmlns:a16="http://schemas.microsoft.com/office/drawing/2014/main" id="{42BE651A-C33F-9149-4F51-496012CF425F}"/>
              </a:ext>
            </a:extLst>
          </p:cNvPr>
          <p:cNvSpPr>
            <a:spLocks noChangeShapeType="1"/>
          </p:cNvSpPr>
          <p:nvPr/>
        </p:nvSpPr>
        <p:spPr bwMode="auto">
          <a:xfrm>
            <a:off x="4191000" y="3581400"/>
            <a:ext cx="914400" cy="1066800"/>
          </a:xfrm>
          <a:prstGeom prst="line">
            <a:avLst/>
          </a:prstGeom>
          <a:noFill/>
          <a:ln w="38100" cap="sq">
            <a:solidFill>
              <a:schemeClr val="tx1"/>
            </a:solidFill>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49923" name="Line 3">
            <a:extLst>
              <a:ext uri="{FF2B5EF4-FFF2-40B4-BE49-F238E27FC236}">
                <a16:creationId xmlns:a16="http://schemas.microsoft.com/office/drawing/2014/main" id="{84BCD50D-D675-ED4D-1C7D-242BDFB5BBEA}"/>
              </a:ext>
            </a:extLst>
          </p:cNvPr>
          <p:cNvSpPr>
            <a:spLocks noChangeShapeType="1"/>
          </p:cNvSpPr>
          <p:nvPr/>
        </p:nvSpPr>
        <p:spPr bwMode="auto">
          <a:xfrm>
            <a:off x="1447800" y="2432050"/>
            <a:ext cx="1600200" cy="114300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49924" name="Text Box 4">
            <a:extLst>
              <a:ext uri="{FF2B5EF4-FFF2-40B4-BE49-F238E27FC236}">
                <a16:creationId xmlns:a16="http://schemas.microsoft.com/office/drawing/2014/main" id="{3F788B18-F1B2-3D85-6643-B1D85CADA549}"/>
              </a:ext>
            </a:extLst>
          </p:cNvPr>
          <p:cNvSpPr txBox="1">
            <a:spLocks noChangeArrowheads="1"/>
          </p:cNvSpPr>
          <p:nvPr/>
        </p:nvSpPr>
        <p:spPr bwMode="auto">
          <a:xfrm>
            <a:off x="533400" y="2965450"/>
            <a:ext cx="19748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i="1">
                <a:latin typeface="Arial" panose="020B0604020202020204" pitchFamily="34" charset="0"/>
              </a:rPr>
              <a:t>Is it for IPSec?</a:t>
            </a:r>
            <a:br>
              <a:rPr lang="en-US" altLang="en-US" sz="1800" i="1">
                <a:latin typeface="Arial" panose="020B0604020202020204" pitchFamily="34" charset="0"/>
              </a:rPr>
            </a:br>
            <a:r>
              <a:rPr lang="en-US" altLang="en-US" sz="1800" i="1">
                <a:latin typeface="Arial" panose="020B0604020202020204" pitchFamily="34" charset="0"/>
              </a:rPr>
              <a:t>If so, which policy</a:t>
            </a:r>
          </a:p>
          <a:p>
            <a:pPr eaLnBrk="1" hangingPunct="1">
              <a:spcBef>
                <a:spcPct val="0"/>
              </a:spcBef>
              <a:buClrTx/>
              <a:buSzTx/>
              <a:buFontTx/>
              <a:buNone/>
            </a:pPr>
            <a:r>
              <a:rPr lang="en-US" altLang="en-US" sz="1800" i="1">
                <a:latin typeface="Arial" panose="020B0604020202020204" pitchFamily="34" charset="0"/>
              </a:rPr>
              <a:t>entry to select?</a:t>
            </a:r>
          </a:p>
        </p:txBody>
      </p:sp>
      <p:grpSp>
        <p:nvGrpSpPr>
          <p:cNvPr id="2" name="Group 5">
            <a:extLst>
              <a:ext uri="{FF2B5EF4-FFF2-40B4-BE49-F238E27FC236}">
                <a16:creationId xmlns:a16="http://schemas.microsoft.com/office/drawing/2014/main" id="{1E1B42AC-F921-76A1-3FBE-AC91B0A17F24}"/>
              </a:ext>
            </a:extLst>
          </p:cNvPr>
          <p:cNvGrpSpPr>
            <a:grpSpLocks/>
          </p:cNvGrpSpPr>
          <p:nvPr/>
        </p:nvGrpSpPr>
        <p:grpSpPr bwMode="auto">
          <a:xfrm>
            <a:off x="2971800" y="2438400"/>
            <a:ext cx="1219200" cy="2825750"/>
            <a:chOff x="1872" y="1392"/>
            <a:chExt cx="768" cy="1780"/>
          </a:xfrm>
        </p:grpSpPr>
        <p:sp>
          <p:nvSpPr>
            <p:cNvPr id="63584" name="Rectangle 6">
              <a:extLst>
                <a:ext uri="{FF2B5EF4-FFF2-40B4-BE49-F238E27FC236}">
                  <a16:creationId xmlns:a16="http://schemas.microsoft.com/office/drawing/2014/main" id="{B331E74C-44B0-5684-461B-C8FB69954A28}"/>
                </a:ext>
              </a:extLst>
            </p:cNvPr>
            <p:cNvSpPr>
              <a:spLocks noChangeArrowheads="1"/>
            </p:cNvSpPr>
            <p:nvPr/>
          </p:nvSpPr>
          <p:spPr bwMode="auto">
            <a:xfrm>
              <a:off x="1920" y="2939"/>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a:t>…</a:t>
              </a:r>
            </a:p>
          </p:txBody>
        </p:sp>
        <p:sp>
          <p:nvSpPr>
            <p:cNvPr id="63585" name="Rectangle 7">
              <a:extLst>
                <a:ext uri="{FF2B5EF4-FFF2-40B4-BE49-F238E27FC236}">
                  <a16:creationId xmlns:a16="http://schemas.microsoft.com/office/drawing/2014/main" id="{279F6B2A-A690-ED9F-B777-510AECE4D2BC}"/>
                </a:ext>
              </a:extLst>
            </p:cNvPr>
            <p:cNvSpPr>
              <a:spLocks noChangeArrowheads="1"/>
            </p:cNvSpPr>
            <p:nvPr/>
          </p:nvSpPr>
          <p:spPr bwMode="auto">
            <a:xfrm>
              <a:off x="1920" y="2707"/>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86" name="Rectangle 8">
              <a:extLst>
                <a:ext uri="{FF2B5EF4-FFF2-40B4-BE49-F238E27FC236}">
                  <a16:creationId xmlns:a16="http://schemas.microsoft.com/office/drawing/2014/main" id="{09A6239A-9C24-EEA3-83F4-944920050694}"/>
                </a:ext>
              </a:extLst>
            </p:cNvPr>
            <p:cNvSpPr>
              <a:spLocks noChangeArrowheads="1"/>
            </p:cNvSpPr>
            <p:nvPr/>
          </p:nvSpPr>
          <p:spPr bwMode="auto">
            <a:xfrm>
              <a:off x="1920" y="2474"/>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87" name="Rectangle 9">
              <a:extLst>
                <a:ext uri="{FF2B5EF4-FFF2-40B4-BE49-F238E27FC236}">
                  <a16:creationId xmlns:a16="http://schemas.microsoft.com/office/drawing/2014/main" id="{0610D8FC-210F-9EE0-8D02-F86316D27D6D}"/>
                </a:ext>
              </a:extLst>
            </p:cNvPr>
            <p:cNvSpPr>
              <a:spLocks noChangeArrowheads="1"/>
            </p:cNvSpPr>
            <p:nvPr/>
          </p:nvSpPr>
          <p:spPr bwMode="auto">
            <a:xfrm>
              <a:off x="1920" y="2241"/>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88" name="Rectangle 10">
              <a:extLst>
                <a:ext uri="{FF2B5EF4-FFF2-40B4-BE49-F238E27FC236}">
                  <a16:creationId xmlns:a16="http://schemas.microsoft.com/office/drawing/2014/main" id="{0F4152C9-A466-47AB-4CCE-40676A6CD0C1}"/>
                </a:ext>
              </a:extLst>
            </p:cNvPr>
            <p:cNvSpPr>
              <a:spLocks noChangeArrowheads="1"/>
            </p:cNvSpPr>
            <p:nvPr/>
          </p:nvSpPr>
          <p:spPr bwMode="auto">
            <a:xfrm>
              <a:off x="1920" y="2009"/>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89" name="Rectangle 11">
              <a:extLst>
                <a:ext uri="{FF2B5EF4-FFF2-40B4-BE49-F238E27FC236}">
                  <a16:creationId xmlns:a16="http://schemas.microsoft.com/office/drawing/2014/main" id="{693C8679-A033-A581-4041-4EDF3632DED4}"/>
                </a:ext>
              </a:extLst>
            </p:cNvPr>
            <p:cNvSpPr>
              <a:spLocks noChangeArrowheads="1"/>
            </p:cNvSpPr>
            <p:nvPr/>
          </p:nvSpPr>
          <p:spPr bwMode="auto">
            <a:xfrm>
              <a:off x="1920" y="1776"/>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849932" name="Line 12">
              <a:extLst>
                <a:ext uri="{FF2B5EF4-FFF2-40B4-BE49-F238E27FC236}">
                  <a16:creationId xmlns:a16="http://schemas.microsoft.com/office/drawing/2014/main" id="{E841D12F-3D59-0FF8-F307-368C88766A8A}"/>
                </a:ext>
              </a:extLst>
            </p:cNvPr>
            <p:cNvSpPr>
              <a:spLocks noChangeShapeType="1"/>
            </p:cNvSpPr>
            <p:nvPr/>
          </p:nvSpPr>
          <p:spPr bwMode="auto">
            <a:xfrm>
              <a:off x="1920" y="1776"/>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3" name="Line 13">
              <a:extLst>
                <a:ext uri="{FF2B5EF4-FFF2-40B4-BE49-F238E27FC236}">
                  <a16:creationId xmlns:a16="http://schemas.microsoft.com/office/drawing/2014/main" id="{F2D072FA-AD10-B48A-B1DE-E279600831A1}"/>
                </a:ext>
              </a:extLst>
            </p:cNvPr>
            <p:cNvSpPr>
              <a:spLocks noChangeShapeType="1"/>
            </p:cNvSpPr>
            <p:nvPr/>
          </p:nvSpPr>
          <p:spPr bwMode="auto">
            <a:xfrm>
              <a:off x="1920" y="2009"/>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4" name="Line 14">
              <a:extLst>
                <a:ext uri="{FF2B5EF4-FFF2-40B4-BE49-F238E27FC236}">
                  <a16:creationId xmlns:a16="http://schemas.microsoft.com/office/drawing/2014/main" id="{9059F617-B069-719D-C2D4-7406D5CAFA82}"/>
                </a:ext>
              </a:extLst>
            </p:cNvPr>
            <p:cNvSpPr>
              <a:spLocks noChangeShapeType="1"/>
            </p:cNvSpPr>
            <p:nvPr/>
          </p:nvSpPr>
          <p:spPr bwMode="auto">
            <a:xfrm>
              <a:off x="1920" y="2241"/>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5" name="Line 15">
              <a:extLst>
                <a:ext uri="{FF2B5EF4-FFF2-40B4-BE49-F238E27FC236}">
                  <a16:creationId xmlns:a16="http://schemas.microsoft.com/office/drawing/2014/main" id="{6FBB2F45-13B8-6DC5-1224-92E9302C522E}"/>
                </a:ext>
              </a:extLst>
            </p:cNvPr>
            <p:cNvSpPr>
              <a:spLocks noChangeShapeType="1"/>
            </p:cNvSpPr>
            <p:nvPr/>
          </p:nvSpPr>
          <p:spPr bwMode="auto">
            <a:xfrm>
              <a:off x="1920" y="2474"/>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6" name="Line 16">
              <a:extLst>
                <a:ext uri="{FF2B5EF4-FFF2-40B4-BE49-F238E27FC236}">
                  <a16:creationId xmlns:a16="http://schemas.microsoft.com/office/drawing/2014/main" id="{9E58A82D-9A33-86C1-E893-20E7A476E1B1}"/>
                </a:ext>
              </a:extLst>
            </p:cNvPr>
            <p:cNvSpPr>
              <a:spLocks noChangeShapeType="1"/>
            </p:cNvSpPr>
            <p:nvPr/>
          </p:nvSpPr>
          <p:spPr bwMode="auto">
            <a:xfrm>
              <a:off x="1920" y="2707"/>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7" name="Line 17">
              <a:extLst>
                <a:ext uri="{FF2B5EF4-FFF2-40B4-BE49-F238E27FC236}">
                  <a16:creationId xmlns:a16="http://schemas.microsoft.com/office/drawing/2014/main" id="{49E88121-E92D-E463-8AA6-BF75CA74B411}"/>
                </a:ext>
              </a:extLst>
            </p:cNvPr>
            <p:cNvSpPr>
              <a:spLocks noChangeShapeType="1"/>
            </p:cNvSpPr>
            <p:nvPr/>
          </p:nvSpPr>
          <p:spPr bwMode="auto">
            <a:xfrm>
              <a:off x="1920" y="2939"/>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8" name="Line 18">
              <a:extLst>
                <a:ext uri="{FF2B5EF4-FFF2-40B4-BE49-F238E27FC236}">
                  <a16:creationId xmlns:a16="http://schemas.microsoft.com/office/drawing/2014/main" id="{855C857D-44CB-39A4-807D-3701002B4C19}"/>
                </a:ext>
              </a:extLst>
            </p:cNvPr>
            <p:cNvSpPr>
              <a:spLocks noChangeShapeType="1"/>
            </p:cNvSpPr>
            <p:nvPr/>
          </p:nvSpPr>
          <p:spPr bwMode="auto">
            <a:xfrm>
              <a:off x="1920" y="3172"/>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39" name="Line 19">
              <a:extLst>
                <a:ext uri="{FF2B5EF4-FFF2-40B4-BE49-F238E27FC236}">
                  <a16:creationId xmlns:a16="http://schemas.microsoft.com/office/drawing/2014/main" id="{14124E15-6982-8946-F6B1-4FDC083568F9}"/>
                </a:ext>
              </a:extLst>
            </p:cNvPr>
            <p:cNvSpPr>
              <a:spLocks noChangeShapeType="1"/>
            </p:cNvSpPr>
            <p:nvPr/>
          </p:nvSpPr>
          <p:spPr bwMode="auto">
            <a:xfrm>
              <a:off x="1920" y="1776"/>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40" name="Line 20">
              <a:extLst>
                <a:ext uri="{FF2B5EF4-FFF2-40B4-BE49-F238E27FC236}">
                  <a16:creationId xmlns:a16="http://schemas.microsoft.com/office/drawing/2014/main" id="{E96D4CF5-CAC8-3371-1D27-33ECD30A2145}"/>
                </a:ext>
              </a:extLst>
            </p:cNvPr>
            <p:cNvSpPr>
              <a:spLocks noChangeShapeType="1"/>
            </p:cNvSpPr>
            <p:nvPr/>
          </p:nvSpPr>
          <p:spPr bwMode="auto">
            <a:xfrm>
              <a:off x="2640" y="1776"/>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63599" name="Text Box 21">
              <a:extLst>
                <a:ext uri="{FF2B5EF4-FFF2-40B4-BE49-F238E27FC236}">
                  <a16:creationId xmlns:a16="http://schemas.microsoft.com/office/drawing/2014/main" id="{05214953-D7C5-90FC-4CC8-3A03374E9CD0}"/>
                </a:ext>
              </a:extLst>
            </p:cNvPr>
            <p:cNvSpPr txBox="1">
              <a:spLocks noChangeArrowheads="1"/>
            </p:cNvSpPr>
            <p:nvPr/>
          </p:nvSpPr>
          <p:spPr bwMode="auto">
            <a:xfrm>
              <a:off x="1872" y="1392"/>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a:latin typeface="Arial" panose="020B0604020202020204" pitchFamily="34" charset="0"/>
                </a:rPr>
                <a:t>SPD</a:t>
              </a:r>
              <a:br>
                <a:rPr lang="en-US" altLang="en-US" sz="1800">
                  <a:latin typeface="Arial" panose="020B0604020202020204" pitchFamily="34" charset="0"/>
                </a:rPr>
              </a:br>
              <a:r>
                <a:rPr lang="en-US" altLang="en-US" sz="1800">
                  <a:latin typeface="Arial" panose="020B0604020202020204" pitchFamily="34" charset="0"/>
                </a:rPr>
                <a:t>(Policy)</a:t>
              </a:r>
            </a:p>
          </p:txBody>
        </p:sp>
      </p:grpSp>
      <p:grpSp>
        <p:nvGrpSpPr>
          <p:cNvPr id="3" name="Group 22">
            <a:extLst>
              <a:ext uri="{FF2B5EF4-FFF2-40B4-BE49-F238E27FC236}">
                <a16:creationId xmlns:a16="http://schemas.microsoft.com/office/drawing/2014/main" id="{FD4FF962-E308-B530-5ED5-B87E10B16F89}"/>
              </a:ext>
            </a:extLst>
          </p:cNvPr>
          <p:cNvGrpSpPr>
            <a:grpSpLocks/>
          </p:cNvGrpSpPr>
          <p:nvPr/>
        </p:nvGrpSpPr>
        <p:grpSpPr bwMode="auto">
          <a:xfrm>
            <a:off x="5029200" y="2438400"/>
            <a:ext cx="1371600" cy="2819400"/>
            <a:chOff x="3168" y="1392"/>
            <a:chExt cx="864" cy="1776"/>
          </a:xfrm>
        </p:grpSpPr>
        <p:sp>
          <p:nvSpPr>
            <p:cNvPr id="63568" name="Rectangle 23">
              <a:extLst>
                <a:ext uri="{FF2B5EF4-FFF2-40B4-BE49-F238E27FC236}">
                  <a16:creationId xmlns:a16="http://schemas.microsoft.com/office/drawing/2014/main" id="{BC2E0377-CDA7-EAE7-70D6-CBF87619CF92}"/>
                </a:ext>
              </a:extLst>
            </p:cNvPr>
            <p:cNvSpPr>
              <a:spLocks noChangeArrowheads="1"/>
            </p:cNvSpPr>
            <p:nvPr/>
          </p:nvSpPr>
          <p:spPr bwMode="auto">
            <a:xfrm>
              <a:off x="3216" y="2935"/>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a:t>…</a:t>
              </a:r>
            </a:p>
          </p:txBody>
        </p:sp>
        <p:sp>
          <p:nvSpPr>
            <p:cNvPr id="63569" name="Rectangle 24">
              <a:extLst>
                <a:ext uri="{FF2B5EF4-FFF2-40B4-BE49-F238E27FC236}">
                  <a16:creationId xmlns:a16="http://schemas.microsoft.com/office/drawing/2014/main" id="{13EBDC09-82E1-2C01-F0CB-E0E1F89D9E69}"/>
                </a:ext>
              </a:extLst>
            </p:cNvPr>
            <p:cNvSpPr>
              <a:spLocks noChangeArrowheads="1"/>
            </p:cNvSpPr>
            <p:nvPr/>
          </p:nvSpPr>
          <p:spPr bwMode="auto">
            <a:xfrm>
              <a:off x="3216" y="2703"/>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70" name="Rectangle 25">
              <a:extLst>
                <a:ext uri="{FF2B5EF4-FFF2-40B4-BE49-F238E27FC236}">
                  <a16:creationId xmlns:a16="http://schemas.microsoft.com/office/drawing/2014/main" id="{1D525DC3-C494-1A07-5672-B48901F75585}"/>
                </a:ext>
              </a:extLst>
            </p:cNvPr>
            <p:cNvSpPr>
              <a:spLocks noChangeArrowheads="1"/>
            </p:cNvSpPr>
            <p:nvPr/>
          </p:nvSpPr>
          <p:spPr bwMode="auto">
            <a:xfrm>
              <a:off x="3216" y="2470"/>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71" name="Rectangle 26">
              <a:extLst>
                <a:ext uri="{FF2B5EF4-FFF2-40B4-BE49-F238E27FC236}">
                  <a16:creationId xmlns:a16="http://schemas.microsoft.com/office/drawing/2014/main" id="{7CE99FAD-225A-A503-55F4-4374920EA032}"/>
                </a:ext>
              </a:extLst>
            </p:cNvPr>
            <p:cNvSpPr>
              <a:spLocks noChangeArrowheads="1"/>
            </p:cNvSpPr>
            <p:nvPr/>
          </p:nvSpPr>
          <p:spPr bwMode="auto">
            <a:xfrm>
              <a:off x="3216" y="2237"/>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72" name="Rectangle 27">
              <a:extLst>
                <a:ext uri="{FF2B5EF4-FFF2-40B4-BE49-F238E27FC236}">
                  <a16:creationId xmlns:a16="http://schemas.microsoft.com/office/drawing/2014/main" id="{F3DC46C8-5D94-ED3D-1AD4-F0263D6F9D04}"/>
                </a:ext>
              </a:extLst>
            </p:cNvPr>
            <p:cNvSpPr>
              <a:spLocks noChangeArrowheads="1"/>
            </p:cNvSpPr>
            <p:nvPr/>
          </p:nvSpPr>
          <p:spPr bwMode="auto">
            <a:xfrm>
              <a:off x="3216" y="2005"/>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3573" name="Rectangle 28">
              <a:extLst>
                <a:ext uri="{FF2B5EF4-FFF2-40B4-BE49-F238E27FC236}">
                  <a16:creationId xmlns:a16="http://schemas.microsoft.com/office/drawing/2014/main" id="{49878356-7063-01B3-8FE6-096784E34496}"/>
                </a:ext>
              </a:extLst>
            </p:cNvPr>
            <p:cNvSpPr>
              <a:spLocks noChangeArrowheads="1"/>
            </p:cNvSpPr>
            <p:nvPr/>
          </p:nvSpPr>
          <p:spPr bwMode="auto">
            <a:xfrm>
              <a:off x="3216" y="1772"/>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849949" name="Line 29">
              <a:extLst>
                <a:ext uri="{FF2B5EF4-FFF2-40B4-BE49-F238E27FC236}">
                  <a16:creationId xmlns:a16="http://schemas.microsoft.com/office/drawing/2014/main" id="{FC18E5A8-058B-4B90-1181-E21263A112C3}"/>
                </a:ext>
              </a:extLst>
            </p:cNvPr>
            <p:cNvSpPr>
              <a:spLocks noChangeShapeType="1"/>
            </p:cNvSpPr>
            <p:nvPr/>
          </p:nvSpPr>
          <p:spPr bwMode="auto">
            <a:xfrm>
              <a:off x="3216" y="1772"/>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0" name="Line 30">
              <a:extLst>
                <a:ext uri="{FF2B5EF4-FFF2-40B4-BE49-F238E27FC236}">
                  <a16:creationId xmlns:a16="http://schemas.microsoft.com/office/drawing/2014/main" id="{9B524001-AD63-DA84-7B4F-568B917F1AFE}"/>
                </a:ext>
              </a:extLst>
            </p:cNvPr>
            <p:cNvSpPr>
              <a:spLocks noChangeShapeType="1"/>
            </p:cNvSpPr>
            <p:nvPr/>
          </p:nvSpPr>
          <p:spPr bwMode="auto">
            <a:xfrm>
              <a:off x="3216" y="2005"/>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1" name="Line 31">
              <a:extLst>
                <a:ext uri="{FF2B5EF4-FFF2-40B4-BE49-F238E27FC236}">
                  <a16:creationId xmlns:a16="http://schemas.microsoft.com/office/drawing/2014/main" id="{EB58BE4E-5B22-1BDA-5182-C53286895175}"/>
                </a:ext>
              </a:extLst>
            </p:cNvPr>
            <p:cNvSpPr>
              <a:spLocks noChangeShapeType="1"/>
            </p:cNvSpPr>
            <p:nvPr/>
          </p:nvSpPr>
          <p:spPr bwMode="auto">
            <a:xfrm>
              <a:off x="3216" y="2237"/>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2" name="Line 32">
              <a:extLst>
                <a:ext uri="{FF2B5EF4-FFF2-40B4-BE49-F238E27FC236}">
                  <a16:creationId xmlns:a16="http://schemas.microsoft.com/office/drawing/2014/main" id="{D072FAA4-5F01-1DD0-B8FF-7AD7278094A5}"/>
                </a:ext>
              </a:extLst>
            </p:cNvPr>
            <p:cNvSpPr>
              <a:spLocks noChangeShapeType="1"/>
            </p:cNvSpPr>
            <p:nvPr/>
          </p:nvSpPr>
          <p:spPr bwMode="auto">
            <a:xfrm>
              <a:off x="3216" y="2470"/>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3" name="Line 33">
              <a:extLst>
                <a:ext uri="{FF2B5EF4-FFF2-40B4-BE49-F238E27FC236}">
                  <a16:creationId xmlns:a16="http://schemas.microsoft.com/office/drawing/2014/main" id="{FBE18246-8E7C-D9D6-C853-ED34367EBD0E}"/>
                </a:ext>
              </a:extLst>
            </p:cNvPr>
            <p:cNvSpPr>
              <a:spLocks noChangeShapeType="1"/>
            </p:cNvSpPr>
            <p:nvPr/>
          </p:nvSpPr>
          <p:spPr bwMode="auto">
            <a:xfrm>
              <a:off x="3216" y="2703"/>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4" name="Line 34">
              <a:extLst>
                <a:ext uri="{FF2B5EF4-FFF2-40B4-BE49-F238E27FC236}">
                  <a16:creationId xmlns:a16="http://schemas.microsoft.com/office/drawing/2014/main" id="{81AA8D20-035C-0B2D-1994-56B9A2BC9E60}"/>
                </a:ext>
              </a:extLst>
            </p:cNvPr>
            <p:cNvSpPr>
              <a:spLocks noChangeShapeType="1"/>
            </p:cNvSpPr>
            <p:nvPr/>
          </p:nvSpPr>
          <p:spPr bwMode="auto">
            <a:xfrm>
              <a:off x="3216" y="2935"/>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5" name="Line 35">
              <a:extLst>
                <a:ext uri="{FF2B5EF4-FFF2-40B4-BE49-F238E27FC236}">
                  <a16:creationId xmlns:a16="http://schemas.microsoft.com/office/drawing/2014/main" id="{A8F6472E-C031-8F56-E167-BC463CAC5DF6}"/>
                </a:ext>
              </a:extLst>
            </p:cNvPr>
            <p:cNvSpPr>
              <a:spLocks noChangeShapeType="1"/>
            </p:cNvSpPr>
            <p:nvPr/>
          </p:nvSpPr>
          <p:spPr bwMode="auto">
            <a:xfrm>
              <a:off x="3216" y="3168"/>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6" name="Line 36">
              <a:extLst>
                <a:ext uri="{FF2B5EF4-FFF2-40B4-BE49-F238E27FC236}">
                  <a16:creationId xmlns:a16="http://schemas.microsoft.com/office/drawing/2014/main" id="{89BFCBCC-6128-2586-B73C-967793837ACA}"/>
                </a:ext>
              </a:extLst>
            </p:cNvPr>
            <p:cNvSpPr>
              <a:spLocks noChangeShapeType="1"/>
            </p:cNvSpPr>
            <p:nvPr/>
          </p:nvSpPr>
          <p:spPr bwMode="auto">
            <a:xfrm>
              <a:off x="3216" y="1772"/>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49957" name="Line 37">
              <a:extLst>
                <a:ext uri="{FF2B5EF4-FFF2-40B4-BE49-F238E27FC236}">
                  <a16:creationId xmlns:a16="http://schemas.microsoft.com/office/drawing/2014/main" id="{068D4AEB-B3E3-F422-9FC1-FB60929A961B}"/>
                </a:ext>
              </a:extLst>
            </p:cNvPr>
            <p:cNvSpPr>
              <a:spLocks noChangeShapeType="1"/>
            </p:cNvSpPr>
            <p:nvPr/>
          </p:nvSpPr>
          <p:spPr bwMode="auto">
            <a:xfrm>
              <a:off x="3936" y="1772"/>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63583" name="Text Box 38">
              <a:extLst>
                <a:ext uri="{FF2B5EF4-FFF2-40B4-BE49-F238E27FC236}">
                  <a16:creationId xmlns:a16="http://schemas.microsoft.com/office/drawing/2014/main" id="{B6F3CF5D-52B6-C8C2-CBC4-C1A4DAC40913}"/>
                </a:ext>
              </a:extLst>
            </p:cNvPr>
            <p:cNvSpPr txBox="1">
              <a:spLocks noChangeArrowheads="1"/>
            </p:cNvSpPr>
            <p:nvPr/>
          </p:nvSpPr>
          <p:spPr bwMode="auto">
            <a:xfrm>
              <a:off x="3168" y="1392"/>
              <a:ext cx="86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a:latin typeface="Arial" panose="020B0604020202020204" pitchFamily="34" charset="0"/>
                </a:rPr>
                <a:t>SA Database</a:t>
              </a:r>
            </a:p>
          </p:txBody>
        </p:sp>
      </p:grpSp>
      <p:sp>
        <p:nvSpPr>
          <p:cNvPr id="849959" name="Line 39">
            <a:extLst>
              <a:ext uri="{FF2B5EF4-FFF2-40B4-BE49-F238E27FC236}">
                <a16:creationId xmlns:a16="http://schemas.microsoft.com/office/drawing/2014/main" id="{46453092-264E-84F3-9664-6D055E15F874}"/>
              </a:ext>
            </a:extLst>
          </p:cNvPr>
          <p:cNvSpPr>
            <a:spLocks noChangeShapeType="1"/>
          </p:cNvSpPr>
          <p:nvPr/>
        </p:nvSpPr>
        <p:spPr bwMode="auto">
          <a:xfrm>
            <a:off x="6248400" y="4343400"/>
            <a:ext cx="838200" cy="76200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grpSp>
        <p:nvGrpSpPr>
          <p:cNvPr id="63495" name="Group 40">
            <a:extLst>
              <a:ext uri="{FF2B5EF4-FFF2-40B4-BE49-F238E27FC236}">
                <a16:creationId xmlns:a16="http://schemas.microsoft.com/office/drawing/2014/main" id="{F8FBD6B0-D25B-E7B3-2631-BE7981989F97}"/>
              </a:ext>
            </a:extLst>
          </p:cNvPr>
          <p:cNvGrpSpPr>
            <a:grpSpLocks/>
          </p:cNvGrpSpPr>
          <p:nvPr/>
        </p:nvGrpSpPr>
        <p:grpSpPr bwMode="auto">
          <a:xfrm>
            <a:off x="304800" y="1133475"/>
            <a:ext cx="7467600" cy="1533525"/>
            <a:chOff x="192" y="570"/>
            <a:chExt cx="4704" cy="966"/>
          </a:xfrm>
        </p:grpSpPr>
        <p:sp>
          <p:nvSpPr>
            <p:cNvPr id="63505" name="Rectangle 41">
              <a:extLst>
                <a:ext uri="{FF2B5EF4-FFF2-40B4-BE49-F238E27FC236}">
                  <a16:creationId xmlns:a16="http://schemas.microsoft.com/office/drawing/2014/main" id="{84ECDBC2-708D-ABB3-A759-1E7CAB9700F8}"/>
                </a:ext>
              </a:extLst>
            </p:cNvPr>
            <p:cNvSpPr>
              <a:spLocks noChangeArrowheads="1"/>
            </p:cNvSpPr>
            <p:nvPr/>
          </p:nvSpPr>
          <p:spPr bwMode="auto">
            <a:xfrm>
              <a:off x="192" y="1296"/>
              <a:ext cx="720" cy="240"/>
            </a:xfrm>
            <a:prstGeom prst="rect">
              <a:avLst/>
            </a:prstGeom>
            <a:solidFill>
              <a:srgbClr val="CCFF66"/>
            </a:solidFill>
            <a:ln w="38100">
              <a:solidFill>
                <a:srgbClr val="008000"/>
              </a:solidFill>
              <a:miter lim="800000"/>
              <a:headEnd/>
              <a:tailEnd/>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solidFill>
                    <a:srgbClr val="000000"/>
                  </a:solidFill>
                  <a:latin typeface="Arial" panose="020B0604020202020204" pitchFamily="34" charset="0"/>
                </a:rPr>
                <a:t>IP Packet</a:t>
              </a:r>
            </a:p>
          </p:txBody>
        </p:sp>
        <p:sp>
          <p:nvSpPr>
            <p:cNvPr id="63506" name="Text Box 42">
              <a:extLst>
                <a:ext uri="{FF2B5EF4-FFF2-40B4-BE49-F238E27FC236}">
                  <a16:creationId xmlns:a16="http://schemas.microsoft.com/office/drawing/2014/main" id="{84C5FE3C-2B4B-151C-12C8-25D42F9CD783}"/>
                </a:ext>
              </a:extLst>
            </p:cNvPr>
            <p:cNvSpPr txBox="1">
              <a:spLocks noChangeArrowheads="1"/>
            </p:cNvSpPr>
            <p:nvPr/>
          </p:nvSpPr>
          <p:spPr bwMode="auto">
            <a:xfrm>
              <a:off x="576" y="624"/>
              <a:ext cx="2308" cy="296"/>
            </a:xfrm>
            <a:prstGeom prst="rect">
              <a:avLst/>
            </a:prstGeom>
            <a:solidFill>
              <a:srgbClr val="FFFF00"/>
            </a:solidFill>
            <a:ln w="12700">
              <a:solidFill>
                <a:schemeClr val="tx2"/>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solidFill>
                    <a:srgbClr val="660066"/>
                  </a:solidFill>
                  <a:latin typeface="Arial" panose="020B0604020202020204" pitchFamily="34" charset="0"/>
                </a:rPr>
                <a:t>Outbound packet (on A)</a:t>
              </a:r>
            </a:p>
          </p:txBody>
        </p:sp>
        <p:sp>
          <p:nvSpPr>
            <p:cNvPr id="63507" name="Text Box 43">
              <a:extLst>
                <a:ext uri="{FF2B5EF4-FFF2-40B4-BE49-F238E27FC236}">
                  <a16:creationId xmlns:a16="http://schemas.microsoft.com/office/drawing/2014/main" id="{AFB6CA06-6259-91ED-CB7E-5FEC052F21F2}"/>
                </a:ext>
              </a:extLst>
            </p:cNvPr>
            <p:cNvSpPr txBox="1">
              <a:spLocks noChangeArrowheads="1"/>
            </p:cNvSpPr>
            <p:nvPr/>
          </p:nvSpPr>
          <p:spPr bwMode="auto">
            <a:xfrm>
              <a:off x="3678" y="963"/>
              <a:ext cx="284" cy="333"/>
            </a:xfrm>
            <a:prstGeom prst="rect">
              <a:avLst/>
            </a:prstGeom>
            <a:solidFill>
              <a:srgbClr val="FF0000"/>
            </a:solidFill>
            <a:ln w="9525">
              <a:solidFill>
                <a:schemeClr val="tx2"/>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A</a:t>
              </a:r>
            </a:p>
          </p:txBody>
        </p:sp>
        <p:sp>
          <p:nvSpPr>
            <p:cNvPr id="63508" name="Rectangle 44">
              <a:extLst>
                <a:ext uri="{FF2B5EF4-FFF2-40B4-BE49-F238E27FC236}">
                  <a16:creationId xmlns:a16="http://schemas.microsoft.com/office/drawing/2014/main" id="{373BE3A7-0F24-6572-B5AA-6CDDAECA18DD}"/>
                </a:ext>
              </a:extLst>
            </p:cNvPr>
            <p:cNvSpPr>
              <a:spLocks noChangeArrowheads="1"/>
            </p:cNvSpPr>
            <p:nvPr/>
          </p:nvSpPr>
          <p:spPr bwMode="auto">
            <a:xfrm>
              <a:off x="4552" y="963"/>
              <a:ext cx="284" cy="333"/>
            </a:xfrm>
            <a:prstGeom prst="rect">
              <a:avLst/>
            </a:prstGeom>
            <a:solidFill>
              <a:srgbClr val="800080"/>
            </a:solidFill>
            <a:ln w="9525">
              <a:solidFill>
                <a:schemeClr val="tx1"/>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B</a:t>
              </a:r>
            </a:p>
          </p:txBody>
        </p:sp>
        <p:sp>
          <p:nvSpPr>
            <p:cNvPr id="849965" name="Line 45">
              <a:extLst>
                <a:ext uri="{FF2B5EF4-FFF2-40B4-BE49-F238E27FC236}">
                  <a16:creationId xmlns:a16="http://schemas.microsoft.com/office/drawing/2014/main" id="{DC063E15-4CBA-D24C-157F-8513CBB38B39}"/>
                </a:ext>
              </a:extLst>
            </p:cNvPr>
            <p:cNvSpPr>
              <a:spLocks noChangeShapeType="1"/>
            </p:cNvSpPr>
            <p:nvPr/>
          </p:nvSpPr>
          <p:spPr bwMode="auto">
            <a:xfrm>
              <a:off x="3966" y="1146"/>
              <a:ext cx="576" cy="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grpSp>
          <p:nvGrpSpPr>
            <p:cNvPr id="63510" name="Group 46">
              <a:extLst>
                <a:ext uri="{FF2B5EF4-FFF2-40B4-BE49-F238E27FC236}">
                  <a16:creationId xmlns:a16="http://schemas.microsoft.com/office/drawing/2014/main" id="{27B468D9-BA01-CA8B-17D9-651F7564058D}"/>
                </a:ext>
              </a:extLst>
            </p:cNvPr>
            <p:cNvGrpSpPr>
              <a:grpSpLocks/>
            </p:cNvGrpSpPr>
            <p:nvPr/>
          </p:nvGrpSpPr>
          <p:grpSpPr bwMode="auto">
            <a:xfrm>
              <a:off x="3678" y="570"/>
              <a:ext cx="402" cy="347"/>
              <a:chOff x="582" y="534"/>
              <a:chExt cx="614" cy="530"/>
            </a:xfrm>
          </p:grpSpPr>
          <p:sp>
            <p:nvSpPr>
              <p:cNvPr id="849967" name="Arc 47">
                <a:extLst>
                  <a:ext uri="{FF2B5EF4-FFF2-40B4-BE49-F238E27FC236}">
                    <a16:creationId xmlns:a16="http://schemas.microsoft.com/office/drawing/2014/main" id="{11A99CEE-0447-3663-1624-E4C6171DF2C0}"/>
                  </a:ext>
                </a:extLst>
              </p:cNvPr>
              <p:cNvSpPr>
                <a:spLocks/>
              </p:cNvSpPr>
              <p:nvPr/>
            </p:nvSpPr>
            <p:spPr bwMode="auto">
              <a:xfrm>
                <a:off x="1059" y="917"/>
                <a:ext cx="119" cy="81"/>
              </a:xfrm>
              <a:custGeom>
                <a:avLst/>
                <a:gdLst>
                  <a:gd name="G0" fmla="+- 16576 0 0"/>
                  <a:gd name="G1" fmla="+- 21600 0 0"/>
                  <a:gd name="G2" fmla="+- 21600 0 0"/>
                  <a:gd name="T0" fmla="*/ 0 w 38176"/>
                  <a:gd name="T1" fmla="*/ 7751 h 34923"/>
                  <a:gd name="T2" fmla="*/ 33578 w 38176"/>
                  <a:gd name="T3" fmla="*/ 34923 h 34923"/>
                  <a:gd name="T4" fmla="*/ 16576 w 38176"/>
                  <a:gd name="T5" fmla="*/ 21600 h 34923"/>
                </a:gdLst>
                <a:ahLst/>
                <a:cxnLst>
                  <a:cxn ang="0">
                    <a:pos x="T0" y="T1"/>
                  </a:cxn>
                  <a:cxn ang="0">
                    <a:pos x="T2" y="T3"/>
                  </a:cxn>
                  <a:cxn ang="0">
                    <a:pos x="T4" y="T5"/>
                  </a:cxn>
                </a:cxnLst>
                <a:rect l="0" t="0" r="r" b="b"/>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close/>
                  </a:path>
                </a:pathLst>
              </a:custGeom>
              <a:noFill/>
              <a:ln w="20638">
                <a:solidFill>
                  <a:srgbClr val="0078AA"/>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68" name="Arc 48">
                <a:extLst>
                  <a:ext uri="{FF2B5EF4-FFF2-40B4-BE49-F238E27FC236}">
                    <a16:creationId xmlns:a16="http://schemas.microsoft.com/office/drawing/2014/main" id="{8F2CC5A7-2981-B889-CB95-A7067F0A42CF}"/>
                  </a:ext>
                </a:extLst>
              </p:cNvPr>
              <p:cNvSpPr>
                <a:spLocks/>
              </p:cNvSpPr>
              <p:nvPr/>
            </p:nvSpPr>
            <p:spPr bwMode="auto">
              <a:xfrm>
                <a:off x="1060" y="919"/>
                <a:ext cx="118" cy="79"/>
              </a:xfrm>
              <a:custGeom>
                <a:avLst/>
                <a:gdLst>
                  <a:gd name="G0" fmla="+- 16722 0 0"/>
                  <a:gd name="G1" fmla="+- 21600 0 0"/>
                  <a:gd name="G2" fmla="+- 21600 0 0"/>
                  <a:gd name="T0" fmla="*/ 0 w 38322"/>
                  <a:gd name="T1" fmla="*/ 7928 h 34803"/>
                  <a:gd name="T2" fmla="*/ 33817 w 38322"/>
                  <a:gd name="T3" fmla="*/ 34803 h 34803"/>
                  <a:gd name="T4" fmla="*/ 16722 w 38322"/>
                  <a:gd name="T5" fmla="*/ 21600 h 34803"/>
                </a:gdLst>
                <a:ahLst/>
                <a:cxnLst>
                  <a:cxn ang="0">
                    <a:pos x="T0" y="T1"/>
                  </a:cxn>
                  <a:cxn ang="0">
                    <a:pos x="T2" y="T3"/>
                  </a:cxn>
                  <a:cxn ang="0">
                    <a:pos x="T4" y="T5"/>
                  </a:cxn>
                </a:cxnLst>
                <a:rect l="0" t="0" r="r" b="b"/>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close/>
                  </a:path>
                </a:pathLst>
              </a:custGeom>
              <a:noFill/>
              <a:ln w="9525">
                <a:solidFill>
                  <a:srgbClr val="AAE6FF"/>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69" name="Freeform 49">
                <a:extLst>
                  <a:ext uri="{FF2B5EF4-FFF2-40B4-BE49-F238E27FC236}">
                    <a16:creationId xmlns:a16="http://schemas.microsoft.com/office/drawing/2014/main" id="{C667EE13-7510-F6CA-9C8A-C5F5C58ABB3C}"/>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0" name="Freeform 50">
                <a:extLst>
                  <a:ext uri="{FF2B5EF4-FFF2-40B4-BE49-F238E27FC236}">
                    <a16:creationId xmlns:a16="http://schemas.microsoft.com/office/drawing/2014/main" id="{98D6EFBD-ACF1-A3D6-AAD8-21599695C4C3}"/>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1" name="Rectangle 51">
                <a:extLst>
                  <a:ext uri="{FF2B5EF4-FFF2-40B4-BE49-F238E27FC236}">
                    <a16:creationId xmlns:a16="http://schemas.microsoft.com/office/drawing/2014/main" id="{AD1AAD2E-1056-9F23-F015-A7F2FA991520}"/>
                  </a:ext>
                </a:extLst>
              </p:cNvPr>
              <p:cNvSpPr>
                <a:spLocks noChangeArrowheads="1"/>
              </p:cNvSpPr>
              <p:nvPr/>
            </p:nvSpPr>
            <p:spPr bwMode="auto">
              <a:xfrm>
                <a:off x="661" y="910"/>
                <a:ext cx="402" cy="7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72" name="Rectangle 52">
                <a:extLst>
                  <a:ext uri="{FF2B5EF4-FFF2-40B4-BE49-F238E27FC236}">
                    <a16:creationId xmlns:a16="http://schemas.microsoft.com/office/drawing/2014/main" id="{714D01FA-18C1-CF23-498F-B51E9C7AE57E}"/>
                  </a:ext>
                </a:extLst>
              </p:cNvPr>
              <p:cNvSpPr>
                <a:spLocks noChangeArrowheads="1"/>
              </p:cNvSpPr>
              <p:nvPr/>
            </p:nvSpPr>
            <p:spPr bwMode="auto">
              <a:xfrm>
                <a:off x="661" y="910"/>
                <a:ext cx="400" cy="75"/>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73" name="Freeform 53">
                <a:extLst>
                  <a:ext uri="{FF2B5EF4-FFF2-40B4-BE49-F238E27FC236}">
                    <a16:creationId xmlns:a16="http://schemas.microsoft.com/office/drawing/2014/main" id="{26C107BB-4045-4998-26B5-1428B62ED8FE}"/>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4" name="Freeform 54">
                <a:extLst>
                  <a:ext uri="{FF2B5EF4-FFF2-40B4-BE49-F238E27FC236}">
                    <a16:creationId xmlns:a16="http://schemas.microsoft.com/office/drawing/2014/main" id="{120ED2C7-35F6-0EA5-5EA8-396CC85CF148}"/>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5" name="Freeform 55">
                <a:extLst>
                  <a:ext uri="{FF2B5EF4-FFF2-40B4-BE49-F238E27FC236}">
                    <a16:creationId xmlns:a16="http://schemas.microsoft.com/office/drawing/2014/main" id="{748023C6-ADB5-EEF4-A754-A3018841D0BB}"/>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6" name="Freeform 56">
                <a:extLst>
                  <a:ext uri="{FF2B5EF4-FFF2-40B4-BE49-F238E27FC236}">
                    <a16:creationId xmlns:a16="http://schemas.microsoft.com/office/drawing/2014/main" id="{153D22F9-8867-C035-F289-F6F2C975292F}"/>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4763">
                <a:solidFill>
                  <a:srgbClr val="000000"/>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7" name="Freeform 57">
                <a:extLst>
                  <a:ext uri="{FF2B5EF4-FFF2-40B4-BE49-F238E27FC236}">
                    <a16:creationId xmlns:a16="http://schemas.microsoft.com/office/drawing/2014/main" id="{46CA0A1A-672B-E56E-B6A3-6773854E5D06}"/>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8" name="Freeform 58">
                <a:extLst>
                  <a:ext uri="{FF2B5EF4-FFF2-40B4-BE49-F238E27FC236}">
                    <a16:creationId xmlns:a16="http://schemas.microsoft.com/office/drawing/2014/main" id="{E5D77B53-762F-0089-92D9-B61A52BA24F8}"/>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79" name="Rectangle 59">
                <a:extLst>
                  <a:ext uri="{FF2B5EF4-FFF2-40B4-BE49-F238E27FC236}">
                    <a16:creationId xmlns:a16="http://schemas.microsoft.com/office/drawing/2014/main" id="{D1E286E0-A8AF-D7E9-0F6F-08DC258EF13F}"/>
                  </a:ext>
                </a:extLst>
              </p:cNvPr>
              <p:cNvSpPr>
                <a:spLocks noChangeArrowheads="1"/>
              </p:cNvSpPr>
              <p:nvPr/>
            </p:nvSpPr>
            <p:spPr bwMode="auto">
              <a:xfrm>
                <a:off x="661" y="575"/>
                <a:ext cx="403" cy="318"/>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80" name="Rectangle 60">
                <a:extLst>
                  <a:ext uri="{FF2B5EF4-FFF2-40B4-BE49-F238E27FC236}">
                    <a16:creationId xmlns:a16="http://schemas.microsoft.com/office/drawing/2014/main" id="{678006F3-0582-CA4E-C723-D64775FA717D}"/>
                  </a:ext>
                </a:extLst>
              </p:cNvPr>
              <p:cNvSpPr>
                <a:spLocks noChangeArrowheads="1"/>
              </p:cNvSpPr>
              <p:nvPr/>
            </p:nvSpPr>
            <p:spPr bwMode="auto">
              <a:xfrm>
                <a:off x="697" y="616"/>
                <a:ext cx="333" cy="243"/>
              </a:xfrm>
              <a:prstGeom prst="rect">
                <a:avLst/>
              </a:prstGeom>
              <a:solidFill>
                <a:srgbClr val="FFFFFF"/>
              </a:solidFill>
              <a:ln w="4763">
                <a:solidFill>
                  <a:srgbClr val="003C55"/>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81" name="Freeform 61">
                <a:extLst>
                  <a:ext uri="{FF2B5EF4-FFF2-40B4-BE49-F238E27FC236}">
                    <a16:creationId xmlns:a16="http://schemas.microsoft.com/office/drawing/2014/main" id="{151FCA94-AEC3-E7FD-4F0F-7B884ECFF8CC}"/>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82" name="Freeform 62">
                <a:extLst>
                  <a:ext uri="{FF2B5EF4-FFF2-40B4-BE49-F238E27FC236}">
                    <a16:creationId xmlns:a16="http://schemas.microsoft.com/office/drawing/2014/main" id="{EF2CA330-D554-C054-E093-A4A9CE846E24}"/>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83" name="Freeform 63">
                <a:extLst>
                  <a:ext uri="{FF2B5EF4-FFF2-40B4-BE49-F238E27FC236}">
                    <a16:creationId xmlns:a16="http://schemas.microsoft.com/office/drawing/2014/main" id="{1B43ADE1-32A2-291D-E11D-72CD09818BBB}"/>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84" name="Freeform 64">
                <a:extLst>
                  <a:ext uri="{FF2B5EF4-FFF2-40B4-BE49-F238E27FC236}">
                    <a16:creationId xmlns:a16="http://schemas.microsoft.com/office/drawing/2014/main" id="{200D2287-9CF3-534D-86B3-DCB82D6129E5}"/>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85" name="Freeform 65">
                <a:extLst>
                  <a:ext uri="{FF2B5EF4-FFF2-40B4-BE49-F238E27FC236}">
                    <a16:creationId xmlns:a16="http://schemas.microsoft.com/office/drawing/2014/main" id="{1F86509A-63AD-7DAE-9235-D82FC3A93480}"/>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86" name="Freeform 66">
                <a:extLst>
                  <a:ext uri="{FF2B5EF4-FFF2-40B4-BE49-F238E27FC236}">
                    <a16:creationId xmlns:a16="http://schemas.microsoft.com/office/drawing/2014/main" id="{E1EFBA63-868C-D96F-A6BC-9EDEC77A7179}"/>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87" name="Rectangle 67">
                <a:extLst>
                  <a:ext uri="{FF2B5EF4-FFF2-40B4-BE49-F238E27FC236}">
                    <a16:creationId xmlns:a16="http://schemas.microsoft.com/office/drawing/2014/main" id="{55EE11D0-4879-D800-B6CB-A2BC24383711}"/>
                  </a:ext>
                </a:extLst>
              </p:cNvPr>
              <p:cNvSpPr>
                <a:spLocks noChangeArrowheads="1"/>
              </p:cNvSpPr>
              <p:nvPr/>
            </p:nvSpPr>
            <p:spPr bwMode="auto">
              <a:xfrm>
                <a:off x="582" y="1049"/>
                <a:ext cx="43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88" name="Rectangle 68">
                <a:extLst>
                  <a:ext uri="{FF2B5EF4-FFF2-40B4-BE49-F238E27FC236}">
                    <a16:creationId xmlns:a16="http://schemas.microsoft.com/office/drawing/2014/main" id="{B5295427-FD42-3778-640F-E1ABBD88534C}"/>
                  </a:ext>
                </a:extLst>
              </p:cNvPr>
              <p:cNvSpPr>
                <a:spLocks noChangeArrowheads="1"/>
              </p:cNvSpPr>
              <p:nvPr/>
            </p:nvSpPr>
            <p:spPr bwMode="auto">
              <a:xfrm>
                <a:off x="584" y="1049"/>
                <a:ext cx="434"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89" name="Freeform 69">
                <a:extLst>
                  <a:ext uri="{FF2B5EF4-FFF2-40B4-BE49-F238E27FC236}">
                    <a16:creationId xmlns:a16="http://schemas.microsoft.com/office/drawing/2014/main" id="{EBE0813E-2D59-61C8-FE82-A1129C905F9D}"/>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0" name="Freeform 70">
                <a:extLst>
                  <a:ext uri="{FF2B5EF4-FFF2-40B4-BE49-F238E27FC236}">
                    <a16:creationId xmlns:a16="http://schemas.microsoft.com/office/drawing/2014/main" id="{C9BF0BD4-FCA3-2D68-0E0D-F900B5BF5A81}"/>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1" name="Freeform 71">
                <a:extLst>
                  <a:ext uri="{FF2B5EF4-FFF2-40B4-BE49-F238E27FC236}">
                    <a16:creationId xmlns:a16="http://schemas.microsoft.com/office/drawing/2014/main" id="{87B3EDA9-E157-9FB7-E57A-7BAF030AD348}"/>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2" name="Freeform 72">
                <a:extLst>
                  <a:ext uri="{FF2B5EF4-FFF2-40B4-BE49-F238E27FC236}">
                    <a16:creationId xmlns:a16="http://schemas.microsoft.com/office/drawing/2014/main" id="{1F1C28C0-E9F3-7EED-4865-0A1926354F58}"/>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3" name="Rectangle 73">
                <a:extLst>
                  <a:ext uri="{FF2B5EF4-FFF2-40B4-BE49-F238E27FC236}">
                    <a16:creationId xmlns:a16="http://schemas.microsoft.com/office/drawing/2014/main" id="{C65B4C18-6949-E0EF-171E-16C48E76D014}"/>
                  </a:ext>
                </a:extLst>
              </p:cNvPr>
              <p:cNvSpPr>
                <a:spLocks noChangeArrowheads="1"/>
              </p:cNvSpPr>
              <p:nvPr/>
            </p:nvSpPr>
            <p:spPr bwMode="auto">
              <a:xfrm>
                <a:off x="1107" y="1038"/>
                <a:ext cx="5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49994" name="Rectangle 74">
                <a:extLst>
                  <a:ext uri="{FF2B5EF4-FFF2-40B4-BE49-F238E27FC236}">
                    <a16:creationId xmlns:a16="http://schemas.microsoft.com/office/drawing/2014/main" id="{DF06304F-8379-678C-194B-6A0E8862F328}"/>
                  </a:ext>
                </a:extLst>
              </p:cNvPr>
              <p:cNvSpPr>
                <a:spLocks noChangeArrowheads="1"/>
              </p:cNvSpPr>
              <p:nvPr/>
            </p:nvSpPr>
            <p:spPr bwMode="auto">
              <a:xfrm>
                <a:off x="1107" y="1040"/>
                <a:ext cx="55"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grpSp>
        <p:grpSp>
          <p:nvGrpSpPr>
            <p:cNvPr id="63511" name="Group 75">
              <a:extLst>
                <a:ext uri="{FF2B5EF4-FFF2-40B4-BE49-F238E27FC236}">
                  <a16:creationId xmlns:a16="http://schemas.microsoft.com/office/drawing/2014/main" id="{7BFFA862-DAC0-288E-69A5-C4F901E78279}"/>
                </a:ext>
              </a:extLst>
            </p:cNvPr>
            <p:cNvGrpSpPr>
              <a:grpSpLocks/>
            </p:cNvGrpSpPr>
            <p:nvPr/>
          </p:nvGrpSpPr>
          <p:grpSpPr bwMode="auto">
            <a:xfrm>
              <a:off x="4494" y="570"/>
              <a:ext cx="402" cy="347"/>
              <a:chOff x="582" y="534"/>
              <a:chExt cx="614" cy="530"/>
            </a:xfrm>
          </p:grpSpPr>
          <p:sp>
            <p:nvSpPr>
              <p:cNvPr id="849996" name="Arc 76">
                <a:extLst>
                  <a:ext uri="{FF2B5EF4-FFF2-40B4-BE49-F238E27FC236}">
                    <a16:creationId xmlns:a16="http://schemas.microsoft.com/office/drawing/2014/main" id="{B20FF5F0-2BF0-3145-489D-2BF97708F3E4}"/>
                  </a:ext>
                </a:extLst>
              </p:cNvPr>
              <p:cNvSpPr>
                <a:spLocks/>
              </p:cNvSpPr>
              <p:nvPr/>
            </p:nvSpPr>
            <p:spPr bwMode="auto">
              <a:xfrm>
                <a:off x="1059" y="917"/>
                <a:ext cx="119" cy="81"/>
              </a:xfrm>
              <a:custGeom>
                <a:avLst/>
                <a:gdLst>
                  <a:gd name="G0" fmla="+- 16576 0 0"/>
                  <a:gd name="G1" fmla="+- 21600 0 0"/>
                  <a:gd name="G2" fmla="+- 21600 0 0"/>
                  <a:gd name="T0" fmla="*/ 0 w 38176"/>
                  <a:gd name="T1" fmla="*/ 7751 h 34923"/>
                  <a:gd name="T2" fmla="*/ 33578 w 38176"/>
                  <a:gd name="T3" fmla="*/ 34923 h 34923"/>
                  <a:gd name="T4" fmla="*/ 16576 w 38176"/>
                  <a:gd name="T5" fmla="*/ 21600 h 34923"/>
                </a:gdLst>
                <a:ahLst/>
                <a:cxnLst>
                  <a:cxn ang="0">
                    <a:pos x="T0" y="T1"/>
                  </a:cxn>
                  <a:cxn ang="0">
                    <a:pos x="T2" y="T3"/>
                  </a:cxn>
                  <a:cxn ang="0">
                    <a:pos x="T4" y="T5"/>
                  </a:cxn>
                </a:cxnLst>
                <a:rect l="0" t="0" r="r" b="b"/>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close/>
                  </a:path>
                </a:pathLst>
              </a:custGeom>
              <a:noFill/>
              <a:ln w="20638">
                <a:solidFill>
                  <a:srgbClr val="0078AA"/>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7" name="Arc 77">
                <a:extLst>
                  <a:ext uri="{FF2B5EF4-FFF2-40B4-BE49-F238E27FC236}">
                    <a16:creationId xmlns:a16="http://schemas.microsoft.com/office/drawing/2014/main" id="{49CBCC94-49CD-1CD6-8C7D-8E39C541B0FC}"/>
                  </a:ext>
                </a:extLst>
              </p:cNvPr>
              <p:cNvSpPr>
                <a:spLocks/>
              </p:cNvSpPr>
              <p:nvPr/>
            </p:nvSpPr>
            <p:spPr bwMode="auto">
              <a:xfrm>
                <a:off x="1060" y="919"/>
                <a:ext cx="118" cy="79"/>
              </a:xfrm>
              <a:custGeom>
                <a:avLst/>
                <a:gdLst>
                  <a:gd name="G0" fmla="+- 16722 0 0"/>
                  <a:gd name="G1" fmla="+- 21600 0 0"/>
                  <a:gd name="G2" fmla="+- 21600 0 0"/>
                  <a:gd name="T0" fmla="*/ 0 w 38322"/>
                  <a:gd name="T1" fmla="*/ 7928 h 34803"/>
                  <a:gd name="T2" fmla="*/ 33817 w 38322"/>
                  <a:gd name="T3" fmla="*/ 34803 h 34803"/>
                  <a:gd name="T4" fmla="*/ 16722 w 38322"/>
                  <a:gd name="T5" fmla="*/ 21600 h 34803"/>
                </a:gdLst>
                <a:ahLst/>
                <a:cxnLst>
                  <a:cxn ang="0">
                    <a:pos x="T0" y="T1"/>
                  </a:cxn>
                  <a:cxn ang="0">
                    <a:pos x="T2" y="T3"/>
                  </a:cxn>
                  <a:cxn ang="0">
                    <a:pos x="T4" y="T5"/>
                  </a:cxn>
                </a:cxnLst>
                <a:rect l="0" t="0" r="r" b="b"/>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close/>
                  </a:path>
                </a:pathLst>
              </a:custGeom>
              <a:noFill/>
              <a:ln w="9525">
                <a:solidFill>
                  <a:srgbClr val="AAE6FF"/>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8" name="Freeform 78">
                <a:extLst>
                  <a:ext uri="{FF2B5EF4-FFF2-40B4-BE49-F238E27FC236}">
                    <a16:creationId xmlns:a16="http://schemas.microsoft.com/office/drawing/2014/main" id="{3F5FC710-EE7D-F3AE-EF6B-1EBFA76EE199}"/>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49999" name="Freeform 79">
                <a:extLst>
                  <a:ext uri="{FF2B5EF4-FFF2-40B4-BE49-F238E27FC236}">
                    <a16:creationId xmlns:a16="http://schemas.microsoft.com/office/drawing/2014/main" id="{EE1A60E0-B251-ED92-F4B7-CDF70E2BF6FB}"/>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0" name="Rectangle 80">
                <a:extLst>
                  <a:ext uri="{FF2B5EF4-FFF2-40B4-BE49-F238E27FC236}">
                    <a16:creationId xmlns:a16="http://schemas.microsoft.com/office/drawing/2014/main" id="{18671E66-7DCD-B1B5-C287-F97A4B5B33C2}"/>
                  </a:ext>
                </a:extLst>
              </p:cNvPr>
              <p:cNvSpPr>
                <a:spLocks noChangeArrowheads="1"/>
              </p:cNvSpPr>
              <p:nvPr/>
            </p:nvSpPr>
            <p:spPr bwMode="auto">
              <a:xfrm>
                <a:off x="661" y="910"/>
                <a:ext cx="402" cy="7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01" name="Rectangle 81">
                <a:extLst>
                  <a:ext uri="{FF2B5EF4-FFF2-40B4-BE49-F238E27FC236}">
                    <a16:creationId xmlns:a16="http://schemas.microsoft.com/office/drawing/2014/main" id="{D2E120A7-C61D-8347-2721-85095F09B60A}"/>
                  </a:ext>
                </a:extLst>
              </p:cNvPr>
              <p:cNvSpPr>
                <a:spLocks noChangeArrowheads="1"/>
              </p:cNvSpPr>
              <p:nvPr/>
            </p:nvSpPr>
            <p:spPr bwMode="auto">
              <a:xfrm>
                <a:off x="661" y="910"/>
                <a:ext cx="400" cy="75"/>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02" name="Freeform 82">
                <a:extLst>
                  <a:ext uri="{FF2B5EF4-FFF2-40B4-BE49-F238E27FC236}">
                    <a16:creationId xmlns:a16="http://schemas.microsoft.com/office/drawing/2014/main" id="{F44387E4-7AF6-EAE6-99A9-41A85F3CF8EC}"/>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3" name="Freeform 83">
                <a:extLst>
                  <a:ext uri="{FF2B5EF4-FFF2-40B4-BE49-F238E27FC236}">
                    <a16:creationId xmlns:a16="http://schemas.microsoft.com/office/drawing/2014/main" id="{FF1EDF6E-5381-B70C-039B-EAE0E8DA05AC}"/>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4" name="Freeform 84">
                <a:extLst>
                  <a:ext uri="{FF2B5EF4-FFF2-40B4-BE49-F238E27FC236}">
                    <a16:creationId xmlns:a16="http://schemas.microsoft.com/office/drawing/2014/main" id="{1C05FBD5-8632-EC62-5324-8D2197CBC4B2}"/>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5" name="Freeform 85">
                <a:extLst>
                  <a:ext uri="{FF2B5EF4-FFF2-40B4-BE49-F238E27FC236}">
                    <a16:creationId xmlns:a16="http://schemas.microsoft.com/office/drawing/2014/main" id="{7750EE8A-411C-60A8-6A07-C54A00C20356}"/>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4763">
                <a:solidFill>
                  <a:srgbClr val="000000"/>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6" name="Freeform 86">
                <a:extLst>
                  <a:ext uri="{FF2B5EF4-FFF2-40B4-BE49-F238E27FC236}">
                    <a16:creationId xmlns:a16="http://schemas.microsoft.com/office/drawing/2014/main" id="{58A2247D-A46D-22C5-61D9-06C70E573969}"/>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7" name="Freeform 87">
                <a:extLst>
                  <a:ext uri="{FF2B5EF4-FFF2-40B4-BE49-F238E27FC236}">
                    <a16:creationId xmlns:a16="http://schemas.microsoft.com/office/drawing/2014/main" id="{2326A469-A0FA-AD98-4478-A0BB1BA985F8}"/>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08" name="Rectangle 88">
                <a:extLst>
                  <a:ext uri="{FF2B5EF4-FFF2-40B4-BE49-F238E27FC236}">
                    <a16:creationId xmlns:a16="http://schemas.microsoft.com/office/drawing/2014/main" id="{C34E5B64-B8A5-46C3-3B70-84B589DFDA57}"/>
                  </a:ext>
                </a:extLst>
              </p:cNvPr>
              <p:cNvSpPr>
                <a:spLocks noChangeArrowheads="1"/>
              </p:cNvSpPr>
              <p:nvPr/>
            </p:nvSpPr>
            <p:spPr bwMode="auto">
              <a:xfrm>
                <a:off x="661" y="575"/>
                <a:ext cx="403" cy="318"/>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09" name="Rectangle 89">
                <a:extLst>
                  <a:ext uri="{FF2B5EF4-FFF2-40B4-BE49-F238E27FC236}">
                    <a16:creationId xmlns:a16="http://schemas.microsoft.com/office/drawing/2014/main" id="{91B29921-1722-7F2E-2F25-329C53564833}"/>
                  </a:ext>
                </a:extLst>
              </p:cNvPr>
              <p:cNvSpPr>
                <a:spLocks noChangeArrowheads="1"/>
              </p:cNvSpPr>
              <p:nvPr/>
            </p:nvSpPr>
            <p:spPr bwMode="auto">
              <a:xfrm>
                <a:off x="697" y="616"/>
                <a:ext cx="333" cy="243"/>
              </a:xfrm>
              <a:prstGeom prst="rect">
                <a:avLst/>
              </a:prstGeom>
              <a:solidFill>
                <a:srgbClr val="FFFFFF"/>
              </a:solidFill>
              <a:ln w="4763">
                <a:solidFill>
                  <a:srgbClr val="003C55"/>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10" name="Freeform 90">
                <a:extLst>
                  <a:ext uri="{FF2B5EF4-FFF2-40B4-BE49-F238E27FC236}">
                    <a16:creationId xmlns:a16="http://schemas.microsoft.com/office/drawing/2014/main" id="{AE9816FF-AFA1-3BC3-752D-4A3AAD257CB4}"/>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1" name="Freeform 91">
                <a:extLst>
                  <a:ext uri="{FF2B5EF4-FFF2-40B4-BE49-F238E27FC236}">
                    <a16:creationId xmlns:a16="http://schemas.microsoft.com/office/drawing/2014/main" id="{5B0223A2-BD55-A025-B454-E6AF333AA157}"/>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2" name="Freeform 92">
                <a:extLst>
                  <a:ext uri="{FF2B5EF4-FFF2-40B4-BE49-F238E27FC236}">
                    <a16:creationId xmlns:a16="http://schemas.microsoft.com/office/drawing/2014/main" id="{5BF89617-E788-A9B5-5F5A-C744CCC6C842}"/>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3" name="Freeform 93">
                <a:extLst>
                  <a:ext uri="{FF2B5EF4-FFF2-40B4-BE49-F238E27FC236}">
                    <a16:creationId xmlns:a16="http://schemas.microsoft.com/office/drawing/2014/main" id="{FDF833BD-40E0-2696-98E2-EC75FCACA1E5}"/>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4" name="Freeform 94">
                <a:extLst>
                  <a:ext uri="{FF2B5EF4-FFF2-40B4-BE49-F238E27FC236}">
                    <a16:creationId xmlns:a16="http://schemas.microsoft.com/office/drawing/2014/main" id="{15A2F60F-2442-C04D-E01C-D734ECB0ABE0}"/>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5" name="Freeform 95">
                <a:extLst>
                  <a:ext uri="{FF2B5EF4-FFF2-40B4-BE49-F238E27FC236}">
                    <a16:creationId xmlns:a16="http://schemas.microsoft.com/office/drawing/2014/main" id="{7301A213-04F7-2C6F-A17C-8B6CB020CECA}"/>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6" name="Rectangle 96">
                <a:extLst>
                  <a:ext uri="{FF2B5EF4-FFF2-40B4-BE49-F238E27FC236}">
                    <a16:creationId xmlns:a16="http://schemas.microsoft.com/office/drawing/2014/main" id="{6B19EB7D-DB84-56CC-4DB2-1FCCC5AA4A99}"/>
                  </a:ext>
                </a:extLst>
              </p:cNvPr>
              <p:cNvSpPr>
                <a:spLocks noChangeArrowheads="1"/>
              </p:cNvSpPr>
              <p:nvPr/>
            </p:nvSpPr>
            <p:spPr bwMode="auto">
              <a:xfrm>
                <a:off x="582" y="1049"/>
                <a:ext cx="43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17" name="Rectangle 97">
                <a:extLst>
                  <a:ext uri="{FF2B5EF4-FFF2-40B4-BE49-F238E27FC236}">
                    <a16:creationId xmlns:a16="http://schemas.microsoft.com/office/drawing/2014/main" id="{6F377EFC-8A05-EB42-F4E1-FEC422F2367E}"/>
                  </a:ext>
                </a:extLst>
              </p:cNvPr>
              <p:cNvSpPr>
                <a:spLocks noChangeArrowheads="1"/>
              </p:cNvSpPr>
              <p:nvPr/>
            </p:nvSpPr>
            <p:spPr bwMode="auto">
              <a:xfrm>
                <a:off x="584" y="1049"/>
                <a:ext cx="434"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18" name="Freeform 98">
                <a:extLst>
                  <a:ext uri="{FF2B5EF4-FFF2-40B4-BE49-F238E27FC236}">
                    <a16:creationId xmlns:a16="http://schemas.microsoft.com/office/drawing/2014/main" id="{ECE03008-C1B9-1F2D-27A1-4E73A9107AB7}"/>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19" name="Freeform 99">
                <a:extLst>
                  <a:ext uri="{FF2B5EF4-FFF2-40B4-BE49-F238E27FC236}">
                    <a16:creationId xmlns:a16="http://schemas.microsoft.com/office/drawing/2014/main" id="{228E5FB7-E7D2-3E3D-4EBF-395C6269CA0B}"/>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20" name="Freeform 100">
                <a:extLst>
                  <a:ext uri="{FF2B5EF4-FFF2-40B4-BE49-F238E27FC236}">
                    <a16:creationId xmlns:a16="http://schemas.microsoft.com/office/drawing/2014/main" id="{45A05478-8B48-9129-2CE2-8DB966B1ECE4}"/>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21" name="Freeform 101">
                <a:extLst>
                  <a:ext uri="{FF2B5EF4-FFF2-40B4-BE49-F238E27FC236}">
                    <a16:creationId xmlns:a16="http://schemas.microsoft.com/office/drawing/2014/main" id="{4F5968BF-D222-EB61-3C29-586685181B3A}"/>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0022" name="Rectangle 102">
                <a:extLst>
                  <a:ext uri="{FF2B5EF4-FFF2-40B4-BE49-F238E27FC236}">
                    <a16:creationId xmlns:a16="http://schemas.microsoft.com/office/drawing/2014/main" id="{764003AE-3DE5-BBA1-44FD-2343C1C00107}"/>
                  </a:ext>
                </a:extLst>
              </p:cNvPr>
              <p:cNvSpPr>
                <a:spLocks noChangeArrowheads="1"/>
              </p:cNvSpPr>
              <p:nvPr/>
            </p:nvSpPr>
            <p:spPr bwMode="auto">
              <a:xfrm>
                <a:off x="1107" y="1038"/>
                <a:ext cx="5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0023" name="Rectangle 103">
                <a:extLst>
                  <a:ext uri="{FF2B5EF4-FFF2-40B4-BE49-F238E27FC236}">
                    <a16:creationId xmlns:a16="http://schemas.microsoft.com/office/drawing/2014/main" id="{584C16C7-BC02-08D0-881C-4665C0A2CDFC}"/>
                  </a:ext>
                </a:extLst>
              </p:cNvPr>
              <p:cNvSpPr>
                <a:spLocks noChangeArrowheads="1"/>
              </p:cNvSpPr>
              <p:nvPr/>
            </p:nvSpPr>
            <p:spPr bwMode="auto">
              <a:xfrm>
                <a:off x="1107" y="1040"/>
                <a:ext cx="55"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grpSp>
      </p:grpSp>
      <p:grpSp>
        <p:nvGrpSpPr>
          <p:cNvPr id="7" name="Group 104">
            <a:extLst>
              <a:ext uri="{FF2B5EF4-FFF2-40B4-BE49-F238E27FC236}">
                <a16:creationId xmlns:a16="http://schemas.microsoft.com/office/drawing/2014/main" id="{2D3D20B3-CFCD-B28C-15FB-59445A1B7532}"/>
              </a:ext>
            </a:extLst>
          </p:cNvPr>
          <p:cNvGrpSpPr>
            <a:grpSpLocks/>
          </p:cNvGrpSpPr>
          <p:nvPr/>
        </p:nvGrpSpPr>
        <p:grpSpPr bwMode="auto">
          <a:xfrm>
            <a:off x="6629400" y="4876800"/>
            <a:ext cx="1981200" cy="1905000"/>
            <a:chOff x="4176" y="2928"/>
            <a:chExt cx="1248" cy="1200"/>
          </a:xfrm>
        </p:grpSpPr>
        <p:sp>
          <p:nvSpPr>
            <p:cNvPr id="63501" name="Text Box 105">
              <a:extLst>
                <a:ext uri="{FF2B5EF4-FFF2-40B4-BE49-F238E27FC236}">
                  <a16:creationId xmlns:a16="http://schemas.microsoft.com/office/drawing/2014/main" id="{4B5F107E-A640-1803-3A76-D26BC460D8D6}"/>
                </a:ext>
              </a:extLst>
            </p:cNvPr>
            <p:cNvSpPr txBox="1">
              <a:spLocks noChangeArrowheads="1"/>
            </p:cNvSpPr>
            <p:nvPr/>
          </p:nvSpPr>
          <p:spPr bwMode="auto">
            <a:xfrm>
              <a:off x="4464" y="2928"/>
              <a:ext cx="960" cy="420"/>
            </a:xfrm>
            <a:prstGeom prst="rect">
              <a:avLst/>
            </a:prstGeom>
            <a:solidFill>
              <a:srgbClr val="CCFF66"/>
            </a:solidFill>
            <a:ln w="25400" cap="sq">
              <a:solidFill>
                <a:srgbClr val="008000"/>
              </a:solidFill>
              <a:miter lim="800000"/>
              <a:headEnd type="none" w="sm" len="sm"/>
              <a:tailEnd type="none" w="sm" len="sm"/>
            </a:ln>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solidFill>
                    <a:srgbClr val="000000"/>
                  </a:solidFill>
                  <a:latin typeface="Arial" panose="020B0604020202020204" pitchFamily="34" charset="0"/>
                </a:rPr>
                <a:t>SPI &amp; IPSec Packet</a:t>
              </a:r>
              <a:endParaRPr lang="en-US" altLang="en-US" sz="2400" b="1">
                <a:solidFill>
                  <a:srgbClr val="000000"/>
                </a:solidFill>
              </a:endParaRPr>
            </a:p>
          </p:txBody>
        </p:sp>
        <p:sp>
          <p:nvSpPr>
            <p:cNvPr id="850026" name="Line 106">
              <a:extLst>
                <a:ext uri="{FF2B5EF4-FFF2-40B4-BE49-F238E27FC236}">
                  <a16:creationId xmlns:a16="http://schemas.microsoft.com/office/drawing/2014/main" id="{7CE5B901-C1FE-5F63-FBB0-270E086A4DF4}"/>
                </a:ext>
              </a:extLst>
            </p:cNvPr>
            <p:cNvSpPr>
              <a:spLocks noChangeShapeType="1"/>
            </p:cNvSpPr>
            <p:nvPr/>
          </p:nvSpPr>
          <p:spPr bwMode="auto">
            <a:xfrm>
              <a:off x="4896" y="3360"/>
              <a:ext cx="0" cy="432"/>
            </a:xfrm>
            <a:prstGeom prst="line">
              <a:avLst/>
            </a:prstGeom>
            <a:noFill/>
            <a:ln w="38100" cap="sq">
              <a:solidFill>
                <a:schemeClr val="tx1"/>
              </a:solidFill>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63503" name="Text Box 107">
              <a:extLst>
                <a:ext uri="{FF2B5EF4-FFF2-40B4-BE49-F238E27FC236}">
                  <a16:creationId xmlns:a16="http://schemas.microsoft.com/office/drawing/2014/main" id="{A62E8BBB-58B1-61A1-6B6E-EF10B27DD814}"/>
                </a:ext>
              </a:extLst>
            </p:cNvPr>
            <p:cNvSpPr txBox="1">
              <a:spLocks noChangeArrowheads="1"/>
            </p:cNvSpPr>
            <p:nvPr/>
          </p:nvSpPr>
          <p:spPr bwMode="auto">
            <a:xfrm>
              <a:off x="4464" y="3840"/>
              <a:ext cx="9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i="1">
                  <a:latin typeface="Arial" panose="020B0604020202020204" pitchFamily="34" charset="0"/>
                </a:rPr>
                <a:t>Send to B</a:t>
              </a:r>
            </a:p>
          </p:txBody>
        </p:sp>
        <p:pic>
          <p:nvPicPr>
            <p:cNvPr id="63504" name="Picture 108" descr="bd04914_">
              <a:extLst>
                <a:ext uri="{FF2B5EF4-FFF2-40B4-BE49-F238E27FC236}">
                  <a16:creationId xmlns:a16="http://schemas.microsoft.com/office/drawing/2014/main" id="{33525E98-D367-84BE-2AA6-D88CE6FA6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6" y="3888"/>
              <a:ext cx="33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50029" name="Line 109">
            <a:extLst>
              <a:ext uri="{FF2B5EF4-FFF2-40B4-BE49-F238E27FC236}">
                <a16:creationId xmlns:a16="http://schemas.microsoft.com/office/drawing/2014/main" id="{89AB4593-6A79-9DEF-5EA6-0EC151639CEE}"/>
              </a:ext>
            </a:extLst>
          </p:cNvPr>
          <p:cNvSpPr>
            <a:spLocks noChangeShapeType="1"/>
          </p:cNvSpPr>
          <p:nvPr/>
        </p:nvSpPr>
        <p:spPr bwMode="auto">
          <a:xfrm>
            <a:off x="4191000" y="3581400"/>
            <a:ext cx="914400" cy="0"/>
          </a:xfrm>
          <a:prstGeom prst="line">
            <a:avLst/>
          </a:prstGeom>
          <a:noFill/>
          <a:ln w="38100" cap="sq">
            <a:solidFill>
              <a:schemeClr val="tx1"/>
            </a:solidFill>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0030" name="Text Box 110">
            <a:extLst>
              <a:ext uri="{FF2B5EF4-FFF2-40B4-BE49-F238E27FC236}">
                <a16:creationId xmlns:a16="http://schemas.microsoft.com/office/drawing/2014/main" id="{A98D9CD2-A99F-C249-4C89-34CBF2BD1BEB}"/>
              </a:ext>
            </a:extLst>
          </p:cNvPr>
          <p:cNvSpPr txBox="1">
            <a:spLocks noChangeArrowheads="1"/>
          </p:cNvSpPr>
          <p:nvPr/>
        </p:nvSpPr>
        <p:spPr bwMode="auto">
          <a:xfrm>
            <a:off x="3581400" y="5334000"/>
            <a:ext cx="22256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i="1">
                <a:latin typeface="Arial" panose="020B0604020202020204" pitchFamily="34" charset="0"/>
              </a:rPr>
              <a:t>Determine the SA and its SPI</a:t>
            </a:r>
          </a:p>
        </p:txBody>
      </p:sp>
      <p:sp>
        <p:nvSpPr>
          <p:cNvPr id="850031" name="Text Box 111">
            <a:extLst>
              <a:ext uri="{FF2B5EF4-FFF2-40B4-BE49-F238E27FC236}">
                <a16:creationId xmlns:a16="http://schemas.microsoft.com/office/drawing/2014/main" id="{B43EFD05-4932-1617-B47B-DA4B98D1438B}"/>
              </a:ext>
            </a:extLst>
          </p:cNvPr>
          <p:cNvSpPr txBox="1">
            <a:spLocks noChangeArrowheads="1"/>
          </p:cNvSpPr>
          <p:nvPr/>
        </p:nvSpPr>
        <p:spPr bwMode="auto">
          <a:xfrm>
            <a:off x="6461125" y="4281488"/>
            <a:ext cx="1962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i="1">
                <a:latin typeface="Arial" panose="020B0604020202020204" pitchFamily="34" charset="0"/>
              </a:rPr>
              <a:t>IPSec processing</a:t>
            </a:r>
          </a:p>
        </p:txBody>
      </p:sp>
      <p:sp>
        <p:nvSpPr>
          <p:cNvPr id="63500" name="Rectangle 112">
            <a:extLst>
              <a:ext uri="{FF2B5EF4-FFF2-40B4-BE49-F238E27FC236}">
                <a16:creationId xmlns:a16="http://schemas.microsoft.com/office/drawing/2014/main" id="{F8263DA3-891A-5551-B775-F77D611C74FB}"/>
              </a:ext>
            </a:extLst>
          </p:cNvPr>
          <p:cNvSpPr>
            <a:spLocks noGrp="1" noChangeArrowheads="1"/>
          </p:cNvSpPr>
          <p:nvPr>
            <p:ph type="title" idx="4294967295"/>
          </p:nvPr>
        </p:nvSpPr>
        <p:spPr>
          <a:xfrm>
            <a:off x="1143000" y="0"/>
            <a:ext cx="7772400" cy="1143000"/>
          </a:xfrm>
        </p:spPr>
        <p:txBody>
          <a:bodyPr/>
          <a:lstStyle/>
          <a:p>
            <a:r>
              <a:rPr lang="en-US" altLang="en-US"/>
              <a:t>Outbound Processing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49924"/>
                                        </p:tgtEl>
                                        <p:attrNameLst>
                                          <p:attrName>style.visibility</p:attrName>
                                        </p:attrNameLst>
                                      </p:cBhvr>
                                      <p:to>
                                        <p:strVal val="visible"/>
                                      </p:to>
                                    </p:set>
                                    <p:anim calcmode="lin" valueType="num">
                                      <p:cBhvr additive="base">
                                        <p:cTn id="7" dur="500" fill="hold"/>
                                        <p:tgtEl>
                                          <p:spTgt spid="849924"/>
                                        </p:tgtEl>
                                        <p:attrNameLst>
                                          <p:attrName>ppt_x</p:attrName>
                                        </p:attrNameLst>
                                      </p:cBhvr>
                                      <p:tavLst>
                                        <p:tav tm="0">
                                          <p:val>
                                            <p:strVal val="0-#ppt_w/2"/>
                                          </p:val>
                                        </p:tav>
                                        <p:tav tm="100000">
                                          <p:val>
                                            <p:strVal val="#ppt_x"/>
                                          </p:val>
                                        </p:tav>
                                      </p:tavLst>
                                    </p:anim>
                                    <p:anim calcmode="lin" valueType="num">
                                      <p:cBhvr additive="base">
                                        <p:cTn id="8" dur="500" fill="hold"/>
                                        <p:tgtEl>
                                          <p:spTgt spid="84992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nodeType="clickEffect">
                                  <p:stCondLst>
                                    <p:cond delay="0"/>
                                  </p:stCondLst>
                                  <p:childTnLst>
                                    <p:set>
                                      <p:cBhvr>
                                        <p:cTn id="12" dur="1" fill="hold">
                                          <p:stCondLst>
                                            <p:cond delay="0"/>
                                          </p:stCondLst>
                                        </p:cTn>
                                        <p:tgtEl>
                                          <p:spTgt spid="849923"/>
                                        </p:tgtEl>
                                        <p:attrNameLst>
                                          <p:attrName>style.visibility</p:attrName>
                                        </p:attrNameLst>
                                      </p:cBhvr>
                                      <p:to>
                                        <p:strVal val="visible"/>
                                      </p:to>
                                    </p:set>
                                    <p:animEffect transition="in" filter="wipe(left)">
                                      <p:cBhvr>
                                        <p:cTn id="13" dur="500"/>
                                        <p:tgtEl>
                                          <p:spTgt spid="849923"/>
                                        </p:tgtEl>
                                      </p:cBhvr>
                                    </p:animEffect>
                                  </p:childTnLst>
                                </p:cTn>
                              </p:par>
                            </p:childTnLst>
                          </p:cTn>
                        </p:par>
                        <p:par>
                          <p:cTn id="14" fill="hold" nodeType="afterGroup">
                            <p:stCondLst>
                              <p:cond delay="500"/>
                            </p:stCondLst>
                            <p:childTnLst>
                              <p:par>
                                <p:cTn id="15" presetID="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1+#ppt_w/2"/>
                                          </p:val>
                                        </p:tav>
                                        <p:tav tm="100000">
                                          <p:val>
                                            <p:strVal val="#ppt_x"/>
                                          </p:val>
                                        </p:tav>
                                      </p:tavLst>
                                    </p:anim>
                                    <p:anim calcmode="lin" valueType="num">
                                      <p:cBhvr additive="base">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850030"/>
                                        </p:tgtEl>
                                        <p:attrNameLst>
                                          <p:attrName>style.visibility</p:attrName>
                                        </p:attrNameLst>
                                      </p:cBhvr>
                                      <p:to>
                                        <p:strVal val="visible"/>
                                      </p:to>
                                    </p:set>
                                    <p:anim calcmode="lin" valueType="num">
                                      <p:cBhvr additive="base">
                                        <p:cTn id="23" dur="500" fill="hold"/>
                                        <p:tgtEl>
                                          <p:spTgt spid="850030"/>
                                        </p:tgtEl>
                                        <p:attrNameLst>
                                          <p:attrName>ppt_x</p:attrName>
                                        </p:attrNameLst>
                                      </p:cBhvr>
                                      <p:tavLst>
                                        <p:tav tm="0">
                                          <p:val>
                                            <p:strVal val="0-#ppt_w/2"/>
                                          </p:val>
                                        </p:tav>
                                        <p:tav tm="100000">
                                          <p:val>
                                            <p:strVal val="#ppt_x"/>
                                          </p:val>
                                        </p:tav>
                                      </p:tavLst>
                                    </p:anim>
                                    <p:anim calcmode="lin" valueType="num">
                                      <p:cBhvr additive="base">
                                        <p:cTn id="24" dur="500" fill="hold"/>
                                        <p:tgtEl>
                                          <p:spTgt spid="850030"/>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850029"/>
                                        </p:tgtEl>
                                        <p:attrNameLst>
                                          <p:attrName>style.visibility</p:attrName>
                                        </p:attrNameLst>
                                      </p:cBhvr>
                                      <p:to>
                                        <p:strVal val="visible"/>
                                      </p:to>
                                    </p:set>
                                    <p:animEffect transition="in" filter="wipe(left)">
                                      <p:cBhvr>
                                        <p:cTn id="28" dur="500"/>
                                        <p:tgtEl>
                                          <p:spTgt spid="850029"/>
                                        </p:tgtEl>
                                      </p:cBhvr>
                                    </p:animEffect>
                                  </p:childTnLst>
                                </p:cTn>
                              </p:par>
                            </p:childTnLst>
                          </p:cTn>
                        </p:par>
                        <p:par>
                          <p:cTn id="29" fill="hold" nodeType="afterGroup">
                            <p:stCondLst>
                              <p:cond delay="1000"/>
                            </p:stCondLst>
                            <p:childTnLst>
                              <p:par>
                                <p:cTn id="30" presetID="22" presetClass="entr" presetSubtype="8" fill="hold" nodeType="afterEffect">
                                  <p:stCondLst>
                                    <p:cond delay="0"/>
                                  </p:stCondLst>
                                  <p:childTnLst>
                                    <p:set>
                                      <p:cBhvr>
                                        <p:cTn id="31" dur="1" fill="hold">
                                          <p:stCondLst>
                                            <p:cond delay="0"/>
                                          </p:stCondLst>
                                        </p:cTn>
                                        <p:tgtEl>
                                          <p:spTgt spid="849922"/>
                                        </p:tgtEl>
                                        <p:attrNameLst>
                                          <p:attrName>style.visibility</p:attrName>
                                        </p:attrNameLst>
                                      </p:cBhvr>
                                      <p:to>
                                        <p:strVal val="visible"/>
                                      </p:to>
                                    </p:set>
                                    <p:animEffect transition="in" filter="wipe(left)">
                                      <p:cBhvr>
                                        <p:cTn id="32" dur="500"/>
                                        <p:tgtEl>
                                          <p:spTgt spid="849922"/>
                                        </p:tgtEl>
                                      </p:cBhvr>
                                    </p:animEffect>
                                  </p:childTnLst>
                                </p:cTn>
                              </p:par>
                            </p:childTnLst>
                          </p:cTn>
                        </p:par>
                        <p:par>
                          <p:cTn id="33" fill="hold" nodeType="afterGroup">
                            <p:stCondLst>
                              <p:cond delay="1500"/>
                            </p:stCondLst>
                            <p:childTnLst>
                              <p:par>
                                <p:cTn id="34" presetID="2" presetClass="entr" presetSubtype="2" fill="hold" nodeType="after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500" fill="hold"/>
                                        <p:tgtEl>
                                          <p:spTgt spid="3"/>
                                        </p:tgtEl>
                                        <p:attrNameLst>
                                          <p:attrName>ppt_x</p:attrName>
                                        </p:attrNameLst>
                                      </p:cBhvr>
                                      <p:tavLst>
                                        <p:tav tm="0">
                                          <p:val>
                                            <p:strVal val="1+#ppt_w/2"/>
                                          </p:val>
                                        </p:tav>
                                        <p:tav tm="100000">
                                          <p:val>
                                            <p:strVal val="#ppt_x"/>
                                          </p:val>
                                        </p:tav>
                                      </p:tavLst>
                                    </p:anim>
                                    <p:anim calcmode="lin" valueType="num">
                                      <p:cBhvr additive="base">
                                        <p:cTn id="37"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850031"/>
                                        </p:tgtEl>
                                        <p:attrNameLst>
                                          <p:attrName>style.visibility</p:attrName>
                                        </p:attrNameLst>
                                      </p:cBhvr>
                                      <p:to>
                                        <p:strVal val="visible"/>
                                      </p:to>
                                    </p:set>
                                    <p:anim calcmode="lin" valueType="num">
                                      <p:cBhvr additive="base">
                                        <p:cTn id="42" dur="500" fill="hold"/>
                                        <p:tgtEl>
                                          <p:spTgt spid="850031"/>
                                        </p:tgtEl>
                                        <p:attrNameLst>
                                          <p:attrName>ppt_x</p:attrName>
                                        </p:attrNameLst>
                                      </p:cBhvr>
                                      <p:tavLst>
                                        <p:tav tm="0">
                                          <p:val>
                                            <p:strVal val="0-#ppt_w/2"/>
                                          </p:val>
                                        </p:tav>
                                        <p:tav tm="100000">
                                          <p:val>
                                            <p:strVal val="#ppt_x"/>
                                          </p:val>
                                        </p:tav>
                                      </p:tavLst>
                                    </p:anim>
                                    <p:anim calcmode="lin" valueType="num">
                                      <p:cBhvr additive="base">
                                        <p:cTn id="43" dur="500" fill="hold"/>
                                        <p:tgtEl>
                                          <p:spTgt spid="850031"/>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500"/>
                            </p:stCondLst>
                            <p:childTnLst>
                              <p:par>
                                <p:cTn id="45" presetID="22" presetClass="entr" presetSubtype="1" fill="hold" nodeType="afterEffect">
                                  <p:stCondLst>
                                    <p:cond delay="0"/>
                                  </p:stCondLst>
                                  <p:childTnLst>
                                    <p:set>
                                      <p:cBhvr>
                                        <p:cTn id="46" dur="1" fill="hold">
                                          <p:stCondLst>
                                            <p:cond delay="0"/>
                                          </p:stCondLst>
                                        </p:cTn>
                                        <p:tgtEl>
                                          <p:spTgt spid="849959"/>
                                        </p:tgtEl>
                                        <p:attrNameLst>
                                          <p:attrName>style.visibility</p:attrName>
                                        </p:attrNameLst>
                                      </p:cBhvr>
                                      <p:to>
                                        <p:strVal val="visible"/>
                                      </p:to>
                                    </p:set>
                                    <p:animEffect transition="in" filter="wipe(up)">
                                      <p:cBhvr>
                                        <p:cTn id="47" dur="500"/>
                                        <p:tgtEl>
                                          <p:spTgt spid="849959"/>
                                        </p:tgtEl>
                                      </p:cBhvr>
                                    </p:animEffect>
                                  </p:childTnLst>
                                </p:cTn>
                              </p:par>
                            </p:childTnLst>
                          </p:cTn>
                        </p:par>
                        <p:par>
                          <p:cTn id="48" fill="hold" nodeType="afterGroup">
                            <p:stCondLst>
                              <p:cond delay="1000"/>
                            </p:stCondLst>
                            <p:childTnLst>
                              <p:par>
                                <p:cTn id="49" presetID="2" presetClass="entr" presetSubtype="4" fill="hold" nodeType="afterEffect">
                                  <p:stCondLst>
                                    <p:cond delay="0"/>
                                  </p:stCondLst>
                                  <p:childTnLst>
                                    <p:set>
                                      <p:cBhvr>
                                        <p:cTn id="50" dur="1" fill="hold">
                                          <p:stCondLst>
                                            <p:cond delay="0"/>
                                          </p:stCondLst>
                                        </p:cTn>
                                        <p:tgtEl>
                                          <p:spTgt spid="7"/>
                                        </p:tgtEl>
                                        <p:attrNameLst>
                                          <p:attrName>style.visibility</p:attrName>
                                        </p:attrNameLst>
                                      </p:cBhvr>
                                      <p:to>
                                        <p:strVal val="visible"/>
                                      </p:to>
                                    </p:set>
                                    <p:anim calcmode="lin" valueType="num">
                                      <p:cBhvr additive="base">
                                        <p:cTn id="51" dur="500" fill="hold"/>
                                        <p:tgtEl>
                                          <p:spTgt spid="7"/>
                                        </p:tgtEl>
                                        <p:attrNameLst>
                                          <p:attrName>ppt_x</p:attrName>
                                        </p:attrNameLst>
                                      </p:cBhvr>
                                      <p:tavLst>
                                        <p:tav tm="0">
                                          <p:val>
                                            <p:strVal val="#ppt_x"/>
                                          </p:val>
                                        </p:tav>
                                        <p:tav tm="100000">
                                          <p:val>
                                            <p:strVal val="#ppt_x"/>
                                          </p:val>
                                        </p:tav>
                                      </p:tavLst>
                                    </p:anim>
                                    <p:anim calcmode="lin" valueType="num">
                                      <p:cBhvr additive="base">
                                        <p:cTn id="5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24" grpId="0" autoUpdateAnimBg="0"/>
      <p:bldP spid="850030" grpId="0" autoUpdateAnimBg="0"/>
      <p:bldP spid="85003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Line 2">
            <a:extLst>
              <a:ext uri="{FF2B5EF4-FFF2-40B4-BE49-F238E27FC236}">
                <a16:creationId xmlns:a16="http://schemas.microsoft.com/office/drawing/2014/main" id="{B8DBE360-EA05-7706-1EB2-0842065545AE}"/>
              </a:ext>
            </a:extLst>
          </p:cNvPr>
          <p:cNvSpPr>
            <a:spLocks noChangeShapeType="1"/>
          </p:cNvSpPr>
          <p:nvPr/>
        </p:nvSpPr>
        <p:spPr bwMode="auto">
          <a:xfrm>
            <a:off x="2895600" y="3422650"/>
            <a:ext cx="609600" cy="38735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51971" name="Text Box 3">
            <a:extLst>
              <a:ext uri="{FF2B5EF4-FFF2-40B4-BE49-F238E27FC236}">
                <a16:creationId xmlns:a16="http://schemas.microsoft.com/office/drawing/2014/main" id="{3F3D243C-564C-F552-DAA6-520C5291E1A6}"/>
              </a:ext>
            </a:extLst>
          </p:cNvPr>
          <p:cNvSpPr txBox="1">
            <a:spLocks noChangeArrowheads="1"/>
          </p:cNvSpPr>
          <p:nvPr/>
        </p:nvSpPr>
        <p:spPr bwMode="auto">
          <a:xfrm>
            <a:off x="1981200" y="3886200"/>
            <a:ext cx="1644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i="1">
                <a:latin typeface="Arial" panose="020B0604020202020204" pitchFamily="34" charset="0"/>
              </a:rPr>
              <a:t>Use SPI to </a:t>
            </a:r>
          </a:p>
          <a:p>
            <a:pPr eaLnBrk="1" hangingPunct="1">
              <a:spcBef>
                <a:spcPct val="0"/>
              </a:spcBef>
              <a:buClrTx/>
              <a:buSzTx/>
              <a:buFontTx/>
              <a:buNone/>
            </a:pPr>
            <a:r>
              <a:rPr lang="en-US" altLang="en-US" sz="1800" i="1">
                <a:latin typeface="Arial" panose="020B0604020202020204" pitchFamily="34" charset="0"/>
              </a:rPr>
              <a:t>index the SAD</a:t>
            </a:r>
          </a:p>
        </p:txBody>
      </p:sp>
      <p:grpSp>
        <p:nvGrpSpPr>
          <p:cNvPr id="2" name="Group 4">
            <a:extLst>
              <a:ext uri="{FF2B5EF4-FFF2-40B4-BE49-F238E27FC236}">
                <a16:creationId xmlns:a16="http://schemas.microsoft.com/office/drawing/2014/main" id="{D1573268-4048-88E9-BBE1-6C9F27F242F7}"/>
              </a:ext>
            </a:extLst>
          </p:cNvPr>
          <p:cNvGrpSpPr>
            <a:grpSpLocks/>
          </p:cNvGrpSpPr>
          <p:nvPr/>
        </p:nvGrpSpPr>
        <p:grpSpPr bwMode="auto">
          <a:xfrm>
            <a:off x="3352800" y="3124200"/>
            <a:ext cx="1600200" cy="2597150"/>
            <a:chOff x="2784" y="2300"/>
            <a:chExt cx="1008" cy="1636"/>
          </a:xfrm>
        </p:grpSpPr>
        <p:sp>
          <p:nvSpPr>
            <p:cNvPr id="65630" name="Rectangle 5">
              <a:extLst>
                <a:ext uri="{FF2B5EF4-FFF2-40B4-BE49-F238E27FC236}">
                  <a16:creationId xmlns:a16="http://schemas.microsoft.com/office/drawing/2014/main" id="{83042D31-5218-8463-67AA-26848AD70C02}"/>
                </a:ext>
              </a:extLst>
            </p:cNvPr>
            <p:cNvSpPr>
              <a:spLocks noChangeArrowheads="1"/>
            </p:cNvSpPr>
            <p:nvPr/>
          </p:nvSpPr>
          <p:spPr bwMode="auto">
            <a:xfrm>
              <a:off x="2928" y="3703"/>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a:t>…</a:t>
              </a:r>
            </a:p>
          </p:txBody>
        </p:sp>
        <p:sp>
          <p:nvSpPr>
            <p:cNvPr id="65631" name="Rectangle 6">
              <a:extLst>
                <a:ext uri="{FF2B5EF4-FFF2-40B4-BE49-F238E27FC236}">
                  <a16:creationId xmlns:a16="http://schemas.microsoft.com/office/drawing/2014/main" id="{1CA7C100-D7C9-8F98-4FD3-2D613FA84075}"/>
                </a:ext>
              </a:extLst>
            </p:cNvPr>
            <p:cNvSpPr>
              <a:spLocks noChangeArrowheads="1"/>
            </p:cNvSpPr>
            <p:nvPr/>
          </p:nvSpPr>
          <p:spPr bwMode="auto">
            <a:xfrm>
              <a:off x="2928" y="3471"/>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632" name="Rectangle 7">
              <a:extLst>
                <a:ext uri="{FF2B5EF4-FFF2-40B4-BE49-F238E27FC236}">
                  <a16:creationId xmlns:a16="http://schemas.microsoft.com/office/drawing/2014/main" id="{0E7465C3-E368-205C-9DB2-6242E75813C4}"/>
                </a:ext>
              </a:extLst>
            </p:cNvPr>
            <p:cNvSpPr>
              <a:spLocks noChangeArrowheads="1"/>
            </p:cNvSpPr>
            <p:nvPr/>
          </p:nvSpPr>
          <p:spPr bwMode="auto">
            <a:xfrm>
              <a:off x="2928" y="3238"/>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633" name="Rectangle 8">
              <a:extLst>
                <a:ext uri="{FF2B5EF4-FFF2-40B4-BE49-F238E27FC236}">
                  <a16:creationId xmlns:a16="http://schemas.microsoft.com/office/drawing/2014/main" id="{AFAF899D-B8BE-E6AA-F6BE-4F6960316092}"/>
                </a:ext>
              </a:extLst>
            </p:cNvPr>
            <p:cNvSpPr>
              <a:spLocks noChangeArrowheads="1"/>
            </p:cNvSpPr>
            <p:nvPr/>
          </p:nvSpPr>
          <p:spPr bwMode="auto">
            <a:xfrm>
              <a:off x="2928" y="3005"/>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634" name="Rectangle 9">
              <a:extLst>
                <a:ext uri="{FF2B5EF4-FFF2-40B4-BE49-F238E27FC236}">
                  <a16:creationId xmlns:a16="http://schemas.microsoft.com/office/drawing/2014/main" id="{6DE413E9-ECE5-A2E4-1B2F-A430BC153142}"/>
                </a:ext>
              </a:extLst>
            </p:cNvPr>
            <p:cNvSpPr>
              <a:spLocks noChangeArrowheads="1"/>
            </p:cNvSpPr>
            <p:nvPr/>
          </p:nvSpPr>
          <p:spPr bwMode="auto">
            <a:xfrm>
              <a:off x="2928" y="2773"/>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635" name="Rectangle 10">
              <a:extLst>
                <a:ext uri="{FF2B5EF4-FFF2-40B4-BE49-F238E27FC236}">
                  <a16:creationId xmlns:a16="http://schemas.microsoft.com/office/drawing/2014/main" id="{DFA5C09D-1DBD-2AF0-47FF-30FB8578B892}"/>
                </a:ext>
              </a:extLst>
            </p:cNvPr>
            <p:cNvSpPr>
              <a:spLocks noChangeArrowheads="1"/>
            </p:cNvSpPr>
            <p:nvPr/>
          </p:nvSpPr>
          <p:spPr bwMode="auto">
            <a:xfrm>
              <a:off x="2928" y="2540"/>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851979" name="Line 11">
              <a:extLst>
                <a:ext uri="{FF2B5EF4-FFF2-40B4-BE49-F238E27FC236}">
                  <a16:creationId xmlns:a16="http://schemas.microsoft.com/office/drawing/2014/main" id="{E727BC5C-A7E1-97B1-FD54-AC750226A0B4}"/>
                </a:ext>
              </a:extLst>
            </p:cNvPr>
            <p:cNvSpPr>
              <a:spLocks noChangeShapeType="1"/>
            </p:cNvSpPr>
            <p:nvPr/>
          </p:nvSpPr>
          <p:spPr bwMode="auto">
            <a:xfrm>
              <a:off x="2928" y="2540"/>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0" name="Line 12">
              <a:extLst>
                <a:ext uri="{FF2B5EF4-FFF2-40B4-BE49-F238E27FC236}">
                  <a16:creationId xmlns:a16="http://schemas.microsoft.com/office/drawing/2014/main" id="{DD969330-EBB1-E28F-B11B-AB6411CB0A83}"/>
                </a:ext>
              </a:extLst>
            </p:cNvPr>
            <p:cNvSpPr>
              <a:spLocks noChangeShapeType="1"/>
            </p:cNvSpPr>
            <p:nvPr/>
          </p:nvSpPr>
          <p:spPr bwMode="auto">
            <a:xfrm>
              <a:off x="2928" y="2773"/>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1" name="Line 13">
              <a:extLst>
                <a:ext uri="{FF2B5EF4-FFF2-40B4-BE49-F238E27FC236}">
                  <a16:creationId xmlns:a16="http://schemas.microsoft.com/office/drawing/2014/main" id="{506CB74D-51FC-7424-3D84-248E28F6B333}"/>
                </a:ext>
              </a:extLst>
            </p:cNvPr>
            <p:cNvSpPr>
              <a:spLocks noChangeShapeType="1"/>
            </p:cNvSpPr>
            <p:nvPr/>
          </p:nvSpPr>
          <p:spPr bwMode="auto">
            <a:xfrm>
              <a:off x="2928" y="3005"/>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2" name="Line 14">
              <a:extLst>
                <a:ext uri="{FF2B5EF4-FFF2-40B4-BE49-F238E27FC236}">
                  <a16:creationId xmlns:a16="http://schemas.microsoft.com/office/drawing/2014/main" id="{D977F75F-9F74-E032-7584-C2124CC0AFFD}"/>
                </a:ext>
              </a:extLst>
            </p:cNvPr>
            <p:cNvSpPr>
              <a:spLocks noChangeShapeType="1"/>
            </p:cNvSpPr>
            <p:nvPr/>
          </p:nvSpPr>
          <p:spPr bwMode="auto">
            <a:xfrm>
              <a:off x="2928" y="3238"/>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3" name="Line 15">
              <a:extLst>
                <a:ext uri="{FF2B5EF4-FFF2-40B4-BE49-F238E27FC236}">
                  <a16:creationId xmlns:a16="http://schemas.microsoft.com/office/drawing/2014/main" id="{405871C7-E4C0-7C2C-745E-ADC4E1B05A8C}"/>
                </a:ext>
              </a:extLst>
            </p:cNvPr>
            <p:cNvSpPr>
              <a:spLocks noChangeShapeType="1"/>
            </p:cNvSpPr>
            <p:nvPr/>
          </p:nvSpPr>
          <p:spPr bwMode="auto">
            <a:xfrm>
              <a:off x="2928" y="3471"/>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4" name="Line 16">
              <a:extLst>
                <a:ext uri="{FF2B5EF4-FFF2-40B4-BE49-F238E27FC236}">
                  <a16:creationId xmlns:a16="http://schemas.microsoft.com/office/drawing/2014/main" id="{EDFFFB4A-43C4-E8E9-244E-C559A55BCD82}"/>
                </a:ext>
              </a:extLst>
            </p:cNvPr>
            <p:cNvSpPr>
              <a:spLocks noChangeShapeType="1"/>
            </p:cNvSpPr>
            <p:nvPr/>
          </p:nvSpPr>
          <p:spPr bwMode="auto">
            <a:xfrm>
              <a:off x="2928" y="3703"/>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5" name="Line 17">
              <a:extLst>
                <a:ext uri="{FF2B5EF4-FFF2-40B4-BE49-F238E27FC236}">
                  <a16:creationId xmlns:a16="http://schemas.microsoft.com/office/drawing/2014/main" id="{467D7808-8078-2F43-29BA-B06BD6B6FE2E}"/>
                </a:ext>
              </a:extLst>
            </p:cNvPr>
            <p:cNvSpPr>
              <a:spLocks noChangeShapeType="1"/>
            </p:cNvSpPr>
            <p:nvPr/>
          </p:nvSpPr>
          <p:spPr bwMode="auto">
            <a:xfrm>
              <a:off x="2928" y="3936"/>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6" name="Line 18">
              <a:extLst>
                <a:ext uri="{FF2B5EF4-FFF2-40B4-BE49-F238E27FC236}">
                  <a16:creationId xmlns:a16="http://schemas.microsoft.com/office/drawing/2014/main" id="{46B7E9B8-8779-0F18-87F0-0D8E6814CF54}"/>
                </a:ext>
              </a:extLst>
            </p:cNvPr>
            <p:cNvSpPr>
              <a:spLocks noChangeShapeType="1"/>
            </p:cNvSpPr>
            <p:nvPr/>
          </p:nvSpPr>
          <p:spPr bwMode="auto">
            <a:xfrm>
              <a:off x="2928" y="2540"/>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1987" name="Line 19">
              <a:extLst>
                <a:ext uri="{FF2B5EF4-FFF2-40B4-BE49-F238E27FC236}">
                  <a16:creationId xmlns:a16="http://schemas.microsoft.com/office/drawing/2014/main" id="{440BA72E-2395-276F-C840-F515B0598BB2}"/>
                </a:ext>
              </a:extLst>
            </p:cNvPr>
            <p:cNvSpPr>
              <a:spLocks noChangeShapeType="1"/>
            </p:cNvSpPr>
            <p:nvPr/>
          </p:nvSpPr>
          <p:spPr bwMode="auto">
            <a:xfrm>
              <a:off x="3648" y="2540"/>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65645" name="Text Box 20">
              <a:extLst>
                <a:ext uri="{FF2B5EF4-FFF2-40B4-BE49-F238E27FC236}">
                  <a16:creationId xmlns:a16="http://schemas.microsoft.com/office/drawing/2014/main" id="{64D843E6-B102-0755-87B0-E042DC94E873}"/>
                </a:ext>
              </a:extLst>
            </p:cNvPr>
            <p:cNvSpPr txBox="1">
              <a:spLocks noChangeArrowheads="1"/>
            </p:cNvSpPr>
            <p:nvPr/>
          </p:nvSpPr>
          <p:spPr bwMode="auto">
            <a:xfrm>
              <a:off x="2784" y="2300"/>
              <a:ext cx="100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a:latin typeface="Arial" panose="020B0604020202020204" pitchFamily="34" charset="0"/>
                </a:rPr>
                <a:t>SA Database</a:t>
              </a:r>
            </a:p>
          </p:txBody>
        </p:sp>
      </p:grpSp>
      <p:sp>
        <p:nvSpPr>
          <p:cNvPr id="851989" name="Line 21">
            <a:extLst>
              <a:ext uri="{FF2B5EF4-FFF2-40B4-BE49-F238E27FC236}">
                <a16:creationId xmlns:a16="http://schemas.microsoft.com/office/drawing/2014/main" id="{06AB7AFA-27F2-861F-39D1-EDC055351ADB}"/>
              </a:ext>
            </a:extLst>
          </p:cNvPr>
          <p:cNvSpPr>
            <a:spLocks noChangeShapeType="1"/>
          </p:cNvSpPr>
          <p:nvPr/>
        </p:nvSpPr>
        <p:spPr bwMode="auto">
          <a:xfrm>
            <a:off x="4724400" y="3733800"/>
            <a:ext cx="838200" cy="60960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51990" name="Rectangle 22">
            <a:extLst>
              <a:ext uri="{FF2B5EF4-FFF2-40B4-BE49-F238E27FC236}">
                <a16:creationId xmlns:a16="http://schemas.microsoft.com/office/drawing/2014/main" id="{C51BAC72-D051-ABCA-D736-873CE6BE673E}"/>
              </a:ext>
            </a:extLst>
          </p:cNvPr>
          <p:cNvSpPr>
            <a:spLocks noChangeArrowheads="1"/>
          </p:cNvSpPr>
          <p:nvPr/>
        </p:nvSpPr>
        <p:spPr bwMode="auto">
          <a:xfrm>
            <a:off x="6934200" y="5105400"/>
            <a:ext cx="2133600" cy="457200"/>
          </a:xfrm>
          <a:prstGeom prst="rect">
            <a:avLst/>
          </a:prstGeom>
          <a:solidFill>
            <a:srgbClr val="CCFF66"/>
          </a:solidFill>
          <a:ln w="38100">
            <a:solidFill>
              <a:srgbClr val="008000"/>
            </a:solidFill>
            <a:miter lim="800000"/>
            <a:headEnd/>
            <a:tailEnd/>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solidFill>
                  <a:srgbClr val="000000"/>
                </a:solidFill>
                <a:latin typeface="Arial" panose="020B0604020202020204" pitchFamily="34" charset="0"/>
              </a:rPr>
              <a:t>Original IP Packet</a:t>
            </a:r>
          </a:p>
        </p:txBody>
      </p:sp>
      <p:pic>
        <p:nvPicPr>
          <p:cNvPr id="65542" name="Picture 23" descr="bd04914_">
            <a:extLst>
              <a:ext uri="{FF2B5EF4-FFF2-40B4-BE49-F238E27FC236}">
                <a16:creationId xmlns:a16="http://schemas.microsoft.com/office/drawing/2014/main" id="{2AFAB207-53F7-F1FE-0F62-047F92FFE8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209800"/>
            <a:ext cx="533400"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5543" name="Group 24">
            <a:extLst>
              <a:ext uri="{FF2B5EF4-FFF2-40B4-BE49-F238E27FC236}">
                <a16:creationId xmlns:a16="http://schemas.microsoft.com/office/drawing/2014/main" id="{B59D6FC6-6915-6098-C94A-847BE8C46475}"/>
              </a:ext>
            </a:extLst>
          </p:cNvPr>
          <p:cNvGrpSpPr>
            <a:grpSpLocks/>
          </p:cNvGrpSpPr>
          <p:nvPr/>
        </p:nvGrpSpPr>
        <p:grpSpPr bwMode="auto">
          <a:xfrm>
            <a:off x="457200" y="904875"/>
            <a:ext cx="7086600" cy="2746375"/>
            <a:chOff x="432" y="570"/>
            <a:chExt cx="4464" cy="1730"/>
          </a:xfrm>
        </p:grpSpPr>
        <p:sp>
          <p:nvSpPr>
            <p:cNvPr id="65565" name="Rectangle 25">
              <a:extLst>
                <a:ext uri="{FF2B5EF4-FFF2-40B4-BE49-F238E27FC236}">
                  <a16:creationId xmlns:a16="http://schemas.microsoft.com/office/drawing/2014/main" id="{D42D3CC8-DA26-8EA3-1A7A-7C7A37EBFB66}"/>
                </a:ext>
              </a:extLst>
            </p:cNvPr>
            <p:cNvSpPr>
              <a:spLocks noChangeArrowheads="1"/>
            </p:cNvSpPr>
            <p:nvPr/>
          </p:nvSpPr>
          <p:spPr bwMode="auto">
            <a:xfrm>
              <a:off x="1008" y="2060"/>
              <a:ext cx="1008" cy="240"/>
            </a:xfrm>
            <a:prstGeom prst="rect">
              <a:avLst/>
            </a:prstGeom>
            <a:solidFill>
              <a:srgbClr val="CCFF66"/>
            </a:solidFill>
            <a:ln w="38100">
              <a:solidFill>
                <a:srgbClr val="008000"/>
              </a:solidFill>
              <a:miter lim="800000"/>
              <a:headEnd/>
              <a:tailEnd/>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b="1">
                  <a:solidFill>
                    <a:srgbClr val="000000"/>
                  </a:solidFill>
                  <a:latin typeface="Arial" panose="020B0604020202020204" pitchFamily="34" charset="0"/>
                </a:rPr>
                <a:t>SPI &amp; Packet</a:t>
              </a:r>
            </a:p>
          </p:txBody>
        </p:sp>
        <p:sp>
          <p:nvSpPr>
            <p:cNvPr id="65566" name="Text Box 26">
              <a:extLst>
                <a:ext uri="{FF2B5EF4-FFF2-40B4-BE49-F238E27FC236}">
                  <a16:creationId xmlns:a16="http://schemas.microsoft.com/office/drawing/2014/main" id="{3B40005D-E60A-01B3-3A6D-77E4618E49F1}"/>
                </a:ext>
              </a:extLst>
            </p:cNvPr>
            <p:cNvSpPr txBox="1">
              <a:spLocks noChangeArrowheads="1"/>
            </p:cNvSpPr>
            <p:nvPr/>
          </p:nvSpPr>
          <p:spPr bwMode="auto">
            <a:xfrm>
              <a:off x="864" y="1008"/>
              <a:ext cx="2148" cy="296"/>
            </a:xfrm>
            <a:prstGeom prst="rect">
              <a:avLst/>
            </a:prstGeom>
            <a:solidFill>
              <a:srgbClr val="FFFF00"/>
            </a:solidFill>
            <a:ln w="12700">
              <a:solidFill>
                <a:schemeClr val="tx2"/>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solidFill>
                    <a:srgbClr val="660066"/>
                  </a:solidFill>
                  <a:latin typeface="Arial" panose="020B0604020202020204" pitchFamily="34" charset="0"/>
                </a:rPr>
                <a:t>Inbound packet (on B)</a:t>
              </a:r>
            </a:p>
          </p:txBody>
        </p:sp>
        <p:sp>
          <p:nvSpPr>
            <p:cNvPr id="65567" name="Text Box 27">
              <a:extLst>
                <a:ext uri="{FF2B5EF4-FFF2-40B4-BE49-F238E27FC236}">
                  <a16:creationId xmlns:a16="http://schemas.microsoft.com/office/drawing/2014/main" id="{355F4A20-E410-49C4-3B26-7156D39686A2}"/>
                </a:ext>
              </a:extLst>
            </p:cNvPr>
            <p:cNvSpPr txBox="1">
              <a:spLocks noChangeArrowheads="1"/>
            </p:cNvSpPr>
            <p:nvPr/>
          </p:nvSpPr>
          <p:spPr bwMode="auto">
            <a:xfrm>
              <a:off x="3678" y="963"/>
              <a:ext cx="284" cy="333"/>
            </a:xfrm>
            <a:prstGeom prst="rect">
              <a:avLst/>
            </a:prstGeom>
            <a:solidFill>
              <a:srgbClr val="800080"/>
            </a:solidFill>
            <a:ln w="9525">
              <a:solidFill>
                <a:schemeClr val="tx2"/>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A</a:t>
              </a:r>
            </a:p>
          </p:txBody>
        </p:sp>
        <p:sp>
          <p:nvSpPr>
            <p:cNvPr id="65568" name="Rectangle 28">
              <a:extLst>
                <a:ext uri="{FF2B5EF4-FFF2-40B4-BE49-F238E27FC236}">
                  <a16:creationId xmlns:a16="http://schemas.microsoft.com/office/drawing/2014/main" id="{BB4C3A90-9F34-96E3-1CC4-9D6402CC5A6E}"/>
                </a:ext>
              </a:extLst>
            </p:cNvPr>
            <p:cNvSpPr>
              <a:spLocks noChangeArrowheads="1"/>
            </p:cNvSpPr>
            <p:nvPr/>
          </p:nvSpPr>
          <p:spPr bwMode="auto">
            <a:xfrm>
              <a:off x="4552" y="963"/>
              <a:ext cx="284" cy="333"/>
            </a:xfrm>
            <a:prstGeom prst="rect">
              <a:avLst/>
            </a:prstGeom>
            <a:solidFill>
              <a:srgbClr val="FF0000"/>
            </a:solidFill>
            <a:ln w="9525">
              <a:solidFill>
                <a:schemeClr val="tx1"/>
              </a:solidFill>
              <a:miter lim="800000"/>
              <a:headEnd/>
              <a:tailEnd/>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B</a:t>
              </a:r>
            </a:p>
          </p:txBody>
        </p:sp>
        <p:sp>
          <p:nvSpPr>
            <p:cNvPr id="851997" name="Line 29">
              <a:extLst>
                <a:ext uri="{FF2B5EF4-FFF2-40B4-BE49-F238E27FC236}">
                  <a16:creationId xmlns:a16="http://schemas.microsoft.com/office/drawing/2014/main" id="{6AECB6F5-4D03-CDCB-13B1-060A56D0A310}"/>
                </a:ext>
              </a:extLst>
            </p:cNvPr>
            <p:cNvSpPr>
              <a:spLocks noChangeShapeType="1"/>
            </p:cNvSpPr>
            <p:nvPr/>
          </p:nvSpPr>
          <p:spPr bwMode="auto">
            <a:xfrm>
              <a:off x="3966" y="1146"/>
              <a:ext cx="576" cy="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grpSp>
          <p:nvGrpSpPr>
            <p:cNvPr id="65570" name="Group 30">
              <a:extLst>
                <a:ext uri="{FF2B5EF4-FFF2-40B4-BE49-F238E27FC236}">
                  <a16:creationId xmlns:a16="http://schemas.microsoft.com/office/drawing/2014/main" id="{8281D9AC-627F-1B15-3B07-C5133B814545}"/>
                </a:ext>
              </a:extLst>
            </p:cNvPr>
            <p:cNvGrpSpPr>
              <a:grpSpLocks/>
            </p:cNvGrpSpPr>
            <p:nvPr/>
          </p:nvGrpSpPr>
          <p:grpSpPr bwMode="auto">
            <a:xfrm>
              <a:off x="3678" y="570"/>
              <a:ext cx="402" cy="347"/>
              <a:chOff x="582" y="534"/>
              <a:chExt cx="614" cy="530"/>
            </a:xfrm>
          </p:grpSpPr>
          <p:sp>
            <p:nvSpPr>
              <p:cNvPr id="851999" name="Arc 31">
                <a:extLst>
                  <a:ext uri="{FF2B5EF4-FFF2-40B4-BE49-F238E27FC236}">
                    <a16:creationId xmlns:a16="http://schemas.microsoft.com/office/drawing/2014/main" id="{53550194-A824-FD3B-7EBC-77231140E0ED}"/>
                  </a:ext>
                </a:extLst>
              </p:cNvPr>
              <p:cNvSpPr>
                <a:spLocks/>
              </p:cNvSpPr>
              <p:nvPr/>
            </p:nvSpPr>
            <p:spPr bwMode="auto">
              <a:xfrm>
                <a:off x="1059" y="917"/>
                <a:ext cx="119" cy="81"/>
              </a:xfrm>
              <a:custGeom>
                <a:avLst/>
                <a:gdLst>
                  <a:gd name="G0" fmla="+- 16576 0 0"/>
                  <a:gd name="G1" fmla="+- 21600 0 0"/>
                  <a:gd name="G2" fmla="+- 21600 0 0"/>
                  <a:gd name="T0" fmla="*/ 0 w 38176"/>
                  <a:gd name="T1" fmla="*/ 7751 h 34923"/>
                  <a:gd name="T2" fmla="*/ 33578 w 38176"/>
                  <a:gd name="T3" fmla="*/ 34923 h 34923"/>
                  <a:gd name="T4" fmla="*/ 16576 w 38176"/>
                  <a:gd name="T5" fmla="*/ 21600 h 34923"/>
                </a:gdLst>
                <a:ahLst/>
                <a:cxnLst>
                  <a:cxn ang="0">
                    <a:pos x="T0" y="T1"/>
                  </a:cxn>
                  <a:cxn ang="0">
                    <a:pos x="T2" y="T3"/>
                  </a:cxn>
                  <a:cxn ang="0">
                    <a:pos x="T4" y="T5"/>
                  </a:cxn>
                </a:cxnLst>
                <a:rect l="0" t="0" r="r" b="b"/>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close/>
                  </a:path>
                </a:pathLst>
              </a:custGeom>
              <a:noFill/>
              <a:ln w="20638">
                <a:solidFill>
                  <a:srgbClr val="0078AA"/>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0" name="Arc 32">
                <a:extLst>
                  <a:ext uri="{FF2B5EF4-FFF2-40B4-BE49-F238E27FC236}">
                    <a16:creationId xmlns:a16="http://schemas.microsoft.com/office/drawing/2014/main" id="{136969F1-94DA-C1F8-2842-52E0996319FF}"/>
                  </a:ext>
                </a:extLst>
              </p:cNvPr>
              <p:cNvSpPr>
                <a:spLocks/>
              </p:cNvSpPr>
              <p:nvPr/>
            </p:nvSpPr>
            <p:spPr bwMode="auto">
              <a:xfrm>
                <a:off x="1060" y="919"/>
                <a:ext cx="118" cy="79"/>
              </a:xfrm>
              <a:custGeom>
                <a:avLst/>
                <a:gdLst>
                  <a:gd name="G0" fmla="+- 16722 0 0"/>
                  <a:gd name="G1" fmla="+- 21600 0 0"/>
                  <a:gd name="G2" fmla="+- 21600 0 0"/>
                  <a:gd name="T0" fmla="*/ 0 w 38322"/>
                  <a:gd name="T1" fmla="*/ 7928 h 34803"/>
                  <a:gd name="T2" fmla="*/ 33817 w 38322"/>
                  <a:gd name="T3" fmla="*/ 34803 h 34803"/>
                  <a:gd name="T4" fmla="*/ 16722 w 38322"/>
                  <a:gd name="T5" fmla="*/ 21600 h 34803"/>
                </a:gdLst>
                <a:ahLst/>
                <a:cxnLst>
                  <a:cxn ang="0">
                    <a:pos x="T0" y="T1"/>
                  </a:cxn>
                  <a:cxn ang="0">
                    <a:pos x="T2" y="T3"/>
                  </a:cxn>
                  <a:cxn ang="0">
                    <a:pos x="T4" y="T5"/>
                  </a:cxn>
                </a:cxnLst>
                <a:rect l="0" t="0" r="r" b="b"/>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close/>
                  </a:path>
                </a:pathLst>
              </a:custGeom>
              <a:noFill/>
              <a:ln w="9525">
                <a:solidFill>
                  <a:srgbClr val="AAE6FF"/>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1" name="Freeform 33">
                <a:extLst>
                  <a:ext uri="{FF2B5EF4-FFF2-40B4-BE49-F238E27FC236}">
                    <a16:creationId xmlns:a16="http://schemas.microsoft.com/office/drawing/2014/main" id="{59639F25-FD88-0C5C-7570-1312C38ADAD4}"/>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2" name="Freeform 34">
                <a:extLst>
                  <a:ext uri="{FF2B5EF4-FFF2-40B4-BE49-F238E27FC236}">
                    <a16:creationId xmlns:a16="http://schemas.microsoft.com/office/drawing/2014/main" id="{603ACF78-5097-9C4F-2E4A-C4C4CE88D99C}"/>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3" name="Rectangle 35">
                <a:extLst>
                  <a:ext uri="{FF2B5EF4-FFF2-40B4-BE49-F238E27FC236}">
                    <a16:creationId xmlns:a16="http://schemas.microsoft.com/office/drawing/2014/main" id="{9C62693F-FF61-758A-A4A9-09EA869D1479}"/>
                  </a:ext>
                </a:extLst>
              </p:cNvPr>
              <p:cNvSpPr>
                <a:spLocks noChangeArrowheads="1"/>
              </p:cNvSpPr>
              <p:nvPr/>
            </p:nvSpPr>
            <p:spPr bwMode="auto">
              <a:xfrm>
                <a:off x="661" y="910"/>
                <a:ext cx="402" cy="7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04" name="Rectangle 36">
                <a:extLst>
                  <a:ext uri="{FF2B5EF4-FFF2-40B4-BE49-F238E27FC236}">
                    <a16:creationId xmlns:a16="http://schemas.microsoft.com/office/drawing/2014/main" id="{B03E60CB-BAA7-4FB1-7EE2-8AAC211FCABB}"/>
                  </a:ext>
                </a:extLst>
              </p:cNvPr>
              <p:cNvSpPr>
                <a:spLocks noChangeArrowheads="1"/>
              </p:cNvSpPr>
              <p:nvPr/>
            </p:nvSpPr>
            <p:spPr bwMode="auto">
              <a:xfrm>
                <a:off x="661" y="910"/>
                <a:ext cx="400" cy="75"/>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05" name="Freeform 37">
                <a:extLst>
                  <a:ext uri="{FF2B5EF4-FFF2-40B4-BE49-F238E27FC236}">
                    <a16:creationId xmlns:a16="http://schemas.microsoft.com/office/drawing/2014/main" id="{5DFD27C2-9CEB-5480-BBCE-BB8D38294878}"/>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6" name="Freeform 38">
                <a:extLst>
                  <a:ext uri="{FF2B5EF4-FFF2-40B4-BE49-F238E27FC236}">
                    <a16:creationId xmlns:a16="http://schemas.microsoft.com/office/drawing/2014/main" id="{E5612C22-D660-B4A4-898D-4E2E2F0F68E5}"/>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7" name="Freeform 39">
                <a:extLst>
                  <a:ext uri="{FF2B5EF4-FFF2-40B4-BE49-F238E27FC236}">
                    <a16:creationId xmlns:a16="http://schemas.microsoft.com/office/drawing/2014/main" id="{616030C4-EA4D-5F7F-B25B-1457CA47C774}"/>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8" name="Freeform 40">
                <a:extLst>
                  <a:ext uri="{FF2B5EF4-FFF2-40B4-BE49-F238E27FC236}">
                    <a16:creationId xmlns:a16="http://schemas.microsoft.com/office/drawing/2014/main" id="{061C69E8-9222-4CC8-7551-6D03195D292A}"/>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4763">
                <a:solidFill>
                  <a:srgbClr val="000000"/>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09" name="Freeform 41">
                <a:extLst>
                  <a:ext uri="{FF2B5EF4-FFF2-40B4-BE49-F238E27FC236}">
                    <a16:creationId xmlns:a16="http://schemas.microsoft.com/office/drawing/2014/main" id="{EF3839D8-517E-B4D1-65BC-BF8BC3749280}"/>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0" name="Freeform 42">
                <a:extLst>
                  <a:ext uri="{FF2B5EF4-FFF2-40B4-BE49-F238E27FC236}">
                    <a16:creationId xmlns:a16="http://schemas.microsoft.com/office/drawing/2014/main" id="{17FC5EC8-E616-FDF7-6911-62CD8D1B642C}"/>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1" name="Rectangle 43">
                <a:extLst>
                  <a:ext uri="{FF2B5EF4-FFF2-40B4-BE49-F238E27FC236}">
                    <a16:creationId xmlns:a16="http://schemas.microsoft.com/office/drawing/2014/main" id="{2AE94C73-2D50-A107-9699-341457F9BBEA}"/>
                  </a:ext>
                </a:extLst>
              </p:cNvPr>
              <p:cNvSpPr>
                <a:spLocks noChangeArrowheads="1"/>
              </p:cNvSpPr>
              <p:nvPr/>
            </p:nvSpPr>
            <p:spPr bwMode="auto">
              <a:xfrm>
                <a:off x="661" y="575"/>
                <a:ext cx="403" cy="318"/>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12" name="Rectangle 44">
                <a:extLst>
                  <a:ext uri="{FF2B5EF4-FFF2-40B4-BE49-F238E27FC236}">
                    <a16:creationId xmlns:a16="http://schemas.microsoft.com/office/drawing/2014/main" id="{4EF3F943-0EEF-2072-74D2-65F287638D94}"/>
                  </a:ext>
                </a:extLst>
              </p:cNvPr>
              <p:cNvSpPr>
                <a:spLocks noChangeArrowheads="1"/>
              </p:cNvSpPr>
              <p:nvPr/>
            </p:nvSpPr>
            <p:spPr bwMode="auto">
              <a:xfrm>
                <a:off x="697" y="616"/>
                <a:ext cx="333" cy="243"/>
              </a:xfrm>
              <a:prstGeom prst="rect">
                <a:avLst/>
              </a:prstGeom>
              <a:solidFill>
                <a:srgbClr val="FFFFFF"/>
              </a:solidFill>
              <a:ln w="4763">
                <a:solidFill>
                  <a:srgbClr val="003C55"/>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13" name="Freeform 45">
                <a:extLst>
                  <a:ext uri="{FF2B5EF4-FFF2-40B4-BE49-F238E27FC236}">
                    <a16:creationId xmlns:a16="http://schemas.microsoft.com/office/drawing/2014/main" id="{6F255955-BC65-4C2F-AAC9-F044BC9D5323}"/>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4" name="Freeform 46">
                <a:extLst>
                  <a:ext uri="{FF2B5EF4-FFF2-40B4-BE49-F238E27FC236}">
                    <a16:creationId xmlns:a16="http://schemas.microsoft.com/office/drawing/2014/main" id="{5139A176-8FF9-F0B7-EC49-A9A5A1C80104}"/>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5" name="Freeform 47">
                <a:extLst>
                  <a:ext uri="{FF2B5EF4-FFF2-40B4-BE49-F238E27FC236}">
                    <a16:creationId xmlns:a16="http://schemas.microsoft.com/office/drawing/2014/main" id="{24BD2ED7-8697-3E2D-88DA-C0AB27F9CC28}"/>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6" name="Freeform 48">
                <a:extLst>
                  <a:ext uri="{FF2B5EF4-FFF2-40B4-BE49-F238E27FC236}">
                    <a16:creationId xmlns:a16="http://schemas.microsoft.com/office/drawing/2014/main" id="{9929F3E9-D95C-E1BE-BC4F-0DBA607C2C48}"/>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7" name="Freeform 49">
                <a:extLst>
                  <a:ext uri="{FF2B5EF4-FFF2-40B4-BE49-F238E27FC236}">
                    <a16:creationId xmlns:a16="http://schemas.microsoft.com/office/drawing/2014/main" id="{8DF61C52-3985-1D31-AD51-49BDF8665414}"/>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8" name="Freeform 50">
                <a:extLst>
                  <a:ext uri="{FF2B5EF4-FFF2-40B4-BE49-F238E27FC236}">
                    <a16:creationId xmlns:a16="http://schemas.microsoft.com/office/drawing/2014/main" id="{9F894319-CC15-F717-97F5-197F190E2B72}"/>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19" name="Rectangle 51">
                <a:extLst>
                  <a:ext uri="{FF2B5EF4-FFF2-40B4-BE49-F238E27FC236}">
                    <a16:creationId xmlns:a16="http://schemas.microsoft.com/office/drawing/2014/main" id="{C5921F83-BFC8-C4E1-C8E9-81538F0EB620}"/>
                  </a:ext>
                </a:extLst>
              </p:cNvPr>
              <p:cNvSpPr>
                <a:spLocks noChangeArrowheads="1"/>
              </p:cNvSpPr>
              <p:nvPr/>
            </p:nvSpPr>
            <p:spPr bwMode="auto">
              <a:xfrm>
                <a:off x="582" y="1049"/>
                <a:ext cx="43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20" name="Rectangle 52">
                <a:extLst>
                  <a:ext uri="{FF2B5EF4-FFF2-40B4-BE49-F238E27FC236}">
                    <a16:creationId xmlns:a16="http://schemas.microsoft.com/office/drawing/2014/main" id="{5B0923C7-BF6E-3FEE-0F78-2FBE34D6BBFF}"/>
                  </a:ext>
                </a:extLst>
              </p:cNvPr>
              <p:cNvSpPr>
                <a:spLocks noChangeArrowheads="1"/>
              </p:cNvSpPr>
              <p:nvPr/>
            </p:nvSpPr>
            <p:spPr bwMode="auto">
              <a:xfrm>
                <a:off x="584" y="1049"/>
                <a:ext cx="434"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21" name="Freeform 53">
                <a:extLst>
                  <a:ext uri="{FF2B5EF4-FFF2-40B4-BE49-F238E27FC236}">
                    <a16:creationId xmlns:a16="http://schemas.microsoft.com/office/drawing/2014/main" id="{798B76F1-9F5B-FEDC-26DC-B9D2F8E3877D}"/>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22" name="Freeform 54">
                <a:extLst>
                  <a:ext uri="{FF2B5EF4-FFF2-40B4-BE49-F238E27FC236}">
                    <a16:creationId xmlns:a16="http://schemas.microsoft.com/office/drawing/2014/main" id="{3965AABA-D22D-275A-1CB5-AB5E27DA15F3}"/>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23" name="Freeform 55">
                <a:extLst>
                  <a:ext uri="{FF2B5EF4-FFF2-40B4-BE49-F238E27FC236}">
                    <a16:creationId xmlns:a16="http://schemas.microsoft.com/office/drawing/2014/main" id="{FDD0DF5C-CB5A-DDF5-EB57-BC9A8D726C56}"/>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24" name="Freeform 56">
                <a:extLst>
                  <a:ext uri="{FF2B5EF4-FFF2-40B4-BE49-F238E27FC236}">
                    <a16:creationId xmlns:a16="http://schemas.microsoft.com/office/drawing/2014/main" id="{D335DFE4-1A3E-1166-6665-1CF19CA641F7}"/>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25" name="Rectangle 57">
                <a:extLst>
                  <a:ext uri="{FF2B5EF4-FFF2-40B4-BE49-F238E27FC236}">
                    <a16:creationId xmlns:a16="http://schemas.microsoft.com/office/drawing/2014/main" id="{AA8B8264-156A-49CD-DE42-0DEE29389EF3}"/>
                  </a:ext>
                </a:extLst>
              </p:cNvPr>
              <p:cNvSpPr>
                <a:spLocks noChangeArrowheads="1"/>
              </p:cNvSpPr>
              <p:nvPr/>
            </p:nvSpPr>
            <p:spPr bwMode="auto">
              <a:xfrm>
                <a:off x="1107" y="1038"/>
                <a:ext cx="5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26" name="Rectangle 58">
                <a:extLst>
                  <a:ext uri="{FF2B5EF4-FFF2-40B4-BE49-F238E27FC236}">
                    <a16:creationId xmlns:a16="http://schemas.microsoft.com/office/drawing/2014/main" id="{2D84C868-2BE8-F79C-1DA8-B9B907B7CCE7}"/>
                  </a:ext>
                </a:extLst>
              </p:cNvPr>
              <p:cNvSpPr>
                <a:spLocks noChangeArrowheads="1"/>
              </p:cNvSpPr>
              <p:nvPr/>
            </p:nvSpPr>
            <p:spPr bwMode="auto">
              <a:xfrm>
                <a:off x="1107" y="1040"/>
                <a:ext cx="55"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grpSp>
        <p:grpSp>
          <p:nvGrpSpPr>
            <p:cNvPr id="65571" name="Group 59">
              <a:extLst>
                <a:ext uri="{FF2B5EF4-FFF2-40B4-BE49-F238E27FC236}">
                  <a16:creationId xmlns:a16="http://schemas.microsoft.com/office/drawing/2014/main" id="{07969D4F-34C4-12E0-65A9-87525F5BDC53}"/>
                </a:ext>
              </a:extLst>
            </p:cNvPr>
            <p:cNvGrpSpPr>
              <a:grpSpLocks/>
            </p:cNvGrpSpPr>
            <p:nvPr/>
          </p:nvGrpSpPr>
          <p:grpSpPr bwMode="auto">
            <a:xfrm>
              <a:off x="4494" y="570"/>
              <a:ext cx="402" cy="347"/>
              <a:chOff x="582" y="534"/>
              <a:chExt cx="614" cy="530"/>
            </a:xfrm>
          </p:grpSpPr>
          <p:sp>
            <p:nvSpPr>
              <p:cNvPr id="852028" name="Arc 60">
                <a:extLst>
                  <a:ext uri="{FF2B5EF4-FFF2-40B4-BE49-F238E27FC236}">
                    <a16:creationId xmlns:a16="http://schemas.microsoft.com/office/drawing/2014/main" id="{367631A3-8EFE-FCAD-EC7C-949DA63E4134}"/>
                  </a:ext>
                </a:extLst>
              </p:cNvPr>
              <p:cNvSpPr>
                <a:spLocks/>
              </p:cNvSpPr>
              <p:nvPr/>
            </p:nvSpPr>
            <p:spPr bwMode="auto">
              <a:xfrm>
                <a:off x="1059" y="917"/>
                <a:ext cx="119" cy="81"/>
              </a:xfrm>
              <a:custGeom>
                <a:avLst/>
                <a:gdLst>
                  <a:gd name="G0" fmla="+- 16576 0 0"/>
                  <a:gd name="G1" fmla="+- 21600 0 0"/>
                  <a:gd name="G2" fmla="+- 21600 0 0"/>
                  <a:gd name="T0" fmla="*/ 0 w 38176"/>
                  <a:gd name="T1" fmla="*/ 7751 h 34923"/>
                  <a:gd name="T2" fmla="*/ 33578 w 38176"/>
                  <a:gd name="T3" fmla="*/ 34923 h 34923"/>
                  <a:gd name="T4" fmla="*/ 16576 w 38176"/>
                  <a:gd name="T5" fmla="*/ 21600 h 34923"/>
                </a:gdLst>
                <a:ahLst/>
                <a:cxnLst>
                  <a:cxn ang="0">
                    <a:pos x="T0" y="T1"/>
                  </a:cxn>
                  <a:cxn ang="0">
                    <a:pos x="T2" y="T3"/>
                  </a:cxn>
                  <a:cxn ang="0">
                    <a:pos x="T4" y="T5"/>
                  </a:cxn>
                </a:cxnLst>
                <a:rect l="0" t="0" r="r" b="b"/>
                <a:pathLst>
                  <a:path w="38176" h="34923" fill="none" extrusionOk="0">
                    <a:moveTo>
                      <a:pt x="-1" y="7750"/>
                    </a:moveTo>
                    <a:cubicBezTo>
                      <a:pt x="4103" y="2838"/>
                      <a:pt x="10175" y="-1"/>
                      <a:pt x="16576" y="0"/>
                    </a:cubicBezTo>
                    <a:cubicBezTo>
                      <a:pt x="28505" y="0"/>
                      <a:pt x="38176" y="9670"/>
                      <a:pt x="38176" y="21600"/>
                    </a:cubicBezTo>
                    <a:cubicBezTo>
                      <a:pt x="38176" y="26430"/>
                      <a:pt x="36557" y="31120"/>
                      <a:pt x="33577" y="34922"/>
                    </a:cubicBezTo>
                  </a:path>
                  <a:path w="38176" h="34923" stroke="0" extrusionOk="0">
                    <a:moveTo>
                      <a:pt x="-1" y="7750"/>
                    </a:moveTo>
                    <a:cubicBezTo>
                      <a:pt x="4103" y="2838"/>
                      <a:pt x="10175" y="-1"/>
                      <a:pt x="16576" y="0"/>
                    </a:cubicBezTo>
                    <a:cubicBezTo>
                      <a:pt x="28505" y="0"/>
                      <a:pt x="38176" y="9670"/>
                      <a:pt x="38176" y="21600"/>
                    </a:cubicBezTo>
                    <a:cubicBezTo>
                      <a:pt x="38176" y="26430"/>
                      <a:pt x="36557" y="31120"/>
                      <a:pt x="33577" y="34922"/>
                    </a:cubicBezTo>
                    <a:lnTo>
                      <a:pt x="16576" y="21600"/>
                    </a:lnTo>
                    <a:close/>
                  </a:path>
                </a:pathLst>
              </a:custGeom>
              <a:noFill/>
              <a:ln w="20638">
                <a:solidFill>
                  <a:srgbClr val="0078AA"/>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29" name="Arc 61">
                <a:extLst>
                  <a:ext uri="{FF2B5EF4-FFF2-40B4-BE49-F238E27FC236}">
                    <a16:creationId xmlns:a16="http://schemas.microsoft.com/office/drawing/2014/main" id="{18C79A7F-EAB2-2159-012F-524766C759A8}"/>
                  </a:ext>
                </a:extLst>
              </p:cNvPr>
              <p:cNvSpPr>
                <a:spLocks/>
              </p:cNvSpPr>
              <p:nvPr/>
            </p:nvSpPr>
            <p:spPr bwMode="auto">
              <a:xfrm>
                <a:off x="1060" y="919"/>
                <a:ext cx="118" cy="79"/>
              </a:xfrm>
              <a:custGeom>
                <a:avLst/>
                <a:gdLst>
                  <a:gd name="G0" fmla="+- 16722 0 0"/>
                  <a:gd name="G1" fmla="+- 21600 0 0"/>
                  <a:gd name="G2" fmla="+- 21600 0 0"/>
                  <a:gd name="T0" fmla="*/ 0 w 38322"/>
                  <a:gd name="T1" fmla="*/ 7928 h 34803"/>
                  <a:gd name="T2" fmla="*/ 33817 w 38322"/>
                  <a:gd name="T3" fmla="*/ 34803 h 34803"/>
                  <a:gd name="T4" fmla="*/ 16722 w 38322"/>
                  <a:gd name="T5" fmla="*/ 21600 h 34803"/>
                </a:gdLst>
                <a:ahLst/>
                <a:cxnLst>
                  <a:cxn ang="0">
                    <a:pos x="T0" y="T1"/>
                  </a:cxn>
                  <a:cxn ang="0">
                    <a:pos x="T2" y="T3"/>
                  </a:cxn>
                  <a:cxn ang="0">
                    <a:pos x="T4" y="T5"/>
                  </a:cxn>
                </a:cxnLst>
                <a:rect l="0" t="0" r="r" b="b"/>
                <a:pathLst>
                  <a:path w="38322" h="34803" fill="none" extrusionOk="0">
                    <a:moveTo>
                      <a:pt x="-1" y="7927"/>
                    </a:moveTo>
                    <a:cubicBezTo>
                      <a:pt x="4102" y="2910"/>
                      <a:pt x="10240" y="-1"/>
                      <a:pt x="16722" y="0"/>
                    </a:cubicBezTo>
                    <a:cubicBezTo>
                      <a:pt x="28651" y="0"/>
                      <a:pt x="38322" y="9670"/>
                      <a:pt x="38322" y="21600"/>
                    </a:cubicBezTo>
                    <a:cubicBezTo>
                      <a:pt x="38322" y="26378"/>
                      <a:pt x="36737" y="31021"/>
                      <a:pt x="33817" y="34803"/>
                    </a:cubicBezTo>
                  </a:path>
                  <a:path w="38322" h="34803" stroke="0" extrusionOk="0">
                    <a:moveTo>
                      <a:pt x="-1" y="7927"/>
                    </a:moveTo>
                    <a:cubicBezTo>
                      <a:pt x="4102" y="2910"/>
                      <a:pt x="10240" y="-1"/>
                      <a:pt x="16722" y="0"/>
                    </a:cubicBezTo>
                    <a:cubicBezTo>
                      <a:pt x="28651" y="0"/>
                      <a:pt x="38322" y="9670"/>
                      <a:pt x="38322" y="21600"/>
                    </a:cubicBezTo>
                    <a:cubicBezTo>
                      <a:pt x="38322" y="26378"/>
                      <a:pt x="36737" y="31021"/>
                      <a:pt x="33817" y="34803"/>
                    </a:cubicBezTo>
                    <a:lnTo>
                      <a:pt x="16722" y="21600"/>
                    </a:lnTo>
                    <a:close/>
                  </a:path>
                </a:pathLst>
              </a:custGeom>
              <a:noFill/>
              <a:ln w="9525">
                <a:solidFill>
                  <a:srgbClr val="AAE6FF"/>
                </a:solid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0" name="Freeform 62">
                <a:extLst>
                  <a:ext uri="{FF2B5EF4-FFF2-40B4-BE49-F238E27FC236}">
                    <a16:creationId xmlns:a16="http://schemas.microsoft.com/office/drawing/2014/main" id="{EB58A365-AE2D-0EB9-12DB-28E4CCFB7598}"/>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1" name="Freeform 63">
                <a:extLst>
                  <a:ext uri="{FF2B5EF4-FFF2-40B4-BE49-F238E27FC236}">
                    <a16:creationId xmlns:a16="http://schemas.microsoft.com/office/drawing/2014/main" id="{6252734A-6784-5A8F-98FB-4D6F34B34A73}"/>
                  </a:ext>
                </a:extLst>
              </p:cNvPr>
              <p:cNvSpPr>
                <a:spLocks/>
              </p:cNvSpPr>
              <p:nvPr/>
            </p:nvSpPr>
            <p:spPr bwMode="auto">
              <a:xfrm>
                <a:off x="661" y="859"/>
                <a:ext cx="455" cy="50"/>
              </a:xfrm>
              <a:custGeom>
                <a:avLst/>
                <a:gdLst/>
                <a:ahLst/>
                <a:cxnLst>
                  <a:cxn ang="0">
                    <a:pos x="0" y="50"/>
                  </a:cxn>
                  <a:cxn ang="0">
                    <a:pos x="54" y="0"/>
                  </a:cxn>
                  <a:cxn ang="0">
                    <a:pos x="455" y="0"/>
                  </a:cxn>
                  <a:cxn ang="0">
                    <a:pos x="402" y="50"/>
                  </a:cxn>
                  <a:cxn ang="0">
                    <a:pos x="0" y="50"/>
                  </a:cxn>
                </a:cxnLst>
                <a:rect l="0" t="0" r="r" b="b"/>
                <a:pathLst>
                  <a:path w="455" h="50">
                    <a:moveTo>
                      <a:pt x="0" y="50"/>
                    </a:moveTo>
                    <a:lnTo>
                      <a:pt x="54" y="0"/>
                    </a:lnTo>
                    <a:lnTo>
                      <a:pt x="455" y="0"/>
                    </a:lnTo>
                    <a:lnTo>
                      <a:pt x="402" y="50"/>
                    </a:lnTo>
                    <a:lnTo>
                      <a:pt x="0" y="50"/>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2" name="Rectangle 64">
                <a:extLst>
                  <a:ext uri="{FF2B5EF4-FFF2-40B4-BE49-F238E27FC236}">
                    <a16:creationId xmlns:a16="http://schemas.microsoft.com/office/drawing/2014/main" id="{AFA2B170-0CEE-A2CC-6558-D8773BAA1269}"/>
                  </a:ext>
                </a:extLst>
              </p:cNvPr>
              <p:cNvSpPr>
                <a:spLocks noChangeArrowheads="1"/>
              </p:cNvSpPr>
              <p:nvPr/>
            </p:nvSpPr>
            <p:spPr bwMode="auto">
              <a:xfrm>
                <a:off x="661" y="910"/>
                <a:ext cx="402" cy="7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33" name="Rectangle 65">
                <a:extLst>
                  <a:ext uri="{FF2B5EF4-FFF2-40B4-BE49-F238E27FC236}">
                    <a16:creationId xmlns:a16="http://schemas.microsoft.com/office/drawing/2014/main" id="{AFC38D6A-543F-DD3E-EE56-409E52E56A54}"/>
                  </a:ext>
                </a:extLst>
              </p:cNvPr>
              <p:cNvSpPr>
                <a:spLocks noChangeArrowheads="1"/>
              </p:cNvSpPr>
              <p:nvPr/>
            </p:nvSpPr>
            <p:spPr bwMode="auto">
              <a:xfrm>
                <a:off x="661" y="910"/>
                <a:ext cx="400" cy="75"/>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34" name="Freeform 66">
                <a:extLst>
                  <a:ext uri="{FF2B5EF4-FFF2-40B4-BE49-F238E27FC236}">
                    <a16:creationId xmlns:a16="http://schemas.microsoft.com/office/drawing/2014/main" id="{DB304AC1-4198-8804-B6A1-046DF5449AEA}"/>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5" name="Freeform 67">
                <a:extLst>
                  <a:ext uri="{FF2B5EF4-FFF2-40B4-BE49-F238E27FC236}">
                    <a16:creationId xmlns:a16="http://schemas.microsoft.com/office/drawing/2014/main" id="{D818791E-3C83-C14A-53F9-CAC8EC13F977}"/>
                  </a:ext>
                </a:extLst>
              </p:cNvPr>
              <p:cNvSpPr>
                <a:spLocks/>
              </p:cNvSpPr>
              <p:nvPr/>
            </p:nvSpPr>
            <p:spPr bwMode="auto">
              <a:xfrm>
                <a:off x="1063" y="859"/>
                <a:ext cx="53" cy="125"/>
              </a:xfrm>
              <a:custGeom>
                <a:avLst/>
                <a:gdLst/>
                <a:ahLst/>
                <a:cxnLst>
                  <a:cxn ang="0">
                    <a:pos x="0" y="126"/>
                  </a:cxn>
                  <a:cxn ang="0">
                    <a:pos x="53" y="72"/>
                  </a:cxn>
                  <a:cxn ang="0">
                    <a:pos x="53" y="0"/>
                  </a:cxn>
                  <a:cxn ang="0">
                    <a:pos x="0" y="50"/>
                  </a:cxn>
                  <a:cxn ang="0">
                    <a:pos x="0" y="126"/>
                  </a:cxn>
                </a:cxnLst>
                <a:rect l="0" t="0" r="r" b="b"/>
                <a:pathLst>
                  <a:path w="53" h="126">
                    <a:moveTo>
                      <a:pt x="0" y="126"/>
                    </a:moveTo>
                    <a:lnTo>
                      <a:pt x="53" y="72"/>
                    </a:lnTo>
                    <a:lnTo>
                      <a:pt x="53" y="0"/>
                    </a:lnTo>
                    <a:lnTo>
                      <a:pt x="0" y="50"/>
                    </a:lnTo>
                    <a:lnTo>
                      <a:pt x="0" y="12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6" name="Freeform 68">
                <a:extLst>
                  <a:ext uri="{FF2B5EF4-FFF2-40B4-BE49-F238E27FC236}">
                    <a16:creationId xmlns:a16="http://schemas.microsoft.com/office/drawing/2014/main" id="{A2222D62-BA67-0096-DB68-E36262C5CF9D}"/>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7" name="Freeform 69">
                <a:extLst>
                  <a:ext uri="{FF2B5EF4-FFF2-40B4-BE49-F238E27FC236}">
                    <a16:creationId xmlns:a16="http://schemas.microsoft.com/office/drawing/2014/main" id="{0EA3C9CB-64ED-287C-B55B-5C3451D55284}"/>
                  </a:ext>
                </a:extLst>
              </p:cNvPr>
              <p:cNvSpPr>
                <a:spLocks/>
              </p:cNvSpPr>
              <p:nvPr/>
            </p:nvSpPr>
            <p:spPr bwMode="auto">
              <a:xfrm>
                <a:off x="674" y="859"/>
                <a:ext cx="434" cy="41"/>
              </a:xfrm>
              <a:custGeom>
                <a:avLst/>
                <a:gdLst/>
                <a:ahLst/>
                <a:cxnLst>
                  <a:cxn ang="0">
                    <a:pos x="0" y="41"/>
                  </a:cxn>
                  <a:cxn ang="0">
                    <a:pos x="41" y="0"/>
                  </a:cxn>
                  <a:cxn ang="0">
                    <a:pos x="433" y="0"/>
                  </a:cxn>
                  <a:cxn ang="0">
                    <a:pos x="392" y="41"/>
                  </a:cxn>
                  <a:cxn ang="0">
                    <a:pos x="0" y="41"/>
                  </a:cxn>
                </a:cxnLst>
                <a:rect l="0" t="0" r="r" b="b"/>
                <a:pathLst>
                  <a:path w="433" h="41">
                    <a:moveTo>
                      <a:pt x="0" y="41"/>
                    </a:moveTo>
                    <a:lnTo>
                      <a:pt x="41" y="0"/>
                    </a:lnTo>
                    <a:lnTo>
                      <a:pt x="433" y="0"/>
                    </a:lnTo>
                    <a:lnTo>
                      <a:pt x="392" y="41"/>
                    </a:lnTo>
                    <a:lnTo>
                      <a:pt x="0" y="41"/>
                    </a:lnTo>
                    <a:close/>
                  </a:path>
                </a:pathLst>
              </a:custGeom>
              <a:solidFill>
                <a:srgbClr val="000000"/>
              </a:solidFill>
              <a:ln w="4763">
                <a:solidFill>
                  <a:srgbClr val="000000"/>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8" name="Freeform 70">
                <a:extLst>
                  <a:ext uri="{FF2B5EF4-FFF2-40B4-BE49-F238E27FC236}">
                    <a16:creationId xmlns:a16="http://schemas.microsoft.com/office/drawing/2014/main" id="{9521E0F8-ADFE-8674-5F85-CDAA0DE1F510}"/>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39" name="Freeform 71">
                <a:extLst>
                  <a:ext uri="{FF2B5EF4-FFF2-40B4-BE49-F238E27FC236}">
                    <a16:creationId xmlns:a16="http://schemas.microsoft.com/office/drawing/2014/main" id="{EA0262C3-6B57-C190-E5DC-CD6DDBDB5DA4}"/>
                  </a:ext>
                </a:extLst>
              </p:cNvPr>
              <p:cNvSpPr>
                <a:spLocks/>
              </p:cNvSpPr>
              <p:nvPr/>
            </p:nvSpPr>
            <p:spPr bwMode="auto">
              <a:xfrm>
                <a:off x="661" y="534"/>
                <a:ext cx="446" cy="41"/>
              </a:xfrm>
              <a:custGeom>
                <a:avLst/>
                <a:gdLst/>
                <a:ahLst/>
                <a:cxnLst>
                  <a:cxn ang="0">
                    <a:pos x="0" y="41"/>
                  </a:cxn>
                  <a:cxn ang="0">
                    <a:pos x="45" y="0"/>
                  </a:cxn>
                  <a:cxn ang="0">
                    <a:pos x="446" y="0"/>
                  </a:cxn>
                  <a:cxn ang="0">
                    <a:pos x="402" y="41"/>
                  </a:cxn>
                  <a:cxn ang="0">
                    <a:pos x="0" y="41"/>
                  </a:cxn>
                </a:cxnLst>
                <a:rect l="0" t="0" r="r" b="b"/>
                <a:pathLst>
                  <a:path w="446" h="41">
                    <a:moveTo>
                      <a:pt x="0" y="41"/>
                    </a:moveTo>
                    <a:lnTo>
                      <a:pt x="45" y="0"/>
                    </a:lnTo>
                    <a:lnTo>
                      <a:pt x="446" y="0"/>
                    </a:lnTo>
                    <a:lnTo>
                      <a:pt x="402" y="41"/>
                    </a:lnTo>
                    <a:lnTo>
                      <a:pt x="0" y="41"/>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0" name="Rectangle 72">
                <a:extLst>
                  <a:ext uri="{FF2B5EF4-FFF2-40B4-BE49-F238E27FC236}">
                    <a16:creationId xmlns:a16="http://schemas.microsoft.com/office/drawing/2014/main" id="{B44E42E9-D750-6FD7-DD05-2ADFD9012863}"/>
                  </a:ext>
                </a:extLst>
              </p:cNvPr>
              <p:cNvSpPr>
                <a:spLocks noChangeArrowheads="1"/>
              </p:cNvSpPr>
              <p:nvPr/>
            </p:nvSpPr>
            <p:spPr bwMode="auto">
              <a:xfrm>
                <a:off x="661" y="575"/>
                <a:ext cx="403" cy="318"/>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41" name="Rectangle 73">
                <a:extLst>
                  <a:ext uri="{FF2B5EF4-FFF2-40B4-BE49-F238E27FC236}">
                    <a16:creationId xmlns:a16="http://schemas.microsoft.com/office/drawing/2014/main" id="{83EDAF76-D497-E306-2998-2F779DE6808E}"/>
                  </a:ext>
                </a:extLst>
              </p:cNvPr>
              <p:cNvSpPr>
                <a:spLocks noChangeArrowheads="1"/>
              </p:cNvSpPr>
              <p:nvPr/>
            </p:nvSpPr>
            <p:spPr bwMode="auto">
              <a:xfrm>
                <a:off x="697" y="616"/>
                <a:ext cx="333" cy="243"/>
              </a:xfrm>
              <a:prstGeom prst="rect">
                <a:avLst/>
              </a:prstGeom>
              <a:solidFill>
                <a:srgbClr val="FFFFFF"/>
              </a:solidFill>
              <a:ln w="4763">
                <a:solidFill>
                  <a:srgbClr val="003C55"/>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42" name="Freeform 74">
                <a:extLst>
                  <a:ext uri="{FF2B5EF4-FFF2-40B4-BE49-F238E27FC236}">
                    <a16:creationId xmlns:a16="http://schemas.microsoft.com/office/drawing/2014/main" id="{03EDD701-C05E-9FA4-663B-EA2B054847CF}"/>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3" name="Freeform 75">
                <a:extLst>
                  <a:ext uri="{FF2B5EF4-FFF2-40B4-BE49-F238E27FC236}">
                    <a16:creationId xmlns:a16="http://schemas.microsoft.com/office/drawing/2014/main" id="{A7E2E8F5-9310-7407-0E04-C3AD6D9842B5}"/>
                  </a:ext>
                </a:extLst>
              </p:cNvPr>
              <p:cNvSpPr>
                <a:spLocks/>
              </p:cNvSpPr>
              <p:nvPr/>
            </p:nvSpPr>
            <p:spPr bwMode="auto">
              <a:xfrm>
                <a:off x="1063" y="534"/>
                <a:ext cx="44" cy="356"/>
              </a:xfrm>
              <a:custGeom>
                <a:avLst/>
                <a:gdLst/>
                <a:ahLst/>
                <a:cxnLst>
                  <a:cxn ang="0">
                    <a:pos x="0" y="356"/>
                  </a:cxn>
                  <a:cxn ang="0">
                    <a:pos x="44" y="312"/>
                  </a:cxn>
                  <a:cxn ang="0">
                    <a:pos x="44" y="0"/>
                  </a:cxn>
                  <a:cxn ang="0">
                    <a:pos x="0" y="41"/>
                  </a:cxn>
                  <a:cxn ang="0">
                    <a:pos x="0" y="356"/>
                  </a:cxn>
                </a:cxnLst>
                <a:rect l="0" t="0" r="r" b="b"/>
                <a:pathLst>
                  <a:path w="44" h="356">
                    <a:moveTo>
                      <a:pt x="0" y="356"/>
                    </a:moveTo>
                    <a:lnTo>
                      <a:pt x="44" y="312"/>
                    </a:lnTo>
                    <a:lnTo>
                      <a:pt x="44" y="0"/>
                    </a:lnTo>
                    <a:lnTo>
                      <a:pt x="0" y="41"/>
                    </a:lnTo>
                    <a:lnTo>
                      <a:pt x="0" y="356"/>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4" name="Freeform 76">
                <a:extLst>
                  <a:ext uri="{FF2B5EF4-FFF2-40B4-BE49-F238E27FC236}">
                    <a16:creationId xmlns:a16="http://schemas.microsoft.com/office/drawing/2014/main" id="{FEDFE333-738D-0607-E6C3-F43F538F176D}"/>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5" name="Freeform 77">
                <a:extLst>
                  <a:ext uri="{FF2B5EF4-FFF2-40B4-BE49-F238E27FC236}">
                    <a16:creationId xmlns:a16="http://schemas.microsoft.com/office/drawing/2014/main" id="{56906D64-EBDE-AA4B-C8D9-94A069D8B9F1}"/>
                  </a:ext>
                </a:extLst>
              </p:cNvPr>
              <p:cNvSpPr>
                <a:spLocks/>
              </p:cNvSpPr>
              <p:nvPr/>
            </p:nvSpPr>
            <p:spPr bwMode="auto">
              <a:xfrm>
                <a:off x="582" y="969"/>
                <a:ext cx="499" cy="79"/>
              </a:xfrm>
              <a:custGeom>
                <a:avLst/>
                <a:gdLst/>
                <a:ahLst/>
                <a:cxnLst>
                  <a:cxn ang="0">
                    <a:pos x="0" y="79"/>
                  </a:cxn>
                  <a:cxn ang="0">
                    <a:pos x="64" y="0"/>
                  </a:cxn>
                  <a:cxn ang="0">
                    <a:pos x="500" y="0"/>
                  </a:cxn>
                  <a:cxn ang="0">
                    <a:pos x="437" y="79"/>
                  </a:cxn>
                  <a:cxn ang="0">
                    <a:pos x="0" y="79"/>
                  </a:cxn>
                </a:cxnLst>
                <a:rect l="0" t="0" r="r" b="b"/>
                <a:pathLst>
                  <a:path w="500" h="79">
                    <a:moveTo>
                      <a:pt x="0" y="79"/>
                    </a:moveTo>
                    <a:lnTo>
                      <a:pt x="64" y="0"/>
                    </a:lnTo>
                    <a:lnTo>
                      <a:pt x="500" y="0"/>
                    </a:lnTo>
                    <a:lnTo>
                      <a:pt x="437" y="79"/>
                    </a:lnTo>
                    <a:lnTo>
                      <a:pt x="0" y="79"/>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6" name="Freeform 78">
                <a:extLst>
                  <a:ext uri="{FF2B5EF4-FFF2-40B4-BE49-F238E27FC236}">
                    <a16:creationId xmlns:a16="http://schemas.microsoft.com/office/drawing/2014/main" id="{153B1C99-F7D8-CB78-89DB-A5B307F4BD40}"/>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7" name="Freeform 79">
                <a:extLst>
                  <a:ext uri="{FF2B5EF4-FFF2-40B4-BE49-F238E27FC236}">
                    <a16:creationId xmlns:a16="http://schemas.microsoft.com/office/drawing/2014/main" id="{9F49AB28-3A44-53D6-4D9D-33BBF1356327}"/>
                  </a:ext>
                </a:extLst>
              </p:cNvPr>
              <p:cNvSpPr>
                <a:spLocks/>
              </p:cNvSpPr>
              <p:nvPr/>
            </p:nvSpPr>
            <p:spPr bwMode="auto">
              <a:xfrm>
                <a:off x="1019" y="969"/>
                <a:ext cx="63" cy="95"/>
              </a:xfrm>
              <a:custGeom>
                <a:avLst/>
                <a:gdLst/>
                <a:ahLst/>
                <a:cxnLst>
                  <a:cxn ang="0">
                    <a:pos x="0" y="95"/>
                  </a:cxn>
                  <a:cxn ang="0">
                    <a:pos x="63" y="29"/>
                  </a:cxn>
                  <a:cxn ang="0">
                    <a:pos x="63" y="0"/>
                  </a:cxn>
                  <a:cxn ang="0">
                    <a:pos x="0" y="79"/>
                  </a:cxn>
                  <a:cxn ang="0">
                    <a:pos x="0" y="95"/>
                  </a:cxn>
                </a:cxnLst>
                <a:rect l="0" t="0" r="r" b="b"/>
                <a:pathLst>
                  <a:path w="63" h="95">
                    <a:moveTo>
                      <a:pt x="0" y="95"/>
                    </a:moveTo>
                    <a:lnTo>
                      <a:pt x="63" y="29"/>
                    </a:lnTo>
                    <a:lnTo>
                      <a:pt x="63" y="0"/>
                    </a:lnTo>
                    <a:lnTo>
                      <a:pt x="0" y="79"/>
                    </a:lnTo>
                    <a:lnTo>
                      <a:pt x="0" y="95"/>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48" name="Rectangle 80">
                <a:extLst>
                  <a:ext uri="{FF2B5EF4-FFF2-40B4-BE49-F238E27FC236}">
                    <a16:creationId xmlns:a16="http://schemas.microsoft.com/office/drawing/2014/main" id="{FCB84E2E-DFA5-07BA-ECEA-F05E016392FE}"/>
                  </a:ext>
                </a:extLst>
              </p:cNvPr>
              <p:cNvSpPr>
                <a:spLocks noChangeArrowheads="1"/>
              </p:cNvSpPr>
              <p:nvPr/>
            </p:nvSpPr>
            <p:spPr bwMode="auto">
              <a:xfrm>
                <a:off x="582" y="1049"/>
                <a:ext cx="43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49" name="Rectangle 81">
                <a:extLst>
                  <a:ext uri="{FF2B5EF4-FFF2-40B4-BE49-F238E27FC236}">
                    <a16:creationId xmlns:a16="http://schemas.microsoft.com/office/drawing/2014/main" id="{338A175D-C18C-4A14-1C86-968112A44716}"/>
                  </a:ext>
                </a:extLst>
              </p:cNvPr>
              <p:cNvSpPr>
                <a:spLocks noChangeArrowheads="1"/>
              </p:cNvSpPr>
              <p:nvPr/>
            </p:nvSpPr>
            <p:spPr bwMode="auto">
              <a:xfrm>
                <a:off x="584" y="1049"/>
                <a:ext cx="434"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50" name="Freeform 82">
                <a:extLst>
                  <a:ext uri="{FF2B5EF4-FFF2-40B4-BE49-F238E27FC236}">
                    <a16:creationId xmlns:a16="http://schemas.microsoft.com/office/drawing/2014/main" id="{3008130C-C669-C54B-DD8C-A0C3ED4B819A}"/>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51" name="Freeform 83">
                <a:extLst>
                  <a:ext uri="{FF2B5EF4-FFF2-40B4-BE49-F238E27FC236}">
                    <a16:creationId xmlns:a16="http://schemas.microsoft.com/office/drawing/2014/main" id="{91A0D538-9811-42DE-1C2A-72734EDDF10A}"/>
                  </a:ext>
                </a:extLst>
              </p:cNvPr>
              <p:cNvSpPr>
                <a:spLocks/>
              </p:cNvSpPr>
              <p:nvPr/>
            </p:nvSpPr>
            <p:spPr bwMode="auto">
              <a:xfrm>
                <a:off x="1107" y="991"/>
                <a:ext cx="89" cy="47"/>
              </a:xfrm>
              <a:custGeom>
                <a:avLst/>
                <a:gdLst/>
                <a:ahLst/>
                <a:cxnLst>
                  <a:cxn ang="0">
                    <a:pos x="0" y="47"/>
                  </a:cxn>
                  <a:cxn ang="0">
                    <a:pos x="32" y="0"/>
                  </a:cxn>
                  <a:cxn ang="0">
                    <a:pos x="89" y="0"/>
                  </a:cxn>
                  <a:cxn ang="0">
                    <a:pos x="57" y="47"/>
                  </a:cxn>
                  <a:cxn ang="0">
                    <a:pos x="0" y="47"/>
                  </a:cxn>
                </a:cxnLst>
                <a:rect l="0" t="0" r="r" b="b"/>
                <a:pathLst>
                  <a:path w="89" h="47">
                    <a:moveTo>
                      <a:pt x="0" y="47"/>
                    </a:moveTo>
                    <a:lnTo>
                      <a:pt x="32" y="0"/>
                    </a:lnTo>
                    <a:lnTo>
                      <a:pt x="89" y="0"/>
                    </a:lnTo>
                    <a:lnTo>
                      <a:pt x="57" y="47"/>
                    </a:lnTo>
                    <a:lnTo>
                      <a:pt x="0" y="47"/>
                    </a:lnTo>
                    <a:close/>
                  </a:path>
                </a:pathLst>
              </a:custGeom>
              <a:solidFill>
                <a:srgbClr val="00B4FF"/>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52" name="Freeform 84">
                <a:extLst>
                  <a:ext uri="{FF2B5EF4-FFF2-40B4-BE49-F238E27FC236}">
                    <a16:creationId xmlns:a16="http://schemas.microsoft.com/office/drawing/2014/main" id="{E50CBD45-C786-3263-EC59-5CA3A7CEEBE5}"/>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9525">
                <a:noFill/>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53" name="Freeform 85">
                <a:extLst>
                  <a:ext uri="{FF2B5EF4-FFF2-40B4-BE49-F238E27FC236}">
                    <a16:creationId xmlns:a16="http://schemas.microsoft.com/office/drawing/2014/main" id="{B44FE8C2-BBD0-93C6-60A1-60AA02466647}"/>
                  </a:ext>
                </a:extLst>
              </p:cNvPr>
              <p:cNvSpPr>
                <a:spLocks/>
              </p:cNvSpPr>
              <p:nvPr/>
            </p:nvSpPr>
            <p:spPr bwMode="auto">
              <a:xfrm>
                <a:off x="1164" y="991"/>
                <a:ext cx="32" cy="63"/>
              </a:xfrm>
              <a:custGeom>
                <a:avLst/>
                <a:gdLst/>
                <a:ahLst/>
                <a:cxnLst>
                  <a:cxn ang="0">
                    <a:pos x="0" y="63"/>
                  </a:cxn>
                  <a:cxn ang="0">
                    <a:pos x="32" y="29"/>
                  </a:cxn>
                  <a:cxn ang="0">
                    <a:pos x="32" y="0"/>
                  </a:cxn>
                  <a:cxn ang="0">
                    <a:pos x="0" y="47"/>
                  </a:cxn>
                  <a:cxn ang="0">
                    <a:pos x="0" y="63"/>
                  </a:cxn>
                </a:cxnLst>
                <a:rect l="0" t="0" r="r" b="b"/>
                <a:pathLst>
                  <a:path w="32" h="63">
                    <a:moveTo>
                      <a:pt x="0" y="63"/>
                    </a:moveTo>
                    <a:lnTo>
                      <a:pt x="32" y="29"/>
                    </a:lnTo>
                    <a:lnTo>
                      <a:pt x="32" y="0"/>
                    </a:lnTo>
                    <a:lnTo>
                      <a:pt x="0" y="47"/>
                    </a:lnTo>
                    <a:lnTo>
                      <a:pt x="0" y="63"/>
                    </a:lnTo>
                    <a:close/>
                  </a:path>
                </a:pathLst>
              </a:custGeom>
              <a:solidFill>
                <a:srgbClr val="005A80"/>
              </a:solidFill>
              <a:ln w="4763">
                <a:solidFill>
                  <a:srgbClr val="AAE6FF"/>
                </a:solidFill>
                <a:prstDash val="solid"/>
                <a:round/>
                <a:headEnd/>
                <a:tailEnd/>
              </a:ln>
            </p:spPr>
            <p:txBody>
              <a:bodyPr/>
              <a:lstStyle/>
              <a:p>
                <a:pPr>
                  <a:defRPr/>
                </a:pPr>
                <a:endParaRPr lang="en-US">
                  <a:effectLst>
                    <a:outerShdw blurRad="38100" dist="38100" dir="2700000" algn="tl">
                      <a:srgbClr val="000000">
                        <a:alpha val="43137"/>
                      </a:srgbClr>
                    </a:outerShdw>
                  </a:effectLst>
                </a:endParaRPr>
              </a:p>
            </p:txBody>
          </p:sp>
          <p:sp>
            <p:nvSpPr>
              <p:cNvPr id="852054" name="Rectangle 86">
                <a:extLst>
                  <a:ext uri="{FF2B5EF4-FFF2-40B4-BE49-F238E27FC236}">
                    <a16:creationId xmlns:a16="http://schemas.microsoft.com/office/drawing/2014/main" id="{2D785149-3713-7EB2-69FD-95300F2A04B2}"/>
                  </a:ext>
                </a:extLst>
              </p:cNvPr>
              <p:cNvSpPr>
                <a:spLocks noChangeArrowheads="1"/>
              </p:cNvSpPr>
              <p:nvPr/>
            </p:nvSpPr>
            <p:spPr bwMode="auto">
              <a:xfrm>
                <a:off x="1107" y="1038"/>
                <a:ext cx="57" cy="15"/>
              </a:xfrm>
              <a:prstGeom prst="rect">
                <a:avLst/>
              </a:prstGeom>
              <a:solidFill>
                <a:srgbClr val="0096D5"/>
              </a:solidFill>
              <a:ln w="9525">
                <a:noFill/>
                <a:miter lim="800000"/>
                <a:headEnd/>
                <a:tailEnd/>
              </a:ln>
            </p:spPr>
            <p:txBody>
              <a:bodyPr/>
              <a:lstStyle/>
              <a:p>
                <a:pPr>
                  <a:defRPr/>
                </a:pPr>
                <a:endParaRPr lang="en-US">
                  <a:effectLst>
                    <a:outerShdw blurRad="38100" dist="38100" dir="2700000" algn="tl">
                      <a:srgbClr val="000000">
                        <a:alpha val="43137"/>
                      </a:srgbClr>
                    </a:outerShdw>
                  </a:effectLst>
                </a:endParaRPr>
              </a:p>
            </p:txBody>
          </p:sp>
          <p:sp>
            <p:nvSpPr>
              <p:cNvPr id="852055" name="Rectangle 87">
                <a:extLst>
                  <a:ext uri="{FF2B5EF4-FFF2-40B4-BE49-F238E27FC236}">
                    <a16:creationId xmlns:a16="http://schemas.microsoft.com/office/drawing/2014/main" id="{64C303EE-BFE2-3B7C-98D0-41D295BE56AC}"/>
                  </a:ext>
                </a:extLst>
              </p:cNvPr>
              <p:cNvSpPr>
                <a:spLocks noChangeArrowheads="1"/>
              </p:cNvSpPr>
              <p:nvPr/>
            </p:nvSpPr>
            <p:spPr bwMode="auto">
              <a:xfrm>
                <a:off x="1107" y="1040"/>
                <a:ext cx="55" cy="14"/>
              </a:xfrm>
              <a:prstGeom prst="rect">
                <a:avLst/>
              </a:prstGeom>
              <a:solidFill>
                <a:srgbClr val="0096D5"/>
              </a:solidFill>
              <a:ln w="4763">
                <a:solidFill>
                  <a:srgbClr val="AAE6FF"/>
                </a:solidFill>
                <a:miter lim="800000"/>
                <a:headEnd/>
                <a:tailEnd/>
              </a:ln>
            </p:spPr>
            <p:txBody>
              <a:bodyPr/>
              <a:lstStyle/>
              <a:p>
                <a:pPr>
                  <a:defRPr/>
                </a:pPr>
                <a:endParaRPr lang="en-US">
                  <a:effectLst>
                    <a:outerShdw blurRad="38100" dist="38100" dir="2700000" algn="tl">
                      <a:srgbClr val="000000">
                        <a:alpha val="43137"/>
                      </a:srgbClr>
                    </a:outerShdw>
                  </a:effectLst>
                </a:endParaRPr>
              </a:p>
            </p:txBody>
          </p:sp>
        </p:grpSp>
        <p:sp>
          <p:nvSpPr>
            <p:cNvPr id="65572" name="Text Box 88">
              <a:extLst>
                <a:ext uri="{FF2B5EF4-FFF2-40B4-BE49-F238E27FC236}">
                  <a16:creationId xmlns:a16="http://schemas.microsoft.com/office/drawing/2014/main" id="{E1D25322-64EF-6AD8-8DCE-8343E1D0CDEE}"/>
                </a:ext>
              </a:extLst>
            </p:cNvPr>
            <p:cNvSpPr txBox="1">
              <a:spLocks noChangeArrowheads="1"/>
            </p:cNvSpPr>
            <p:nvPr/>
          </p:nvSpPr>
          <p:spPr bwMode="auto">
            <a:xfrm>
              <a:off x="432" y="1536"/>
              <a:ext cx="74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i="1">
                  <a:latin typeface="Arial" panose="020B0604020202020204" pitchFamily="34" charset="0"/>
                </a:rPr>
                <a:t>From A</a:t>
              </a:r>
            </a:p>
          </p:txBody>
        </p:sp>
        <p:sp>
          <p:nvSpPr>
            <p:cNvPr id="852057" name="Line 89">
              <a:extLst>
                <a:ext uri="{FF2B5EF4-FFF2-40B4-BE49-F238E27FC236}">
                  <a16:creationId xmlns:a16="http://schemas.microsoft.com/office/drawing/2014/main" id="{9CEA72A0-D833-6EC4-5FEC-DDC331EE794E}"/>
                </a:ext>
              </a:extLst>
            </p:cNvPr>
            <p:cNvSpPr>
              <a:spLocks noChangeShapeType="1"/>
            </p:cNvSpPr>
            <p:nvPr/>
          </p:nvSpPr>
          <p:spPr bwMode="auto">
            <a:xfrm>
              <a:off x="672" y="1776"/>
              <a:ext cx="576" cy="240"/>
            </a:xfrm>
            <a:prstGeom prst="line">
              <a:avLst/>
            </a:prstGeom>
            <a:noFill/>
            <a:ln w="38100" cap="sq">
              <a:solidFill>
                <a:schemeClr val="tx1"/>
              </a:solidFill>
              <a:round/>
              <a:headEnd type="non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grpSp>
      <p:sp>
        <p:nvSpPr>
          <p:cNvPr id="65544" name="Rectangle 90">
            <a:extLst>
              <a:ext uri="{FF2B5EF4-FFF2-40B4-BE49-F238E27FC236}">
                <a16:creationId xmlns:a16="http://schemas.microsoft.com/office/drawing/2014/main" id="{BED009B2-8B79-46F2-3F06-018690081F2B}"/>
              </a:ext>
            </a:extLst>
          </p:cNvPr>
          <p:cNvSpPr>
            <a:spLocks noGrp="1" noChangeArrowheads="1"/>
          </p:cNvSpPr>
          <p:nvPr>
            <p:ph type="title" idx="4294967295"/>
          </p:nvPr>
        </p:nvSpPr>
        <p:spPr>
          <a:xfrm>
            <a:off x="1143000" y="0"/>
            <a:ext cx="7772400" cy="1143000"/>
          </a:xfrm>
        </p:spPr>
        <p:txBody>
          <a:bodyPr/>
          <a:lstStyle/>
          <a:p>
            <a:r>
              <a:rPr lang="en-US" altLang="en-US"/>
              <a:t>Inbound Processing</a:t>
            </a:r>
          </a:p>
        </p:txBody>
      </p:sp>
      <p:grpSp>
        <p:nvGrpSpPr>
          <p:cNvPr id="6" name="Group 91">
            <a:extLst>
              <a:ext uri="{FF2B5EF4-FFF2-40B4-BE49-F238E27FC236}">
                <a16:creationId xmlns:a16="http://schemas.microsoft.com/office/drawing/2014/main" id="{F78EBBF0-E124-C64E-6FD2-513B8C2508D8}"/>
              </a:ext>
            </a:extLst>
          </p:cNvPr>
          <p:cNvGrpSpPr>
            <a:grpSpLocks/>
          </p:cNvGrpSpPr>
          <p:nvPr/>
        </p:nvGrpSpPr>
        <p:grpSpPr bwMode="auto">
          <a:xfrm>
            <a:off x="5562600" y="3200400"/>
            <a:ext cx="1219200" cy="2825750"/>
            <a:chOff x="1872" y="1392"/>
            <a:chExt cx="768" cy="1780"/>
          </a:xfrm>
        </p:grpSpPr>
        <p:sp>
          <p:nvSpPr>
            <p:cNvPr id="65549" name="Rectangle 92">
              <a:extLst>
                <a:ext uri="{FF2B5EF4-FFF2-40B4-BE49-F238E27FC236}">
                  <a16:creationId xmlns:a16="http://schemas.microsoft.com/office/drawing/2014/main" id="{C8222D9E-6F31-940E-9816-FA5A529F7CB3}"/>
                </a:ext>
              </a:extLst>
            </p:cNvPr>
            <p:cNvSpPr>
              <a:spLocks noChangeArrowheads="1"/>
            </p:cNvSpPr>
            <p:nvPr/>
          </p:nvSpPr>
          <p:spPr bwMode="auto">
            <a:xfrm>
              <a:off x="1920" y="2939"/>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1800"/>
                <a:t>…</a:t>
              </a:r>
            </a:p>
          </p:txBody>
        </p:sp>
        <p:sp>
          <p:nvSpPr>
            <p:cNvPr id="65550" name="Rectangle 93">
              <a:extLst>
                <a:ext uri="{FF2B5EF4-FFF2-40B4-BE49-F238E27FC236}">
                  <a16:creationId xmlns:a16="http://schemas.microsoft.com/office/drawing/2014/main" id="{DECF4171-E84E-2049-5583-BA3E05D217E0}"/>
                </a:ext>
              </a:extLst>
            </p:cNvPr>
            <p:cNvSpPr>
              <a:spLocks noChangeArrowheads="1"/>
            </p:cNvSpPr>
            <p:nvPr/>
          </p:nvSpPr>
          <p:spPr bwMode="auto">
            <a:xfrm>
              <a:off x="1920" y="2707"/>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551" name="Rectangle 94">
              <a:extLst>
                <a:ext uri="{FF2B5EF4-FFF2-40B4-BE49-F238E27FC236}">
                  <a16:creationId xmlns:a16="http://schemas.microsoft.com/office/drawing/2014/main" id="{9B03496D-8AEB-CD40-16CE-8311756119F5}"/>
                </a:ext>
              </a:extLst>
            </p:cNvPr>
            <p:cNvSpPr>
              <a:spLocks noChangeArrowheads="1"/>
            </p:cNvSpPr>
            <p:nvPr/>
          </p:nvSpPr>
          <p:spPr bwMode="auto">
            <a:xfrm>
              <a:off x="1920" y="2474"/>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552" name="Rectangle 95">
              <a:extLst>
                <a:ext uri="{FF2B5EF4-FFF2-40B4-BE49-F238E27FC236}">
                  <a16:creationId xmlns:a16="http://schemas.microsoft.com/office/drawing/2014/main" id="{54980139-6C02-E9D1-0C5D-564B9C7B385A}"/>
                </a:ext>
              </a:extLst>
            </p:cNvPr>
            <p:cNvSpPr>
              <a:spLocks noChangeArrowheads="1"/>
            </p:cNvSpPr>
            <p:nvPr/>
          </p:nvSpPr>
          <p:spPr bwMode="auto">
            <a:xfrm>
              <a:off x="1920" y="2241"/>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553" name="Rectangle 96">
              <a:extLst>
                <a:ext uri="{FF2B5EF4-FFF2-40B4-BE49-F238E27FC236}">
                  <a16:creationId xmlns:a16="http://schemas.microsoft.com/office/drawing/2014/main" id="{D2F4F56F-A6BF-B98F-0161-AFD01110F4AC}"/>
                </a:ext>
              </a:extLst>
            </p:cNvPr>
            <p:cNvSpPr>
              <a:spLocks noChangeArrowheads="1"/>
            </p:cNvSpPr>
            <p:nvPr/>
          </p:nvSpPr>
          <p:spPr bwMode="auto">
            <a:xfrm>
              <a:off x="1920" y="2009"/>
              <a:ext cx="720"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65554" name="Rectangle 97">
              <a:extLst>
                <a:ext uri="{FF2B5EF4-FFF2-40B4-BE49-F238E27FC236}">
                  <a16:creationId xmlns:a16="http://schemas.microsoft.com/office/drawing/2014/main" id="{2B51F3CC-3851-9F01-575A-E03F353BF027}"/>
                </a:ext>
              </a:extLst>
            </p:cNvPr>
            <p:cNvSpPr>
              <a:spLocks noChangeArrowheads="1"/>
            </p:cNvSpPr>
            <p:nvPr/>
          </p:nvSpPr>
          <p:spPr bwMode="auto">
            <a:xfrm>
              <a:off x="1920" y="1776"/>
              <a:ext cx="72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endParaRPr lang="en-US" altLang="en-US" sz="1800"/>
            </a:p>
          </p:txBody>
        </p:sp>
        <p:sp>
          <p:nvSpPr>
            <p:cNvPr id="852066" name="Line 98">
              <a:extLst>
                <a:ext uri="{FF2B5EF4-FFF2-40B4-BE49-F238E27FC236}">
                  <a16:creationId xmlns:a16="http://schemas.microsoft.com/office/drawing/2014/main" id="{F8126E24-2AC7-7CEB-A2EB-CB4AD94957F7}"/>
                </a:ext>
              </a:extLst>
            </p:cNvPr>
            <p:cNvSpPr>
              <a:spLocks noChangeShapeType="1"/>
            </p:cNvSpPr>
            <p:nvPr/>
          </p:nvSpPr>
          <p:spPr bwMode="auto">
            <a:xfrm>
              <a:off x="1920" y="1776"/>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67" name="Line 99">
              <a:extLst>
                <a:ext uri="{FF2B5EF4-FFF2-40B4-BE49-F238E27FC236}">
                  <a16:creationId xmlns:a16="http://schemas.microsoft.com/office/drawing/2014/main" id="{9AA8A4AE-4F51-849C-0765-9CE8B6AAC42F}"/>
                </a:ext>
              </a:extLst>
            </p:cNvPr>
            <p:cNvSpPr>
              <a:spLocks noChangeShapeType="1"/>
            </p:cNvSpPr>
            <p:nvPr/>
          </p:nvSpPr>
          <p:spPr bwMode="auto">
            <a:xfrm>
              <a:off x="1920" y="2009"/>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68" name="Line 100">
              <a:extLst>
                <a:ext uri="{FF2B5EF4-FFF2-40B4-BE49-F238E27FC236}">
                  <a16:creationId xmlns:a16="http://schemas.microsoft.com/office/drawing/2014/main" id="{8FC9A5C4-08CA-9B27-EC5F-76FA8F0CDBA6}"/>
                </a:ext>
              </a:extLst>
            </p:cNvPr>
            <p:cNvSpPr>
              <a:spLocks noChangeShapeType="1"/>
            </p:cNvSpPr>
            <p:nvPr/>
          </p:nvSpPr>
          <p:spPr bwMode="auto">
            <a:xfrm>
              <a:off x="1920" y="2241"/>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69" name="Line 101">
              <a:extLst>
                <a:ext uri="{FF2B5EF4-FFF2-40B4-BE49-F238E27FC236}">
                  <a16:creationId xmlns:a16="http://schemas.microsoft.com/office/drawing/2014/main" id="{8183520D-EAA3-A44A-8345-E604916D3635}"/>
                </a:ext>
              </a:extLst>
            </p:cNvPr>
            <p:cNvSpPr>
              <a:spLocks noChangeShapeType="1"/>
            </p:cNvSpPr>
            <p:nvPr/>
          </p:nvSpPr>
          <p:spPr bwMode="auto">
            <a:xfrm>
              <a:off x="1920" y="2474"/>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70" name="Line 102">
              <a:extLst>
                <a:ext uri="{FF2B5EF4-FFF2-40B4-BE49-F238E27FC236}">
                  <a16:creationId xmlns:a16="http://schemas.microsoft.com/office/drawing/2014/main" id="{0EBD8F63-4687-3799-CD39-6DB4399B2D79}"/>
                </a:ext>
              </a:extLst>
            </p:cNvPr>
            <p:cNvSpPr>
              <a:spLocks noChangeShapeType="1"/>
            </p:cNvSpPr>
            <p:nvPr/>
          </p:nvSpPr>
          <p:spPr bwMode="auto">
            <a:xfrm>
              <a:off x="1920" y="2707"/>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71" name="Line 103">
              <a:extLst>
                <a:ext uri="{FF2B5EF4-FFF2-40B4-BE49-F238E27FC236}">
                  <a16:creationId xmlns:a16="http://schemas.microsoft.com/office/drawing/2014/main" id="{166462BD-30D3-2819-5986-0A39D8C9EE69}"/>
                </a:ext>
              </a:extLst>
            </p:cNvPr>
            <p:cNvSpPr>
              <a:spLocks noChangeShapeType="1"/>
            </p:cNvSpPr>
            <p:nvPr/>
          </p:nvSpPr>
          <p:spPr bwMode="auto">
            <a:xfrm>
              <a:off x="1920" y="2939"/>
              <a:ext cx="720" cy="0"/>
            </a:xfrm>
            <a:prstGeom prst="line">
              <a:avLst/>
            </a:prstGeom>
            <a:noFill/>
            <a:ln w="12700">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72" name="Line 104">
              <a:extLst>
                <a:ext uri="{FF2B5EF4-FFF2-40B4-BE49-F238E27FC236}">
                  <a16:creationId xmlns:a16="http://schemas.microsoft.com/office/drawing/2014/main" id="{976B8F81-F3EB-181B-120F-B7EEA0489DA9}"/>
                </a:ext>
              </a:extLst>
            </p:cNvPr>
            <p:cNvSpPr>
              <a:spLocks noChangeShapeType="1"/>
            </p:cNvSpPr>
            <p:nvPr/>
          </p:nvSpPr>
          <p:spPr bwMode="auto">
            <a:xfrm>
              <a:off x="1920" y="3172"/>
              <a:ext cx="720" cy="0"/>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73" name="Line 105">
              <a:extLst>
                <a:ext uri="{FF2B5EF4-FFF2-40B4-BE49-F238E27FC236}">
                  <a16:creationId xmlns:a16="http://schemas.microsoft.com/office/drawing/2014/main" id="{86E880C1-8AF2-A201-2487-8D6409ED588E}"/>
                </a:ext>
              </a:extLst>
            </p:cNvPr>
            <p:cNvSpPr>
              <a:spLocks noChangeShapeType="1"/>
            </p:cNvSpPr>
            <p:nvPr/>
          </p:nvSpPr>
          <p:spPr bwMode="auto">
            <a:xfrm>
              <a:off x="1920" y="1776"/>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852074" name="Line 106">
              <a:extLst>
                <a:ext uri="{FF2B5EF4-FFF2-40B4-BE49-F238E27FC236}">
                  <a16:creationId xmlns:a16="http://schemas.microsoft.com/office/drawing/2014/main" id="{E294185D-BCCE-D56A-6E78-2ACEC66C3ACA}"/>
                </a:ext>
              </a:extLst>
            </p:cNvPr>
            <p:cNvSpPr>
              <a:spLocks noChangeShapeType="1"/>
            </p:cNvSpPr>
            <p:nvPr/>
          </p:nvSpPr>
          <p:spPr bwMode="auto">
            <a:xfrm>
              <a:off x="2640" y="1776"/>
              <a:ext cx="0" cy="1396"/>
            </a:xfrm>
            <a:prstGeom prst="line">
              <a:avLst/>
            </a:prstGeom>
            <a:noFill/>
            <a:ln w="28575" cap="sq">
              <a:solidFill>
                <a:schemeClr val="tx1"/>
              </a:solidFill>
              <a:round/>
              <a:headEnd/>
              <a:tailEnd/>
            </a:ln>
            <a:effectLst/>
          </p:spPr>
          <p:txBody>
            <a:bodyPr/>
            <a:lstStyle/>
            <a:p>
              <a:pPr>
                <a:defRPr/>
              </a:pPr>
              <a:endParaRPr lang="en-US">
                <a:effectLst>
                  <a:outerShdw blurRad="38100" dist="38100" dir="2700000" algn="tl">
                    <a:srgbClr val="000000">
                      <a:alpha val="43137"/>
                    </a:srgbClr>
                  </a:outerShdw>
                </a:effectLst>
              </a:endParaRPr>
            </a:p>
          </p:txBody>
        </p:sp>
        <p:sp>
          <p:nvSpPr>
            <p:cNvPr id="65564" name="Text Box 107">
              <a:extLst>
                <a:ext uri="{FF2B5EF4-FFF2-40B4-BE49-F238E27FC236}">
                  <a16:creationId xmlns:a16="http://schemas.microsoft.com/office/drawing/2014/main" id="{2750888E-D6D0-71C8-435B-3830F6E0CAAF}"/>
                </a:ext>
              </a:extLst>
            </p:cNvPr>
            <p:cNvSpPr txBox="1">
              <a:spLocks noChangeArrowheads="1"/>
            </p:cNvSpPr>
            <p:nvPr/>
          </p:nvSpPr>
          <p:spPr bwMode="auto">
            <a:xfrm>
              <a:off x="1872" y="1392"/>
              <a:ext cx="76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a:latin typeface="Arial" panose="020B0604020202020204" pitchFamily="34" charset="0"/>
                </a:rPr>
                <a:t>SPD</a:t>
              </a:r>
              <a:br>
                <a:rPr lang="en-US" altLang="en-US" sz="1800">
                  <a:latin typeface="Arial" panose="020B0604020202020204" pitchFamily="34" charset="0"/>
                </a:rPr>
              </a:br>
              <a:r>
                <a:rPr lang="en-US" altLang="en-US" sz="1800">
                  <a:latin typeface="Arial" panose="020B0604020202020204" pitchFamily="34" charset="0"/>
                </a:rPr>
                <a:t>(Policy)</a:t>
              </a:r>
            </a:p>
          </p:txBody>
        </p:sp>
      </p:grpSp>
      <p:sp>
        <p:nvSpPr>
          <p:cNvPr id="852076" name="Text Box 108">
            <a:extLst>
              <a:ext uri="{FF2B5EF4-FFF2-40B4-BE49-F238E27FC236}">
                <a16:creationId xmlns:a16="http://schemas.microsoft.com/office/drawing/2014/main" id="{1CAD58DD-ACED-E497-7898-F23402C1FC51}"/>
              </a:ext>
            </a:extLst>
          </p:cNvPr>
          <p:cNvSpPr txBox="1">
            <a:spLocks noChangeArrowheads="1"/>
          </p:cNvSpPr>
          <p:nvPr/>
        </p:nvSpPr>
        <p:spPr bwMode="auto">
          <a:xfrm>
            <a:off x="6813550" y="3960813"/>
            <a:ext cx="23304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i="1">
                <a:latin typeface="Arial" panose="020B0604020202020204" pitchFamily="34" charset="0"/>
              </a:rPr>
              <a:t>Was packet properly </a:t>
            </a:r>
          </a:p>
          <a:p>
            <a:pPr eaLnBrk="1" hangingPunct="1">
              <a:spcBef>
                <a:spcPct val="0"/>
              </a:spcBef>
              <a:buClrTx/>
              <a:buSzTx/>
              <a:buFontTx/>
              <a:buNone/>
            </a:pPr>
            <a:r>
              <a:rPr lang="en-US" altLang="en-US" sz="1800" i="1">
                <a:latin typeface="Arial" panose="020B0604020202020204" pitchFamily="34" charset="0"/>
              </a:rPr>
              <a:t>secured?</a:t>
            </a:r>
          </a:p>
          <a:p>
            <a:pPr eaLnBrk="1" hangingPunct="1">
              <a:spcBef>
                <a:spcPct val="0"/>
              </a:spcBef>
              <a:buClrTx/>
              <a:buSzTx/>
              <a:buFontTx/>
              <a:buNone/>
            </a:pPr>
            <a:endParaRPr lang="en-US" altLang="en-US" sz="1800" i="1">
              <a:latin typeface="Arial" panose="020B0604020202020204" pitchFamily="34" charset="0"/>
            </a:endParaRPr>
          </a:p>
        </p:txBody>
      </p:sp>
      <p:sp>
        <p:nvSpPr>
          <p:cNvPr id="852077" name="Line 109">
            <a:extLst>
              <a:ext uri="{FF2B5EF4-FFF2-40B4-BE49-F238E27FC236}">
                <a16:creationId xmlns:a16="http://schemas.microsoft.com/office/drawing/2014/main" id="{BE56C5C1-1204-EC90-C2C3-D3B497A45C2D}"/>
              </a:ext>
            </a:extLst>
          </p:cNvPr>
          <p:cNvSpPr>
            <a:spLocks noChangeShapeType="1"/>
          </p:cNvSpPr>
          <p:nvPr/>
        </p:nvSpPr>
        <p:spPr bwMode="auto">
          <a:xfrm>
            <a:off x="6781800" y="4419600"/>
            <a:ext cx="609600" cy="609600"/>
          </a:xfrm>
          <a:prstGeom prst="line">
            <a:avLst/>
          </a:prstGeom>
          <a:noFill/>
          <a:ln w="38100">
            <a:solidFill>
              <a:schemeClr val="tx1"/>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52078" name="Text Box 110">
            <a:extLst>
              <a:ext uri="{FF2B5EF4-FFF2-40B4-BE49-F238E27FC236}">
                <a16:creationId xmlns:a16="http://schemas.microsoft.com/office/drawing/2014/main" id="{42660D8B-39C4-F47F-19D1-99F4BBAA9612}"/>
              </a:ext>
            </a:extLst>
          </p:cNvPr>
          <p:cNvSpPr txBox="1">
            <a:spLocks noChangeArrowheads="1"/>
          </p:cNvSpPr>
          <p:nvPr/>
        </p:nvSpPr>
        <p:spPr bwMode="auto">
          <a:xfrm>
            <a:off x="4191000" y="5683250"/>
            <a:ext cx="1600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i="1">
                <a:latin typeface="Arial" panose="020B0604020202020204" pitchFamily="34" charset="0"/>
              </a:rPr>
              <a:t>“un-process”</a:t>
            </a:r>
          </a:p>
          <a:p>
            <a:pPr eaLnBrk="1" hangingPunct="1">
              <a:spcBef>
                <a:spcPct val="0"/>
              </a:spcBef>
              <a:buClrTx/>
              <a:buSzTx/>
              <a:buFontTx/>
              <a:buNone/>
            </a:pPr>
            <a:endParaRPr lang="en-US" altLang="en-US" sz="1800" i="1">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1970"/>
                                        </p:tgtEl>
                                        <p:attrNameLst>
                                          <p:attrName>style.visibility</p:attrName>
                                        </p:attrNameLst>
                                      </p:cBhvr>
                                      <p:to>
                                        <p:strVal val="visible"/>
                                      </p:to>
                                    </p:set>
                                    <p:animEffect transition="in" filter="wipe(left)">
                                      <p:cBhvr>
                                        <p:cTn id="7" dur="500"/>
                                        <p:tgtEl>
                                          <p:spTgt spid="851970"/>
                                        </p:tgtEl>
                                      </p:cBhvr>
                                    </p:animEffect>
                                  </p:childTnLst>
                                </p:cTn>
                              </p:par>
                            </p:childTnLst>
                          </p:cTn>
                        </p:par>
                        <p:par>
                          <p:cTn id="8" fill="hold" nodeType="afterGroup">
                            <p:stCondLst>
                              <p:cond delay="500"/>
                            </p:stCondLst>
                            <p:childTnLst>
                              <p:par>
                                <p:cTn id="9" presetID="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1+#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1000"/>
                            </p:stCondLst>
                            <p:childTnLst>
                              <p:par>
                                <p:cTn id="14" presetID="2" presetClass="entr" presetSubtype="2"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1+#ppt_w/2"/>
                                          </p:val>
                                        </p:tav>
                                        <p:tav tm="100000">
                                          <p:val>
                                            <p:strVal val="#ppt_x"/>
                                          </p:val>
                                        </p:tav>
                                      </p:tavLst>
                                    </p:anim>
                                    <p:anim calcmode="lin" valueType="num">
                                      <p:cBhvr additive="base">
                                        <p:cTn id="17"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851971"/>
                                        </p:tgtEl>
                                        <p:attrNameLst>
                                          <p:attrName>style.visibility</p:attrName>
                                        </p:attrNameLst>
                                      </p:cBhvr>
                                      <p:to>
                                        <p:strVal val="visible"/>
                                      </p:to>
                                    </p:set>
                                    <p:anim calcmode="lin" valueType="num">
                                      <p:cBhvr additive="base">
                                        <p:cTn id="22" dur="500" fill="hold"/>
                                        <p:tgtEl>
                                          <p:spTgt spid="851971"/>
                                        </p:tgtEl>
                                        <p:attrNameLst>
                                          <p:attrName>ppt_x</p:attrName>
                                        </p:attrNameLst>
                                      </p:cBhvr>
                                      <p:tavLst>
                                        <p:tav tm="0">
                                          <p:val>
                                            <p:strVal val="0-#ppt_w/2"/>
                                          </p:val>
                                        </p:tav>
                                        <p:tav tm="100000">
                                          <p:val>
                                            <p:strVal val="#ppt_x"/>
                                          </p:val>
                                        </p:tav>
                                      </p:tavLst>
                                    </p:anim>
                                    <p:anim calcmode="lin" valueType="num">
                                      <p:cBhvr additive="base">
                                        <p:cTn id="23" dur="500" fill="hold"/>
                                        <p:tgtEl>
                                          <p:spTgt spid="851971"/>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851989"/>
                                        </p:tgtEl>
                                        <p:attrNameLst>
                                          <p:attrName>style.visibility</p:attrName>
                                        </p:attrNameLst>
                                      </p:cBhvr>
                                      <p:to>
                                        <p:strVal val="visible"/>
                                      </p:to>
                                    </p:set>
                                    <p:animEffect transition="in" filter="wipe(left)">
                                      <p:cBhvr>
                                        <p:cTn id="28" dur="500"/>
                                        <p:tgtEl>
                                          <p:spTgt spid="851989"/>
                                        </p:tgtEl>
                                      </p:cBhvr>
                                    </p:animEffect>
                                  </p:childTnLst>
                                </p:cTn>
                              </p:par>
                            </p:childTnLst>
                          </p:cTn>
                        </p:par>
                        <p:par>
                          <p:cTn id="29" fill="hold" nodeType="afterGroup">
                            <p:stCondLst>
                              <p:cond delay="500"/>
                            </p:stCondLst>
                            <p:childTnLst>
                              <p:par>
                                <p:cTn id="30" presetID="2" presetClass="entr" presetSubtype="8" fill="hold" grpId="0" nodeType="afterEffect">
                                  <p:stCondLst>
                                    <p:cond delay="0"/>
                                  </p:stCondLst>
                                  <p:childTnLst>
                                    <p:set>
                                      <p:cBhvr>
                                        <p:cTn id="31" dur="1" fill="hold">
                                          <p:stCondLst>
                                            <p:cond delay="0"/>
                                          </p:stCondLst>
                                        </p:cTn>
                                        <p:tgtEl>
                                          <p:spTgt spid="852078"/>
                                        </p:tgtEl>
                                        <p:attrNameLst>
                                          <p:attrName>style.visibility</p:attrName>
                                        </p:attrNameLst>
                                      </p:cBhvr>
                                      <p:to>
                                        <p:strVal val="visible"/>
                                      </p:to>
                                    </p:set>
                                    <p:anim calcmode="lin" valueType="num">
                                      <p:cBhvr additive="base">
                                        <p:cTn id="32" dur="500" fill="hold"/>
                                        <p:tgtEl>
                                          <p:spTgt spid="852078"/>
                                        </p:tgtEl>
                                        <p:attrNameLst>
                                          <p:attrName>ppt_x</p:attrName>
                                        </p:attrNameLst>
                                      </p:cBhvr>
                                      <p:tavLst>
                                        <p:tav tm="0">
                                          <p:val>
                                            <p:strVal val="0-#ppt_w/2"/>
                                          </p:val>
                                        </p:tav>
                                        <p:tav tm="100000">
                                          <p:val>
                                            <p:strVal val="#ppt_x"/>
                                          </p:val>
                                        </p:tav>
                                      </p:tavLst>
                                    </p:anim>
                                    <p:anim calcmode="lin" valueType="num">
                                      <p:cBhvr additive="base">
                                        <p:cTn id="33" dur="500" fill="hold"/>
                                        <p:tgtEl>
                                          <p:spTgt spid="852078"/>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852077"/>
                                        </p:tgtEl>
                                        <p:attrNameLst>
                                          <p:attrName>style.visibility</p:attrName>
                                        </p:attrNameLst>
                                      </p:cBhvr>
                                      <p:to>
                                        <p:strVal val="visible"/>
                                      </p:to>
                                    </p:set>
                                    <p:animEffect transition="in" filter="wipe(left)">
                                      <p:cBhvr>
                                        <p:cTn id="38" dur="500"/>
                                        <p:tgtEl>
                                          <p:spTgt spid="852077"/>
                                        </p:tgtEl>
                                      </p:cBhvr>
                                    </p:animEffect>
                                  </p:childTnLst>
                                </p:cTn>
                              </p:par>
                            </p:childTnLst>
                          </p:cTn>
                        </p:par>
                        <p:par>
                          <p:cTn id="39" fill="hold" nodeType="afterGroup">
                            <p:stCondLst>
                              <p:cond delay="500"/>
                            </p:stCondLst>
                            <p:childTnLst>
                              <p:par>
                                <p:cTn id="40" presetID="2" presetClass="entr" presetSubtype="8" fill="hold" grpId="0" nodeType="afterEffect">
                                  <p:stCondLst>
                                    <p:cond delay="0"/>
                                  </p:stCondLst>
                                  <p:childTnLst>
                                    <p:set>
                                      <p:cBhvr>
                                        <p:cTn id="41" dur="1" fill="hold">
                                          <p:stCondLst>
                                            <p:cond delay="0"/>
                                          </p:stCondLst>
                                        </p:cTn>
                                        <p:tgtEl>
                                          <p:spTgt spid="852076"/>
                                        </p:tgtEl>
                                        <p:attrNameLst>
                                          <p:attrName>style.visibility</p:attrName>
                                        </p:attrNameLst>
                                      </p:cBhvr>
                                      <p:to>
                                        <p:strVal val="visible"/>
                                      </p:to>
                                    </p:set>
                                    <p:anim calcmode="lin" valueType="num">
                                      <p:cBhvr additive="base">
                                        <p:cTn id="42" dur="500" fill="hold"/>
                                        <p:tgtEl>
                                          <p:spTgt spid="852076"/>
                                        </p:tgtEl>
                                        <p:attrNameLst>
                                          <p:attrName>ppt_x</p:attrName>
                                        </p:attrNameLst>
                                      </p:cBhvr>
                                      <p:tavLst>
                                        <p:tav tm="0">
                                          <p:val>
                                            <p:strVal val="0-#ppt_w/2"/>
                                          </p:val>
                                        </p:tav>
                                        <p:tav tm="100000">
                                          <p:val>
                                            <p:strVal val="#ppt_x"/>
                                          </p:val>
                                        </p:tav>
                                      </p:tavLst>
                                    </p:anim>
                                    <p:anim calcmode="lin" valueType="num">
                                      <p:cBhvr additive="base">
                                        <p:cTn id="43" dur="500" fill="hold"/>
                                        <p:tgtEl>
                                          <p:spTgt spid="852076"/>
                                        </p:tgtEl>
                                        <p:attrNameLst>
                                          <p:attrName>ppt_y</p:attrName>
                                        </p:attrNameLst>
                                      </p:cBhvr>
                                      <p:tavLst>
                                        <p:tav tm="0">
                                          <p:val>
                                            <p:strVal val="#ppt_y"/>
                                          </p:val>
                                        </p:tav>
                                        <p:tav tm="100000">
                                          <p:val>
                                            <p:strVal val="#ppt_y"/>
                                          </p:val>
                                        </p:tav>
                                      </p:tavLst>
                                    </p:anim>
                                  </p:childTnLst>
                                </p:cTn>
                              </p:par>
                            </p:childTnLst>
                          </p:cTn>
                        </p:par>
                        <p:par>
                          <p:cTn id="44" fill="hold" nodeType="afterGroup">
                            <p:stCondLst>
                              <p:cond delay="1000"/>
                            </p:stCondLst>
                            <p:childTnLst>
                              <p:par>
                                <p:cTn id="45" presetID="2" presetClass="entr" presetSubtype="6" fill="hold" grpId="0" nodeType="afterEffect">
                                  <p:stCondLst>
                                    <p:cond delay="0"/>
                                  </p:stCondLst>
                                  <p:childTnLst>
                                    <p:set>
                                      <p:cBhvr>
                                        <p:cTn id="46" dur="1" fill="hold">
                                          <p:stCondLst>
                                            <p:cond delay="0"/>
                                          </p:stCondLst>
                                        </p:cTn>
                                        <p:tgtEl>
                                          <p:spTgt spid="851990"/>
                                        </p:tgtEl>
                                        <p:attrNameLst>
                                          <p:attrName>style.visibility</p:attrName>
                                        </p:attrNameLst>
                                      </p:cBhvr>
                                      <p:to>
                                        <p:strVal val="visible"/>
                                      </p:to>
                                    </p:set>
                                    <p:anim calcmode="lin" valueType="num">
                                      <p:cBhvr additive="base">
                                        <p:cTn id="47" dur="500" fill="hold"/>
                                        <p:tgtEl>
                                          <p:spTgt spid="851990"/>
                                        </p:tgtEl>
                                        <p:attrNameLst>
                                          <p:attrName>ppt_x</p:attrName>
                                        </p:attrNameLst>
                                      </p:cBhvr>
                                      <p:tavLst>
                                        <p:tav tm="0">
                                          <p:val>
                                            <p:strVal val="1+#ppt_w/2"/>
                                          </p:val>
                                        </p:tav>
                                        <p:tav tm="100000">
                                          <p:val>
                                            <p:strVal val="#ppt_x"/>
                                          </p:val>
                                        </p:tav>
                                      </p:tavLst>
                                    </p:anim>
                                    <p:anim calcmode="lin" valueType="num">
                                      <p:cBhvr additive="base">
                                        <p:cTn id="48" dur="500" fill="hold"/>
                                        <p:tgtEl>
                                          <p:spTgt spid="8519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1" grpId="0" autoUpdateAnimBg="0"/>
      <p:bldP spid="851990" grpId="0" animBg="1" autoUpdateAnimBg="0"/>
      <p:bldP spid="852076" grpId="0" autoUpdateAnimBg="0"/>
      <p:bldP spid="85207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143F3963-ECB7-4616-2538-B77083AFF45C}"/>
              </a:ext>
            </a:extLst>
          </p:cNvPr>
          <p:cNvSpPr>
            <a:spLocks noGrp="1" noChangeArrowheads="1"/>
          </p:cNvSpPr>
          <p:nvPr>
            <p:ph type="title"/>
          </p:nvPr>
        </p:nvSpPr>
        <p:spPr>
          <a:xfrm>
            <a:off x="1096963" y="258763"/>
            <a:ext cx="7772400" cy="1143000"/>
          </a:xfrm>
        </p:spPr>
        <p:txBody>
          <a:bodyPr/>
          <a:lstStyle/>
          <a:p>
            <a:r>
              <a:rPr lang="en-US" altLang="en-US"/>
              <a:t>Architecture &amp; Concepts</a:t>
            </a:r>
          </a:p>
        </p:txBody>
      </p:sp>
      <p:sp>
        <p:nvSpPr>
          <p:cNvPr id="919555" name="Rectangle 3">
            <a:extLst>
              <a:ext uri="{FF2B5EF4-FFF2-40B4-BE49-F238E27FC236}">
                <a16:creationId xmlns:a16="http://schemas.microsoft.com/office/drawing/2014/main" id="{54E316B8-48FA-56B1-5E92-A337957D9DB8}"/>
              </a:ext>
            </a:extLst>
          </p:cNvPr>
          <p:cNvSpPr>
            <a:spLocks noGrp="1" noChangeArrowheads="1"/>
          </p:cNvSpPr>
          <p:nvPr>
            <p:ph type="body" idx="1"/>
          </p:nvPr>
        </p:nvSpPr>
        <p:spPr>
          <a:xfrm>
            <a:off x="773113" y="1447800"/>
            <a:ext cx="7831137" cy="5068888"/>
          </a:xfrm>
        </p:spPr>
        <p:txBody>
          <a:bodyPr/>
          <a:lstStyle/>
          <a:p>
            <a:pPr>
              <a:defRPr/>
            </a:pPr>
            <a:r>
              <a:rPr lang="en-US" dirty="0"/>
              <a:t>Tunnel vs. Transport mode</a:t>
            </a:r>
          </a:p>
          <a:p>
            <a:pPr>
              <a:defRPr/>
            </a:pPr>
            <a:r>
              <a:rPr lang="en-US" dirty="0"/>
              <a:t>Security association (SA)</a:t>
            </a:r>
          </a:p>
          <a:p>
            <a:pPr lvl="1">
              <a:defRPr/>
            </a:pPr>
            <a:r>
              <a:rPr lang="en-US" dirty="0"/>
              <a:t>Security parameter index (SPI)</a:t>
            </a:r>
          </a:p>
          <a:p>
            <a:pPr lvl="1">
              <a:defRPr/>
            </a:pPr>
            <a:r>
              <a:rPr lang="en-US" dirty="0"/>
              <a:t>Security policy database (SPD)</a:t>
            </a:r>
          </a:p>
          <a:p>
            <a:pPr lvl="1">
              <a:defRPr/>
            </a:pPr>
            <a:r>
              <a:rPr lang="en-US" dirty="0"/>
              <a:t>SA database (SAD)</a:t>
            </a:r>
          </a:p>
          <a:p>
            <a:pPr>
              <a:defRPr/>
            </a:pPr>
            <a:r>
              <a:rPr lang="en-US" dirty="0">
                <a:solidFill>
                  <a:srgbClr val="FF0066"/>
                </a:solidFill>
              </a:rPr>
              <a:t>Authentication header (AH)</a:t>
            </a:r>
          </a:p>
          <a:p>
            <a:pPr>
              <a:defRPr/>
            </a:pPr>
            <a:r>
              <a:rPr lang="en-US" dirty="0"/>
              <a:t>Encapsulating security payload (ESP)</a:t>
            </a:r>
          </a:p>
          <a:p>
            <a:pPr>
              <a:defRPr/>
            </a:pPr>
            <a:r>
              <a:rPr lang="en-US" dirty="0"/>
              <a:t>Practical Issues w/ NAT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7EC5873F-9BF6-F9A9-6D65-16A513C7AAA6}"/>
              </a:ext>
            </a:extLst>
          </p:cNvPr>
          <p:cNvSpPr>
            <a:spLocks noGrp="1" noChangeArrowheads="1"/>
          </p:cNvSpPr>
          <p:nvPr>
            <p:ph type="title"/>
          </p:nvPr>
        </p:nvSpPr>
        <p:spPr>
          <a:xfrm>
            <a:off x="1143000" y="509588"/>
            <a:ext cx="7772400" cy="1143000"/>
          </a:xfrm>
        </p:spPr>
        <p:txBody>
          <a:bodyPr/>
          <a:lstStyle/>
          <a:p>
            <a:r>
              <a:rPr lang="en-US" altLang="en-US"/>
              <a:t>Authenticated Header</a:t>
            </a:r>
          </a:p>
        </p:txBody>
      </p:sp>
      <p:sp>
        <p:nvSpPr>
          <p:cNvPr id="852995" name="Rectangle 3">
            <a:extLst>
              <a:ext uri="{FF2B5EF4-FFF2-40B4-BE49-F238E27FC236}">
                <a16:creationId xmlns:a16="http://schemas.microsoft.com/office/drawing/2014/main" id="{E49B6BCB-8701-9C51-E0A0-5643985726B9}"/>
              </a:ext>
            </a:extLst>
          </p:cNvPr>
          <p:cNvSpPr>
            <a:spLocks noGrp="1" noChangeArrowheads="1"/>
          </p:cNvSpPr>
          <p:nvPr>
            <p:ph type="body" idx="1"/>
          </p:nvPr>
        </p:nvSpPr>
        <p:spPr>
          <a:xfrm>
            <a:off x="203200" y="1524000"/>
            <a:ext cx="8940800" cy="5176838"/>
          </a:xfrm>
        </p:spPr>
        <p:txBody>
          <a:bodyPr/>
          <a:lstStyle/>
          <a:p>
            <a:pPr>
              <a:defRPr/>
            </a:pPr>
            <a:r>
              <a:rPr lang="en-US" dirty="0"/>
              <a:t>Data integrity</a:t>
            </a:r>
          </a:p>
          <a:p>
            <a:pPr lvl="1">
              <a:defRPr/>
            </a:pPr>
            <a:r>
              <a:rPr lang="en-US" dirty="0"/>
              <a:t>Entire packet has not been tampered with</a:t>
            </a:r>
          </a:p>
          <a:p>
            <a:pPr>
              <a:defRPr/>
            </a:pPr>
            <a:r>
              <a:rPr lang="en-US" dirty="0"/>
              <a:t>Authentication</a:t>
            </a:r>
          </a:p>
          <a:p>
            <a:pPr lvl="1">
              <a:defRPr/>
            </a:pPr>
            <a:r>
              <a:rPr lang="en-US" dirty="0"/>
              <a:t>Can “trust” IP address source</a:t>
            </a:r>
          </a:p>
          <a:p>
            <a:pPr>
              <a:defRPr/>
            </a:pPr>
            <a:r>
              <a:rPr lang="en-US" dirty="0"/>
              <a:t>Anti-replay feature</a:t>
            </a:r>
          </a:p>
          <a:p>
            <a:pPr>
              <a:defRPr/>
            </a:pPr>
            <a:r>
              <a:rPr lang="en-US" dirty="0"/>
              <a:t>Integrity check value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AutoShape 2">
            <a:extLst>
              <a:ext uri="{FF2B5EF4-FFF2-40B4-BE49-F238E27FC236}">
                <a16:creationId xmlns:a16="http://schemas.microsoft.com/office/drawing/2014/main" id="{EFFCC3D7-0DBC-180C-E6D0-0B3D2F845E62}"/>
              </a:ext>
            </a:extLst>
          </p:cNvPr>
          <p:cNvSpPr>
            <a:spLocks noChangeArrowheads="1"/>
          </p:cNvSpPr>
          <p:nvPr/>
        </p:nvSpPr>
        <p:spPr bwMode="auto">
          <a:xfrm>
            <a:off x="2971800" y="2667000"/>
            <a:ext cx="6019800" cy="3886200"/>
          </a:xfrm>
          <a:prstGeom prst="cube">
            <a:avLst>
              <a:gd name="adj" fmla="val 6866"/>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55043" name="Line 3">
            <a:extLst>
              <a:ext uri="{FF2B5EF4-FFF2-40B4-BE49-F238E27FC236}">
                <a16:creationId xmlns:a16="http://schemas.microsoft.com/office/drawing/2014/main" id="{8C3C63BD-9563-96F7-57B9-A233476C4F07}"/>
              </a:ext>
            </a:extLst>
          </p:cNvPr>
          <p:cNvSpPr>
            <a:spLocks noChangeShapeType="1"/>
          </p:cNvSpPr>
          <p:nvPr/>
        </p:nvSpPr>
        <p:spPr bwMode="auto">
          <a:xfrm>
            <a:off x="2133600" y="3581400"/>
            <a:ext cx="838200" cy="228600"/>
          </a:xfrm>
          <a:prstGeom prst="line">
            <a:avLst/>
          </a:prstGeom>
          <a:noFill/>
          <a:ln w="50800" cap="sq">
            <a:solidFill>
              <a:schemeClr val="tx1"/>
            </a:solidFill>
            <a:round/>
            <a:headEnd type="none" w="sm" len="sm"/>
            <a:tailEnd type="stealth" w="lg" len="med"/>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44" name="Line 4">
            <a:extLst>
              <a:ext uri="{FF2B5EF4-FFF2-40B4-BE49-F238E27FC236}">
                <a16:creationId xmlns:a16="http://schemas.microsoft.com/office/drawing/2014/main" id="{1B7146B9-FA8B-2E30-C2DB-3E8EA8C65E4E}"/>
              </a:ext>
            </a:extLst>
          </p:cNvPr>
          <p:cNvSpPr>
            <a:spLocks noChangeShapeType="1"/>
          </p:cNvSpPr>
          <p:nvPr/>
        </p:nvSpPr>
        <p:spPr bwMode="auto">
          <a:xfrm>
            <a:off x="2133600" y="3581400"/>
            <a:ext cx="838200" cy="838200"/>
          </a:xfrm>
          <a:prstGeom prst="line">
            <a:avLst/>
          </a:prstGeom>
          <a:noFill/>
          <a:ln w="50800" cap="sq">
            <a:solidFill>
              <a:schemeClr val="tx1"/>
            </a:solidFill>
            <a:round/>
            <a:headEnd type="none" w="sm" len="sm"/>
            <a:tailEnd type="stealth" w="lg" len="med"/>
          </a:ln>
          <a:effectLst/>
        </p:spPr>
        <p:txBody>
          <a:bodyPr wrap="none"/>
          <a:lstStyle/>
          <a:p>
            <a:pPr>
              <a:defRPr/>
            </a:pPr>
            <a:endParaRPr lang="en-US">
              <a:effectLst>
                <a:outerShdw blurRad="38100" dist="38100" dir="2700000" algn="tl">
                  <a:srgbClr val="000000">
                    <a:alpha val="43137"/>
                  </a:srgbClr>
                </a:outerShdw>
              </a:effectLst>
            </a:endParaRPr>
          </a:p>
        </p:txBody>
      </p:sp>
      <p:grpSp>
        <p:nvGrpSpPr>
          <p:cNvPr id="69636" name="Group 5">
            <a:extLst>
              <a:ext uri="{FF2B5EF4-FFF2-40B4-BE49-F238E27FC236}">
                <a16:creationId xmlns:a16="http://schemas.microsoft.com/office/drawing/2014/main" id="{D6A21363-A1FA-AE7E-7898-BAFFBEBE1315}"/>
              </a:ext>
            </a:extLst>
          </p:cNvPr>
          <p:cNvGrpSpPr>
            <a:grpSpLocks/>
          </p:cNvGrpSpPr>
          <p:nvPr/>
        </p:nvGrpSpPr>
        <p:grpSpPr bwMode="auto">
          <a:xfrm>
            <a:off x="2971800" y="2895600"/>
            <a:ext cx="5791200" cy="3657600"/>
            <a:chOff x="1872" y="1440"/>
            <a:chExt cx="3648" cy="2304"/>
          </a:xfrm>
        </p:grpSpPr>
        <p:sp>
          <p:nvSpPr>
            <p:cNvPr id="855046" name="Rectangle 6">
              <a:extLst>
                <a:ext uri="{FF2B5EF4-FFF2-40B4-BE49-F238E27FC236}">
                  <a16:creationId xmlns:a16="http://schemas.microsoft.com/office/drawing/2014/main" id="{4208B4C4-1FEA-18C4-24CD-B1AA802547E7}"/>
                </a:ext>
              </a:extLst>
            </p:cNvPr>
            <p:cNvSpPr>
              <a:spLocks noChangeArrowheads="1"/>
            </p:cNvSpPr>
            <p:nvPr/>
          </p:nvSpPr>
          <p:spPr bwMode="auto">
            <a:xfrm>
              <a:off x="1872" y="1440"/>
              <a:ext cx="3648" cy="2304"/>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69668" name="Rectangle 7">
              <a:extLst>
                <a:ext uri="{FF2B5EF4-FFF2-40B4-BE49-F238E27FC236}">
                  <a16:creationId xmlns:a16="http://schemas.microsoft.com/office/drawing/2014/main" id="{3701FD52-0DC3-C02A-1373-9DF7AAD2A6F7}"/>
                </a:ext>
              </a:extLst>
            </p:cNvPr>
            <p:cNvSpPr>
              <a:spLocks noChangeArrowheads="1"/>
            </p:cNvSpPr>
            <p:nvPr/>
          </p:nvSpPr>
          <p:spPr bwMode="auto">
            <a:xfrm>
              <a:off x="1872" y="1824"/>
              <a:ext cx="3648" cy="384"/>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400" b="1">
                <a:latin typeface="Arial" panose="020B0604020202020204" pitchFamily="34" charset="0"/>
              </a:endParaRPr>
            </a:p>
          </p:txBody>
        </p:sp>
        <p:sp>
          <p:nvSpPr>
            <p:cNvPr id="69669" name="Rectangle 8">
              <a:extLst>
                <a:ext uri="{FF2B5EF4-FFF2-40B4-BE49-F238E27FC236}">
                  <a16:creationId xmlns:a16="http://schemas.microsoft.com/office/drawing/2014/main" id="{ADDADA21-0C8C-AA22-08F2-619FB6E4BC58}"/>
                </a:ext>
              </a:extLst>
            </p:cNvPr>
            <p:cNvSpPr>
              <a:spLocks noChangeArrowheads="1"/>
            </p:cNvSpPr>
            <p:nvPr/>
          </p:nvSpPr>
          <p:spPr bwMode="auto">
            <a:xfrm>
              <a:off x="1872" y="2208"/>
              <a:ext cx="3648" cy="384"/>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400" b="1">
                <a:latin typeface="Arial" panose="020B0604020202020204" pitchFamily="34" charset="0"/>
              </a:endParaRPr>
            </a:p>
          </p:txBody>
        </p:sp>
        <p:sp>
          <p:nvSpPr>
            <p:cNvPr id="69670" name="Rectangle 9">
              <a:extLst>
                <a:ext uri="{FF2B5EF4-FFF2-40B4-BE49-F238E27FC236}">
                  <a16:creationId xmlns:a16="http://schemas.microsoft.com/office/drawing/2014/main" id="{4CAF77B6-A2D0-26F1-16CB-07BAE6F8B18D}"/>
                </a:ext>
              </a:extLst>
            </p:cNvPr>
            <p:cNvSpPr>
              <a:spLocks noChangeArrowheads="1"/>
            </p:cNvSpPr>
            <p:nvPr/>
          </p:nvSpPr>
          <p:spPr bwMode="auto">
            <a:xfrm>
              <a:off x="1872" y="2592"/>
              <a:ext cx="3648" cy="1152"/>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800" b="1">
                <a:latin typeface="Arial" panose="020B0604020202020204" pitchFamily="34" charset="0"/>
              </a:endParaRPr>
            </a:p>
          </p:txBody>
        </p:sp>
        <p:sp>
          <p:nvSpPr>
            <p:cNvPr id="69671" name="Rectangle 10">
              <a:extLst>
                <a:ext uri="{FF2B5EF4-FFF2-40B4-BE49-F238E27FC236}">
                  <a16:creationId xmlns:a16="http://schemas.microsoft.com/office/drawing/2014/main" id="{BBD2963F-407C-9AAA-38C4-1FCBA617950A}"/>
                </a:ext>
              </a:extLst>
            </p:cNvPr>
            <p:cNvSpPr>
              <a:spLocks noChangeArrowheads="1"/>
            </p:cNvSpPr>
            <p:nvPr/>
          </p:nvSpPr>
          <p:spPr bwMode="auto">
            <a:xfrm>
              <a:off x="2784" y="1440"/>
              <a:ext cx="912" cy="384"/>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800" b="1">
                <a:latin typeface="Arial" panose="020B0604020202020204" pitchFamily="34" charset="0"/>
              </a:endParaRPr>
            </a:p>
          </p:txBody>
        </p:sp>
        <p:sp>
          <p:nvSpPr>
            <p:cNvPr id="69672" name="Rectangle 11">
              <a:extLst>
                <a:ext uri="{FF2B5EF4-FFF2-40B4-BE49-F238E27FC236}">
                  <a16:creationId xmlns:a16="http://schemas.microsoft.com/office/drawing/2014/main" id="{5A03B9C5-2A04-02E6-D659-E57EC9026C46}"/>
                </a:ext>
              </a:extLst>
            </p:cNvPr>
            <p:cNvSpPr>
              <a:spLocks noChangeArrowheads="1"/>
            </p:cNvSpPr>
            <p:nvPr/>
          </p:nvSpPr>
          <p:spPr bwMode="auto">
            <a:xfrm>
              <a:off x="3696" y="1440"/>
              <a:ext cx="1824" cy="384"/>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400" b="1">
                <a:latin typeface="Arial" panose="020B0604020202020204" pitchFamily="34" charset="0"/>
              </a:endParaRPr>
            </a:p>
          </p:txBody>
        </p:sp>
        <p:sp>
          <p:nvSpPr>
            <p:cNvPr id="855052" name="Line 12">
              <a:extLst>
                <a:ext uri="{FF2B5EF4-FFF2-40B4-BE49-F238E27FC236}">
                  <a16:creationId xmlns:a16="http://schemas.microsoft.com/office/drawing/2014/main" id="{81F2A1EA-9EB5-A638-CA64-A15074F7A708}"/>
                </a:ext>
              </a:extLst>
            </p:cNvPr>
            <p:cNvSpPr>
              <a:spLocks noChangeShapeType="1"/>
            </p:cNvSpPr>
            <p:nvPr/>
          </p:nvSpPr>
          <p:spPr bwMode="auto">
            <a:xfrm>
              <a:off x="1872" y="2976"/>
              <a:ext cx="144"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53" name="Line 13">
              <a:extLst>
                <a:ext uri="{FF2B5EF4-FFF2-40B4-BE49-F238E27FC236}">
                  <a16:creationId xmlns:a16="http://schemas.microsoft.com/office/drawing/2014/main" id="{F126E70C-DBA5-7B5A-44F8-3CE7CA8C2AF5}"/>
                </a:ext>
              </a:extLst>
            </p:cNvPr>
            <p:cNvSpPr>
              <a:spLocks noChangeShapeType="1"/>
            </p:cNvSpPr>
            <p:nvPr/>
          </p:nvSpPr>
          <p:spPr bwMode="auto">
            <a:xfrm>
              <a:off x="1872" y="3360"/>
              <a:ext cx="144"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54" name="Line 14">
              <a:extLst>
                <a:ext uri="{FF2B5EF4-FFF2-40B4-BE49-F238E27FC236}">
                  <a16:creationId xmlns:a16="http://schemas.microsoft.com/office/drawing/2014/main" id="{59AE15BD-EFFD-4617-FB40-3EFFD0C8C359}"/>
                </a:ext>
              </a:extLst>
            </p:cNvPr>
            <p:cNvSpPr>
              <a:spLocks noChangeShapeType="1"/>
            </p:cNvSpPr>
            <p:nvPr/>
          </p:nvSpPr>
          <p:spPr bwMode="auto">
            <a:xfrm>
              <a:off x="5376" y="2976"/>
              <a:ext cx="144"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55" name="Line 15">
              <a:extLst>
                <a:ext uri="{FF2B5EF4-FFF2-40B4-BE49-F238E27FC236}">
                  <a16:creationId xmlns:a16="http://schemas.microsoft.com/office/drawing/2014/main" id="{2E7064A6-7237-5062-DB17-AA86D1885637}"/>
                </a:ext>
              </a:extLst>
            </p:cNvPr>
            <p:cNvSpPr>
              <a:spLocks noChangeShapeType="1"/>
            </p:cNvSpPr>
            <p:nvPr/>
          </p:nvSpPr>
          <p:spPr bwMode="auto">
            <a:xfrm>
              <a:off x="5376" y="3360"/>
              <a:ext cx="144"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grpSp>
      <p:sp>
        <p:nvSpPr>
          <p:cNvPr id="69637" name="Rectangle 16">
            <a:extLst>
              <a:ext uri="{FF2B5EF4-FFF2-40B4-BE49-F238E27FC236}">
                <a16:creationId xmlns:a16="http://schemas.microsoft.com/office/drawing/2014/main" id="{88F2FF89-63C9-2E98-E9C9-E6F3ADF884B9}"/>
              </a:ext>
            </a:extLst>
          </p:cNvPr>
          <p:cNvSpPr>
            <a:spLocks noChangeArrowheads="1"/>
          </p:cNvSpPr>
          <p:nvPr/>
        </p:nvSpPr>
        <p:spPr bwMode="auto">
          <a:xfrm>
            <a:off x="2971800" y="2895600"/>
            <a:ext cx="1447800" cy="609600"/>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600" b="1">
              <a:latin typeface="Arial" panose="020B0604020202020204" pitchFamily="34" charset="0"/>
            </a:endParaRPr>
          </a:p>
        </p:txBody>
      </p:sp>
      <p:grpSp>
        <p:nvGrpSpPr>
          <p:cNvPr id="3" name="Group 17">
            <a:extLst>
              <a:ext uri="{FF2B5EF4-FFF2-40B4-BE49-F238E27FC236}">
                <a16:creationId xmlns:a16="http://schemas.microsoft.com/office/drawing/2014/main" id="{C895DCFD-84A9-1AD7-803B-EFC508FBD910}"/>
              </a:ext>
            </a:extLst>
          </p:cNvPr>
          <p:cNvGrpSpPr>
            <a:grpSpLocks/>
          </p:cNvGrpSpPr>
          <p:nvPr/>
        </p:nvGrpSpPr>
        <p:grpSpPr bwMode="auto">
          <a:xfrm>
            <a:off x="457200" y="1905000"/>
            <a:ext cx="1676400" cy="2341563"/>
            <a:chOff x="288" y="816"/>
            <a:chExt cx="1056" cy="1475"/>
          </a:xfrm>
        </p:grpSpPr>
        <p:sp>
          <p:nvSpPr>
            <p:cNvPr id="855058" name="Rectangle 18">
              <a:extLst>
                <a:ext uri="{FF2B5EF4-FFF2-40B4-BE49-F238E27FC236}">
                  <a16:creationId xmlns:a16="http://schemas.microsoft.com/office/drawing/2014/main" id="{CA75882C-BE9F-45E5-A972-04044C0B67B4}"/>
                </a:ext>
              </a:extLst>
            </p:cNvPr>
            <p:cNvSpPr>
              <a:spLocks noChangeArrowheads="1"/>
            </p:cNvSpPr>
            <p:nvPr/>
          </p:nvSpPr>
          <p:spPr bwMode="auto">
            <a:xfrm>
              <a:off x="288" y="2006"/>
              <a:ext cx="1056" cy="285"/>
            </a:xfrm>
            <a:prstGeom prst="rect">
              <a:avLst/>
            </a:prstGeom>
            <a:solidFill>
              <a:schemeClr val="folHlink"/>
            </a:solidFill>
            <a:ln w="12700" cap="sq">
              <a:noFill/>
              <a:miter lim="800000"/>
              <a:headEnd type="none" w="sm" len="sm"/>
              <a:tailEnd type="none" w="sm" len="sm"/>
            </a:ln>
            <a:effectLst/>
          </p:spPr>
          <p:txBody>
            <a:bodyPr/>
            <a:lstStyle/>
            <a:p>
              <a:pPr algn="ctr">
                <a:spcBef>
                  <a:spcPct val="20000"/>
                </a:spcBef>
                <a:buClr>
                  <a:schemeClr val="tx2"/>
                </a:buClr>
                <a:buSzPct val="75000"/>
                <a:buFont typeface="Monotype Sorts" pitchFamily="2" charset="2"/>
                <a:buNone/>
                <a:defRPr/>
              </a:pPr>
              <a:r>
                <a:rPr lang="en-US" sz="1600" b="1">
                  <a:effectLst>
                    <a:outerShdw blurRad="38100" dist="38100" dir="2700000" algn="tl">
                      <a:srgbClr val="000000"/>
                    </a:outerShdw>
                  </a:effectLst>
                </a:rPr>
                <a:t>…</a:t>
              </a:r>
            </a:p>
          </p:txBody>
        </p:sp>
        <p:sp>
          <p:nvSpPr>
            <p:cNvPr id="855059" name="Rectangle 19">
              <a:extLst>
                <a:ext uri="{FF2B5EF4-FFF2-40B4-BE49-F238E27FC236}">
                  <a16:creationId xmlns:a16="http://schemas.microsoft.com/office/drawing/2014/main" id="{7D3983E8-9B3A-1BDA-674B-6DE91B16E860}"/>
                </a:ext>
              </a:extLst>
            </p:cNvPr>
            <p:cNvSpPr>
              <a:spLocks noChangeArrowheads="1"/>
            </p:cNvSpPr>
            <p:nvPr/>
          </p:nvSpPr>
          <p:spPr bwMode="auto">
            <a:xfrm>
              <a:off x="288" y="1721"/>
              <a:ext cx="1056" cy="285"/>
            </a:xfrm>
            <a:prstGeom prst="rect">
              <a:avLst/>
            </a:prstGeom>
            <a:solidFill>
              <a:schemeClr val="folHlink"/>
            </a:solidFill>
            <a:ln w="12700" cap="sq">
              <a:noFill/>
              <a:miter lim="800000"/>
              <a:headEnd type="none" w="sm" len="sm"/>
              <a:tailEnd type="none" w="sm" len="sm"/>
            </a:ln>
            <a:effectLst/>
          </p:spPr>
          <p:txBody>
            <a:bodyPr/>
            <a:lstStyle/>
            <a:p>
              <a:pPr algn="ctr">
                <a:spcBef>
                  <a:spcPct val="20000"/>
                </a:spcBef>
                <a:buClr>
                  <a:schemeClr val="tx2"/>
                </a:buClr>
                <a:buSzPct val="75000"/>
                <a:buFont typeface="Monotype Sorts" pitchFamily="2" charset="2"/>
                <a:buNone/>
                <a:defRPr/>
              </a:pPr>
              <a:endParaRPr lang="en-US" sz="1600" b="1">
                <a:effectLst>
                  <a:outerShdw blurRad="38100" dist="38100" dir="2700000" algn="tl">
                    <a:srgbClr val="000000"/>
                  </a:outerShdw>
                </a:effectLst>
              </a:endParaRPr>
            </a:p>
          </p:txBody>
        </p:sp>
        <p:sp>
          <p:nvSpPr>
            <p:cNvPr id="855060" name="Rectangle 20">
              <a:extLst>
                <a:ext uri="{FF2B5EF4-FFF2-40B4-BE49-F238E27FC236}">
                  <a16:creationId xmlns:a16="http://schemas.microsoft.com/office/drawing/2014/main" id="{48AD878A-403C-48C6-A6D1-CB6107F16B2C}"/>
                </a:ext>
              </a:extLst>
            </p:cNvPr>
            <p:cNvSpPr>
              <a:spLocks noChangeArrowheads="1"/>
            </p:cNvSpPr>
            <p:nvPr/>
          </p:nvSpPr>
          <p:spPr bwMode="auto">
            <a:xfrm>
              <a:off x="288" y="1437"/>
              <a:ext cx="1056" cy="284"/>
            </a:xfrm>
            <a:prstGeom prst="rect">
              <a:avLst/>
            </a:prstGeom>
            <a:solidFill>
              <a:schemeClr val="folHlink"/>
            </a:solidFill>
            <a:ln w="12700" cap="sq">
              <a:noFill/>
              <a:miter lim="800000"/>
              <a:headEnd type="none" w="sm" len="sm"/>
              <a:tailEnd type="none" w="sm" len="sm"/>
            </a:ln>
            <a:effectLst/>
          </p:spPr>
          <p:txBody>
            <a:bodyPr/>
            <a:lstStyle/>
            <a:p>
              <a:pPr algn="ctr">
                <a:spcBef>
                  <a:spcPct val="20000"/>
                </a:spcBef>
                <a:buClr>
                  <a:schemeClr val="tx2"/>
                </a:buClr>
                <a:buSzPct val="75000"/>
                <a:buFont typeface="Monotype Sorts" pitchFamily="2" charset="2"/>
                <a:buNone/>
                <a:defRPr/>
              </a:pPr>
              <a:endParaRPr lang="en-US" sz="1600" b="1">
                <a:effectLst>
                  <a:outerShdw blurRad="38100" dist="38100" dir="2700000" algn="tl">
                    <a:srgbClr val="000000"/>
                  </a:outerShdw>
                </a:effectLst>
              </a:endParaRPr>
            </a:p>
          </p:txBody>
        </p:sp>
        <p:sp>
          <p:nvSpPr>
            <p:cNvPr id="855061" name="Rectangle 21">
              <a:extLst>
                <a:ext uri="{FF2B5EF4-FFF2-40B4-BE49-F238E27FC236}">
                  <a16:creationId xmlns:a16="http://schemas.microsoft.com/office/drawing/2014/main" id="{A18FEE7F-5005-079B-93C0-AD4F3C046C50}"/>
                </a:ext>
              </a:extLst>
            </p:cNvPr>
            <p:cNvSpPr>
              <a:spLocks noChangeArrowheads="1"/>
            </p:cNvSpPr>
            <p:nvPr/>
          </p:nvSpPr>
          <p:spPr bwMode="auto">
            <a:xfrm>
              <a:off x="288" y="1152"/>
              <a:ext cx="1056" cy="285"/>
            </a:xfrm>
            <a:prstGeom prst="rect">
              <a:avLst/>
            </a:prstGeom>
            <a:solidFill>
              <a:schemeClr val="folHlink"/>
            </a:solidFill>
            <a:ln w="12700" cap="sq">
              <a:noFill/>
              <a:miter lim="800000"/>
              <a:headEnd type="none" w="sm" len="sm"/>
              <a:tailEnd type="none" w="sm" len="sm"/>
            </a:ln>
            <a:effectLst/>
          </p:spPr>
          <p:txBody>
            <a:bodyPr/>
            <a:lstStyle/>
            <a:p>
              <a:pPr algn="ctr">
                <a:spcBef>
                  <a:spcPct val="20000"/>
                </a:spcBef>
                <a:buClr>
                  <a:schemeClr val="tx2"/>
                </a:buClr>
                <a:buSzPct val="75000"/>
                <a:buFont typeface="Monotype Sorts" pitchFamily="2" charset="2"/>
                <a:buNone/>
                <a:defRPr/>
              </a:pPr>
              <a:endParaRPr lang="en-US" sz="1600" b="1">
                <a:effectLst>
                  <a:outerShdw blurRad="38100" dist="38100" dir="2700000" algn="tl">
                    <a:srgbClr val="000000"/>
                  </a:outerShdw>
                </a:effectLst>
              </a:endParaRPr>
            </a:p>
          </p:txBody>
        </p:sp>
        <p:sp>
          <p:nvSpPr>
            <p:cNvPr id="855062" name="Line 22">
              <a:extLst>
                <a:ext uri="{FF2B5EF4-FFF2-40B4-BE49-F238E27FC236}">
                  <a16:creationId xmlns:a16="http://schemas.microsoft.com/office/drawing/2014/main" id="{9B3F2988-9B4A-7B52-8E86-C4ED1104ABAA}"/>
                </a:ext>
              </a:extLst>
            </p:cNvPr>
            <p:cNvSpPr>
              <a:spLocks noChangeShapeType="1"/>
            </p:cNvSpPr>
            <p:nvPr/>
          </p:nvSpPr>
          <p:spPr bwMode="auto">
            <a:xfrm>
              <a:off x="288" y="1152"/>
              <a:ext cx="1056" cy="0"/>
            </a:xfrm>
            <a:prstGeom prst="line">
              <a:avLst/>
            </a:prstGeom>
            <a:noFill/>
            <a:ln w="28575" cap="sq">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63" name="Line 23">
              <a:extLst>
                <a:ext uri="{FF2B5EF4-FFF2-40B4-BE49-F238E27FC236}">
                  <a16:creationId xmlns:a16="http://schemas.microsoft.com/office/drawing/2014/main" id="{C0137B06-82FB-14EE-BB83-2502F1AFB35D}"/>
                </a:ext>
              </a:extLst>
            </p:cNvPr>
            <p:cNvSpPr>
              <a:spLocks noChangeShapeType="1"/>
            </p:cNvSpPr>
            <p:nvPr/>
          </p:nvSpPr>
          <p:spPr bwMode="auto">
            <a:xfrm>
              <a:off x="288" y="1437"/>
              <a:ext cx="1056" cy="0"/>
            </a:xfrm>
            <a:prstGeom prst="line">
              <a:avLst/>
            </a:prstGeom>
            <a:noFill/>
            <a:ln w="12700">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64" name="Line 24">
              <a:extLst>
                <a:ext uri="{FF2B5EF4-FFF2-40B4-BE49-F238E27FC236}">
                  <a16:creationId xmlns:a16="http://schemas.microsoft.com/office/drawing/2014/main" id="{44C2264E-A261-BA64-0FB8-1C045AA388EC}"/>
                </a:ext>
              </a:extLst>
            </p:cNvPr>
            <p:cNvSpPr>
              <a:spLocks noChangeShapeType="1"/>
            </p:cNvSpPr>
            <p:nvPr/>
          </p:nvSpPr>
          <p:spPr bwMode="auto">
            <a:xfrm>
              <a:off x="288" y="1721"/>
              <a:ext cx="1056" cy="0"/>
            </a:xfrm>
            <a:prstGeom prst="line">
              <a:avLst/>
            </a:prstGeom>
            <a:noFill/>
            <a:ln w="12700">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65" name="Line 25">
              <a:extLst>
                <a:ext uri="{FF2B5EF4-FFF2-40B4-BE49-F238E27FC236}">
                  <a16:creationId xmlns:a16="http://schemas.microsoft.com/office/drawing/2014/main" id="{BC0B4E88-AC3A-F61B-5683-CD0546183300}"/>
                </a:ext>
              </a:extLst>
            </p:cNvPr>
            <p:cNvSpPr>
              <a:spLocks noChangeShapeType="1"/>
            </p:cNvSpPr>
            <p:nvPr/>
          </p:nvSpPr>
          <p:spPr bwMode="auto">
            <a:xfrm>
              <a:off x="288" y="2006"/>
              <a:ext cx="1056" cy="0"/>
            </a:xfrm>
            <a:prstGeom prst="line">
              <a:avLst/>
            </a:prstGeom>
            <a:noFill/>
            <a:ln w="12700">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66" name="Line 26">
              <a:extLst>
                <a:ext uri="{FF2B5EF4-FFF2-40B4-BE49-F238E27FC236}">
                  <a16:creationId xmlns:a16="http://schemas.microsoft.com/office/drawing/2014/main" id="{D162885B-ED1B-FA23-6BA8-7AE281547B26}"/>
                </a:ext>
              </a:extLst>
            </p:cNvPr>
            <p:cNvSpPr>
              <a:spLocks noChangeShapeType="1"/>
            </p:cNvSpPr>
            <p:nvPr/>
          </p:nvSpPr>
          <p:spPr bwMode="auto">
            <a:xfrm>
              <a:off x="288" y="2291"/>
              <a:ext cx="1056" cy="0"/>
            </a:xfrm>
            <a:prstGeom prst="line">
              <a:avLst/>
            </a:prstGeom>
            <a:noFill/>
            <a:ln w="28575" cap="sq">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67" name="Line 27">
              <a:extLst>
                <a:ext uri="{FF2B5EF4-FFF2-40B4-BE49-F238E27FC236}">
                  <a16:creationId xmlns:a16="http://schemas.microsoft.com/office/drawing/2014/main" id="{6BB88D7D-0592-1CBF-32B6-B6A233A5A781}"/>
                </a:ext>
              </a:extLst>
            </p:cNvPr>
            <p:cNvSpPr>
              <a:spLocks noChangeShapeType="1"/>
            </p:cNvSpPr>
            <p:nvPr/>
          </p:nvSpPr>
          <p:spPr bwMode="auto">
            <a:xfrm>
              <a:off x="288" y="1152"/>
              <a:ext cx="0" cy="1139"/>
            </a:xfrm>
            <a:prstGeom prst="line">
              <a:avLst/>
            </a:prstGeom>
            <a:noFill/>
            <a:ln w="28575" cap="sq">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68" name="Line 28">
              <a:extLst>
                <a:ext uri="{FF2B5EF4-FFF2-40B4-BE49-F238E27FC236}">
                  <a16:creationId xmlns:a16="http://schemas.microsoft.com/office/drawing/2014/main" id="{D6994A3B-F9F0-C638-AB3B-D182FAEC339C}"/>
                </a:ext>
              </a:extLst>
            </p:cNvPr>
            <p:cNvSpPr>
              <a:spLocks noChangeShapeType="1"/>
            </p:cNvSpPr>
            <p:nvPr/>
          </p:nvSpPr>
          <p:spPr bwMode="auto">
            <a:xfrm>
              <a:off x="1344" y="1152"/>
              <a:ext cx="0" cy="1139"/>
            </a:xfrm>
            <a:prstGeom prst="line">
              <a:avLst/>
            </a:prstGeom>
            <a:noFill/>
            <a:ln w="28575" cap="sq">
              <a:solidFill>
                <a:schemeClr val="tx1"/>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69666" name="Text Box 29">
              <a:extLst>
                <a:ext uri="{FF2B5EF4-FFF2-40B4-BE49-F238E27FC236}">
                  <a16:creationId xmlns:a16="http://schemas.microsoft.com/office/drawing/2014/main" id="{E6036F23-E6B0-3A56-3BFB-49B3CC918C48}"/>
                </a:ext>
              </a:extLst>
            </p:cNvPr>
            <p:cNvSpPr txBox="1">
              <a:spLocks noChangeArrowheads="1"/>
            </p:cNvSpPr>
            <p:nvPr/>
          </p:nvSpPr>
          <p:spPr bwMode="auto">
            <a:xfrm>
              <a:off x="528" y="816"/>
              <a:ext cx="5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SAD</a:t>
              </a:r>
            </a:p>
          </p:txBody>
        </p:sp>
      </p:grpSp>
      <p:sp>
        <p:nvSpPr>
          <p:cNvPr id="855070" name="Rectangle 30">
            <a:extLst>
              <a:ext uri="{FF2B5EF4-FFF2-40B4-BE49-F238E27FC236}">
                <a16:creationId xmlns:a16="http://schemas.microsoft.com/office/drawing/2014/main" id="{68D08C70-A357-82DE-6264-7F340ED13967}"/>
              </a:ext>
            </a:extLst>
          </p:cNvPr>
          <p:cNvSpPr>
            <a:spLocks noChangeArrowheads="1"/>
          </p:cNvSpPr>
          <p:nvPr/>
        </p:nvSpPr>
        <p:spPr bwMode="auto">
          <a:xfrm>
            <a:off x="5410200" y="3581400"/>
            <a:ext cx="67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latin typeface="Arial" panose="020B0604020202020204" pitchFamily="34" charset="0"/>
              </a:rPr>
              <a:t>SPI</a:t>
            </a:r>
          </a:p>
        </p:txBody>
      </p:sp>
      <p:sp>
        <p:nvSpPr>
          <p:cNvPr id="855071" name="Rectangle 31">
            <a:extLst>
              <a:ext uri="{FF2B5EF4-FFF2-40B4-BE49-F238E27FC236}">
                <a16:creationId xmlns:a16="http://schemas.microsoft.com/office/drawing/2014/main" id="{D07E2972-D712-2A08-EF77-AA5E5E404EA5}"/>
              </a:ext>
            </a:extLst>
          </p:cNvPr>
          <p:cNvSpPr>
            <a:spLocks noChangeArrowheads="1"/>
          </p:cNvSpPr>
          <p:nvPr/>
        </p:nvSpPr>
        <p:spPr bwMode="auto">
          <a:xfrm>
            <a:off x="4419600" y="4191000"/>
            <a:ext cx="286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latin typeface="Arial" panose="020B0604020202020204" pitchFamily="34" charset="0"/>
              </a:rPr>
              <a:t>Sequence Number</a:t>
            </a:r>
          </a:p>
        </p:txBody>
      </p:sp>
      <p:sp>
        <p:nvSpPr>
          <p:cNvPr id="855072" name="Rectangle 32">
            <a:extLst>
              <a:ext uri="{FF2B5EF4-FFF2-40B4-BE49-F238E27FC236}">
                <a16:creationId xmlns:a16="http://schemas.microsoft.com/office/drawing/2014/main" id="{32A5D406-EF82-BCD4-0538-0A030C8404A8}"/>
              </a:ext>
            </a:extLst>
          </p:cNvPr>
          <p:cNvSpPr>
            <a:spLocks noChangeArrowheads="1"/>
          </p:cNvSpPr>
          <p:nvPr/>
        </p:nvSpPr>
        <p:spPr bwMode="auto">
          <a:xfrm>
            <a:off x="5486400" y="5272088"/>
            <a:ext cx="776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ICV</a:t>
            </a:r>
          </a:p>
        </p:txBody>
      </p:sp>
      <p:sp>
        <p:nvSpPr>
          <p:cNvPr id="855073" name="Rectangle 33">
            <a:extLst>
              <a:ext uri="{FF2B5EF4-FFF2-40B4-BE49-F238E27FC236}">
                <a16:creationId xmlns:a16="http://schemas.microsoft.com/office/drawing/2014/main" id="{C91BED44-CF09-C0FE-E708-1D9B01D2B80D}"/>
              </a:ext>
            </a:extLst>
          </p:cNvPr>
          <p:cNvSpPr>
            <a:spLocks noChangeArrowheads="1"/>
          </p:cNvSpPr>
          <p:nvPr/>
        </p:nvSpPr>
        <p:spPr bwMode="auto">
          <a:xfrm>
            <a:off x="3048000" y="2924175"/>
            <a:ext cx="1524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600" b="1">
                <a:latin typeface="Arial" panose="020B0604020202020204" pitchFamily="34" charset="0"/>
              </a:rPr>
              <a:t>Next Header </a:t>
            </a:r>
            <a:br>
              <a:rPr lang="en-US" altLang="en-US" sz="1600" b="1">
                <a:latin typeface="Arial" panose="020B0604020202020204" pitchFamily="34" charset="0"/>
              </a:rPr>
            </a:br>
            <a:r>
              <a:rPr lang="en-US" altLang="en-US" sz="1600" b="1">
                <a:latin typeface="Arial" panose="020B0604020202020204" pitchFamily="34" charset="0"/>
              </a:rPr>
              <a:t>(TCP/UDP)</a:t>
            </a:r>
          </a:p>
        </p:txBody>
      </p:sp>
      <p:sp>
        <p:nvSpPr>
          <p:cNvPr id="855074" name="Rectangle 34">
            <a:extLst>
              <a:ext uri="{FF2B5EF4-FFF2-40B4-BE49-F238E27FC236}">
                <a16:creationId xmlns:a16="http://schemas.microsoft.com/office/drawing/2014/main" id="{E8DA8296-D045-37FF-6746-512AA1232822}"/>
              </a:ext>
            </a:extLst>
          </p:cNvPr>
          <p:cNvSpPr>
            <a:spLocks noChangeArrowheads="1"/>
          </p:cNvSpPr>
          <p:nvPr/>
        </p:nvSpPr>
        <p:spPr bwMode="auto">
          <a:xfrm>
            <a:off x="4419600" y="2895600"/>
            <a:ext cx="152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400" b="1">
                <a:latin typeface="Arial" panose="020B0604020202020204" pitchFamily="34" charset="0"/>
              </a:rPr>
              <a:t>Payload Length</a:t>
            </a:r>
          </a:p>
        </p:txBody>
      </p:sp>
      <p:sp>
        <p:nvSpPr>
          <p:cNvPr id="855075" name="Rectangle 35">
            <a:extLst>
              <a:ext uri="{FF2B5EF4-FFF2-40B4-BE49-F238E27FC236}">
                <a16:creationId xmlns:a16="http://schemas.microsoft.com/office/drawing/2014/main" id="{8ACA7C44-4F0B-E69A-97D8-AF25349A914C}"/>
              </a:ext>
            </a:extLst>
          </p:cNvPr>
          <p:cNvSpPr>
            <a:spLocks noChangeArrowheads="1"/>
          </p:cNvSpPr>
          <p:nvPr/>
        </p:nvSpPr>
        <p:spPr bwMode="auto">
          <a:xfrm>
            <a:off x="6553200" y="2971800"/>
            <a:ext cx="1558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latin typeface="Arial" panose="020B0604020202020204" pitchFamily="34" charset="0"/>
              </a:rPr>
              <a:t>Reserved</a:t>
            </a:r>
          </a:p>
        </p:txBody>
      </p:sp>
      <p:sp>
        <p:nvSpPr>
          <p:cNvPr id="855076" name="Line 36">
            <a:extLst>
              <a:ext uri="{FF2B5EF4-FFF2-40B4-BE49-F238E27FC236}">
                <a16:creationId xmlns:a16="http://schemas.microsoft.com/office/drawing/2014/main" id="{7A5F783E-09EE-18AB-DCA5-6458E7AC7253}"/>
              </a:ext>
            </a:extLst>
          </p:cNvPr>
          <p:cNvSpPr>
            <a:spLocks noChangeShapeType="1"/>
          </p:cNvSpPr>
          <p:nvPr/>
        </p:nvSpPr>
        <p:spPr bwMode="auto">
          <a:xfrm flipV="1">
            <a:off x="8763000" y="51054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77" name="Line 37">
            <a:extLst>
              <a:ext uri="{FF2B5EF4-FFF2-40B4-BE49-F238E27FC236}">
                <a16:creationId xmlns:a16="http://schemas.microsoft.com/office/drawing/2014/main" id="{D0EC2573-84C1-C84E-9D06-CDC324C9697A}"/>
              </a:ext>
            </a:extLst>
          </p:cNvPr>
          <p:cNvSpPr>
            <a:spLocks noChangeShapeType="1"/>
          </p:cNvSpPr>
          <p:nvPr/>
        </p:nvSpPr>
        <p:spPr bwMode="auto">
          <a:xfrm flipV="1">
            <a:off x="8763000" y="57150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78" name="Line 38">
            <a:extLst>
              <a:ext uri="{FF2B5EF4-FFF2-40B4-BE49-F238E27FC236}">
                <a16:creationId xmlns:a16="http://schemas.microsoft.com/office/drawing/2014/main" id="{91E6C88A-0C88-0F8F-F9ED-A9137F98D294}"/>
              </a:ext>
            </a:extLst>
          </p:cNvPr>
          <p:cNvSpPr>
            <a:spLocks noChangeShapeType="1"/>
          </p:cNvSpPr>
          <p:nvPr/>
        </p:nvSpPr>
        <p:spPr bwMode="auto">
          <a:xfrm flipV="1">
            <a:off x="8763000" y="44958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79" name="Line 39">
            <a:extLst>
              <a:ext uri="{FF2B5EF4-FFF2-40B4-BE49-F238E27FC236}">
                <a16:creationId xmlns:a16="http://schemas.microsoft.com/office/drawing/2014/main" id="{48D312C1-C694-06AA-7C14-2145D9C317D3}"/>
              </a:ext>
            </a:extLst>
          </p:cNvPr>
          <p:cNvSpPr>
            <a:spLocks noChangeShapeType="1"/>
          </p:cNvSpPr>
          <p:nvPr/>
        </p:nvSpPr>
        <p:spPr bwMode="auto">
          <a:xfrm flipV="1">
            <a:off x="8763000" y="38862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80" name="Line 40">
            <a:extLst>
              <a:ext uri="{FF2B5EF4-FFF2-40B4-BE49-F238E27FC236}">
                <a16:creationId xmlns:a16="http://schemas.microsoft.com/office/drawing/2014/main" id="{BA81544F-C80D-D672-B963-E01765903F5B}"/>
              </a:ext>
            </a:extLst>
          </p:cNvPr>
          <p:cNvSpPr>
            <a:spLocks noChangeShapeType="1"/>
          </p:cNvSpPr>
          <p:nvPr/>
        </p:nvSpPr>
        <p:spPr bwMode="auto">
          <a:xfrm flipV="1">
            <a:off x="8763000" y="32766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81" name="Line 41">
            <a:extLst>
              <a:ext uri="{FF2B5EF4-FFF2-40B4-BE49-F238E27FC236}">
                <a16:creationId xmlns:a16="http://schemas.microsoft.com/office/drawing/2014/main" id="{C609FAB0-71CA-BBE4-9C4C-C0539F24C2E6}"/>
              </a:ext>
            </a:extLst>
          </p:cNvPr>
          <p:cNvSpPr>
            <a:spLocks noChangeShapeType="1"/>
          </p:cNvSpPr>
          <p:nvPr/>
        </p:nvSpPr>
        <p:spPr bwMode="auto">
          <a:xfrm flipV="1">
            <a:off x="5867400" y="26670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5082" name="Line 42">
            <a:extLst>
              <a:ext uri="{FF2B5EF4-FFF2-40B4-BE49-F238E27FC236}">
                <a16:creationId xmlns:a16="http://schemas.microsoft.com/office/drawing/2014/main" id="{F7173241-D1E1-291F-0C13-A8E786A800E1}"/>
              </a:ext>
            </a:extLst>
          </p:cNvPr>
          <p:cNvSpPr>
            <a:spLocks noChangeShapeType="1"/>
          </p:cNvSpPr>
          <p:nvPr/>
        </p:nvSpPr>
        <p:spPr bwMode="auto">
          <a:xfrm flipV="1">
            <a:off x="4419600" y="26670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69652" name="Rectangle 43">
            <a:extLst>
              <a:ext uri="{FF2B5EF4-FFF2-40B4-BE49-F238E27FC236}">
                <a16:creationId xmlns:a16="http://schemas.microsoft.com/office/drawing/2014/main" id="{744A94FB-E68B-08A2-AB3D-BE0FAD2C3FFD}"/>
              </a:ext>
            </a:extLst>
          </p:cNvPr>
          <p:cNvSpPr>
            <a:spLocks noGrp="1" noChangeArrowheads="1"/>
          </p:cNvSpPr>
          <p:nvPr>
            <p:ph type="title" idx="4294967295"/>
          </p:nvPr>
        </p:nvSpPr>
        <p:spPr/>
        <p:txBody>
          <a:bodyPr/>
          <a:lstStyle/>
          <a:p>
            <a:r>
              <a:rPr lang="en-US" altLang="en-US"/>
              <a:t>IPSec Authenticated Header</a:t>
            </a:r>
          </a:p>
        </p:txBody>
      </p:sp>
      <p:sp>
        <p:nvSpPr>
          <p:cNvPr id="855084" name="Text Box 44">
            <a:extLst>
              <a:ext uri="{FF2B5EF4-FFF2-40B4-BE49-F238E27FC236}">
                <a16:creationId xmlns:a16="http://schemas.microsoft.com/office/drawing/2014/main" id="{9273251F-D3F8-46A5-50A3-60E0B164D12B}"/>
              </a:ext>
            </a:extLst>
          </p:cNvPr>
          <p:cNvSpPr txBox="1">
            <a:spLocks noChangeArrowheads="1"/>
          </p:cNvSpPr>
          <p:nvPr/>
        </p:nvSpPr>
        <p:spPr bwMode="auto">
          <a:xfrm>
            <a:off x="3541713" y="1685925"/>
            <a:ext cx="4983162" cy="457200"/>
          </a:xfrm>
          <a:prstGeom prst="rect">
            <a:avLst/>
          </a:prstGeom>
          <a:noFill/>
          <a:ln w="12700">
            <a:noFill/>
            <a:miter lim="800000"/>
            <a:headEnd type="none" w="sm" len="sm"/>
            <a:tailEnd type="none" w="sm" len="sm"/>
          </a:ln>
          <a:effectLst/>
        </p:spPr>
        <p:txBody>
          <a:bodyPr wrap="none">
            <a:spAutoFit/>
          </a:bodyPr>
          <a:lstStyle/>
          <a:p>
            <a:pPr>
              <a:defRPr/>
            </a:pPr>
            <a:r>
              <a:rPr lang="en-US" sz="2400">
                <a:effectLst>
                  <a:outerShdw blurRad="38100" dist="38100" dir="2700000" algn="tl">
                    <a:srgbClr val="000000"/>
                  </a:outerShdw>
                </a:effectLst>
                <a:latin typeface="Arial" pitchFamily="34" charset="0"/>
              </a:rPr>
              <a:t>Length of the authentication header</a:t>
            </a:r>
          </a:p>
        </p:txBody>
      </p:sp>
      <p:sp>
        <p:nvSpPr>
          <p:cNvPr id="855086" name="Line 46">
            <a:extLst>
              <a:ext uri="{FF2B5EF4-FFF2-40B4-BE49-F238E27FC236}">
                <a16:creationId xmlns:a16="http://schemas.microsoft.com/office/drawing/2014/main" id="{7B369BF5-B670-6AA0-830F-BF660E6AFED5}"/>
              </a:ext>
            </a:extLst>
          </p:cNvPr>
          <p:cNvSpPr>
            <a:spLocks noChangeShapeType="1"/>
          </p:cNvSpPr>
          <p:nvPr/>
        </p:nvSpPr>
        <p:spPr bwMode="auto">
          <a:xfrm flipH="1">
            <a:off x="5286375" y="2181225"/>
            <a:ext cx="152400" cy="842963"/>
          </a:xfrm>
          <a:prstGeom prst="line">
            <a:avLst/>
          </a:prstGeom>
          <a:noFill/>
          <a:ln w="28575">
            <a:solidFill>
              <a:schemeClr val="bg2"/>
            </a:solidFill>
            <a:round/>
            <a:headEnd/>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1000"/>
                                  </p:stCondLst>
                                  <p:childTnLst>
                                    <p:set>
                                      <p:cBhvr>
                                        <p:cTn id="6" dur="1" fill="hold">
                                          <p:stCondLst>
                                            <p:cond delay="0"/>
                                          </p:stCondLst>
                                        </p:cTn>
                                        <p:tgtEl>
                                          <p:spTgt spid="855073"/>
                                        </p:tgtEl>
                                        <p:attrNameLst>
                                          <p:attrName>style.visibility</p:attrName>
                                        </p:attrNameLst>
                                      </p:cBhvr>
                                      <p:to>
                                        <p:strVal val="visible"/>
                                      </p:to>
                                    </p:set>
                                    <p:animEffect transition="in" filter="checkerboard(across)">
                                      <p:cBhvr>
                                        <p:cTn id="7" dur="500"/>
                                        <p:tgtEl>
                                          <p:spTgt spid="855073"/>
                                        </p:tgtEl>
                                      </p:cBhvr>
                                    </p:animEffect>
                                  </p:childTnLst>
                                </p:cTn>
                              </p:par>
                            </p:childTnLst>
                          </p:cTn>
                        </p:par>
                        <p:par>
                          <p:cTn id="8" fill="hold" nodeType="afterGroup">
                            <p:stCondLst>
                              <p:cond delay="1500"/>
                            </p:stCondLst>
                            <p:childTnLst>
                              <p:par>
                                <p:cTn id="9" presetID="5" presetClass="entr" presetSubtype="10" fill="hold" grpId="0" nodeType="afterEffect">
                                  <p:stCondLst>
                                    <p:cond delay="2000"/>
                                  </p:stCondLst>
                                  <p:childTnLst>
                                    <p:set>
                                      <p:cBhvr>
                                        <p:cTn id="10" dur="1" fill="hold">
                                          <p:stCondLst>
                                            <p:cond delay="0"/>
                                          </p:stCondLst>
                                        </p:cTn>
                                        <p:tgtEl>
                                          <p:spTgt spid="855074"/>
                                        </p:tgtEl>
                                        <p:attrNameLst>
                                          <p:attrName>style.visibility</p:attrName>
                                        </p:attrNameLst>
                                      </p:cBhvr>
                                      <p:to>
                                        <p:strVal val="visible"/>
                                      </p:to>
                                    </p:set>
                                    <p:animEffect transition="in" filter="checkerboard(across)">
                                      <p:cBhvr>
                                        <p:cTn id="11" dur="500"/>
                                        <p:tgtEl>
                                          <p:spTgt spid="855074"/>
                                        </p:tgtEl>
                                      </p:cBhvr>
                                    </p:animEffect>
                                  </p:childTnLst>
                                </p:cTn>
                              </p:par>
                            </p:childTnLst>
                          </p:cTn>
                        </p:par>
                        <p:par>
                          <p:cTn id="12" fill="hold" nodeType="afterGroup">
                            <p:stCondLst>
                              <p:cond delay="4000"/>
                            </p:stCondLst>
                            <p:childTnLst>
                              <p:par>
                                <p:cTn id="13" presetID="5" presetClass="entr" presetSubtype="10" fill="hold" grpId="0" nodeType="afterEffect">
                                  <p:stCondLst>
                                    <p:cond delay="2000"/>
                                  </p:stCondLst>
                                  <p:childTnLst>
                                    <p:set>
                                      <p:cBhvr>
                                        <p:cTn id="14" dur="1" fill="hold">
                                          <p:stCondLst>
                                            <p:cond delay="0"/>
                                          </p:stCondLst>
                                        </p:cTn>
                                        <p:tgtEl>
                                          <p:spTgt spid="855075"/>
                                        </p:tgtEl>
                                        <p:attrNameLst>
                                          <p:attrName>style.visibility</p:attrName>
                                        </p:attrNameLst>
                                      </p:cBhvr>
                                      <p:to>
                                        <p:strVal val="visible"/>
                                      </p:to>
                                    </p:set>
                                    <p:animEffect transition="in" filter="checkerboard(across)">
                                      <p:cBhvr>
                                        <p:cTn id="15" dur="500"/>
                                        <p:tgtEl>
                                          <p:spTgt spid="85507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5508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85508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8"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0-#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55043"/>
                                        </p:tgtEl>
                                        <p:attrNameLst>
                                          <p:attrName>style.visibility</p:attrName>
                                        </p:attrNameLst>
                                      </p:cBhvr>
                                      <p:to>
                                        <p:strVal val="visible"/>
                                      </p:to>
                                    </p:set>
                                    <p:animEffect transition="in" filter="wipe(left)">
                                      <p:cBhvr>
                                        <p:cTn id="32" dur="500"/>
                                        <p:tgtEl>
                                          <p:spTgt spid="855043"/>
                                        </p:tgtEl>
                                      </p:cBhvr>
                                    </p:animEffect>
                                  </p:childTnLst>
                                </p:cTn>
                              </p:par>
                            </p:childTnLst>
                          </p:cTn>
                        </p:par>
                        <p:par>
                          <p:cTn id="33" fill="hold" nodeType="afterGroup">
                            <p:stCondLst>
                              <p:cond delay="500"/>
                            </p:stCondLst>
                            <p:childTnLst>
                              <p:par>
                                <p:cTn id="34" presetID="5" presetClass="entr" presetSubtype="10" fill="hold" grpId="0" nodeType="afterEffect">
                                  <p:stCondLst>
                                    <p:cond delay="1000"/>
                                  </p:stCondLst>
                                  <p:childTnLst>
                                    <p:set>
                                      <p:cBhvr>
                                        <p:cTn id="35" dur="1" fill="hold">
                                          <p:stCondLst>
                                            <p:cond delay="0"/>
                                          </p:stCondLst>
                                        </p:cTn>
                                        <p:tgtEl>
                                          <p:spTgt spid="855070"/>
                                        </p:tgtEl>
                                        <p:attrNameLst>
                                          <p:attrName>style.visibility</p:attrName>
                                        </p:attrNameLst>
                                      </p:cBhvr>
                                      <p:to>
                                        <p:strVal val="visible"/>
                                      </p:to>
                                    </p:set>
                                    <p:animEffect transition="in" filter="checkerboard(across)">
                                      <p:cBhvr>
                                        <p:cTn id="36" dur="500"/>
                                        <p:tgtEl>
                                          <p:spTgt spid="8550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55044"/>
                                        </p:tgtEl>
                                        <p:attrNameLst>
                                          <p:attrName>style.visibility</p:attrName>
                                        </p:attrNameLst>
                                      </p:cBhvr>
                                      <p:to>
                                        <p:strVal val="visible"/>
                                      </p:to>
                                    </p:set>
                                    <p:animEffect transition="in" filter="wipe(left)">
                                      <p:cBhvr>
                                        <p:cTn id="41" dur="500"/>
                                        <p:tgtEl>
                                          <p:spTgt spid="855044"/>
                                        </p:tgtEl>
                                      </p:cBhvr>
                                    </p:animEffect>
                                  </p:childTnLst>
                                </p:cTn>
                              </p:par>
                            </p:childTnLst>
                          </p:cTn>
                        </p:par>
                        <p:par>
                          <p:cTn id="42" fill="hold" nodeType="afterGroup">
                            <p:stCondLst>
                              <p:cond delay="500"/>
                            </p:stCondLst>
                            <p:childTnLst>
                              <p:par>
                                <p:cTn id="43" presetID="5" presetClass="entr" presetSubtype="10" fill="hold" grpId="0" nodeType="afterEffect">
                                  <p:stCondLst>
                                    <p:cond delay="1000"/>
                                  </p:stCondLst>
                                  <p:childTnLst>
                                    <p:set>
                                      <p:cBhvr>
                                        <p:cTn id="44" dur="1" fill="hold">
                                          <p:stCondLst>
                                            <p:cond delay="0"/>
                                          </p:stCondLst>
                                        </p:cTn>
                                        <p:tgtEl>
                                          <p:spTgt spid="855071"/>
                                        </p:tgtEl>
                                        <p:attrNameLst>
                                          <p:attrName>style.visibility</p:attrName>
                                        </p:attrNameLst>
                                      </p:cBhvr>
                                      <p:to>
                                        <p:strVal val="visible"/>
                                      </p:to>
                                    </p:set>
                                    <p:animEffect transition="in" filter="checkerboard(across)">
                                      <p:cBhvr>
                                        <p:cTn id="45" dur="500"/>
                                        <p:tgtEl>
                                          <p:spTgt spid="855071"/>
                                        </p:tgtEl>
                                      </p:cBhvr>
                                    </p:animEffect>
                                  </p:childTnLst>
                                </p:cTn>
                              </p:par>
                            </p:childTnLst>
                          </p:cTn>
                        </p:par>
                        <p:par>
                          <p:cTn id="46" fill="hold" nodeType="afterGroup">
                            <p:stCondLst>
                              <p:cond delay="2000"/>
                            </p:stCondLst>
                            <p:childTnLst>
                              <p:par>
                                <p:cTn id="47" presetID="5" presetClass="entr" presetSubtype="10" fill="hold" grpId="0" nodeType="afterEffect">
                                  <p:stCondLst>
                                    <p:cond delay="0"/>
                                  </p:stCondLst>
                                  <p:childTnLst>
                                    <p:set>
                                      <p:cBhvr>
                                        <p:cTn id="48" dur="1" fill="hold">
                                          <p:stCondLst>
                                            <p:cond delay="0"/>
                                          </p:stCondLst>
                                        </p:cTn>
                                        <p:tgtEl>
                                          <p:spTgt spid="855072"/>
                                        </p:tgtEl>
                                        <p:attrNameLst>
                                          <p:attrName>style.visibility</p:attrName>
                                        </p:attrNameLst>
                                      </p:cBhvr>
                                      <p:to>
                                        <p:strVal val="visible"/>
                                      </p:to>
                                    </p:set>
                                    <p:animEffect transition="in" filter="checkerboard(across)">
                                      <p:cBhvr>
                                        <p:cTn id="49" dur="500"/>
                                        <p:tgtEl>
                                          <p:spTgt spid="855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70" grpId="0" autoUpdateAnimBg="0"/>
      <p:bldP spid="855071" grpId="0" autoUpdateAnimBg="0"/>
      <p:bldP spid="855072" grpId="0" autoUpdateAnimBg="0"/>
      <p:bldP spid="855073" grpId="0" autoUpdateAnimBg="0"/>
      <p:bldP spid="855074" grpId="0" autoUpdateAnimBg="0"/>
      <p:bldP spid="855075" grpId="0" autoUpdateAnimBg="0"/>
      <p:bldP spid="85508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7A501AB4-0E00-B0AA-357F-E45E22E1A3DE}"/>
              </a:ext>
            </a:extLst>
          </p:cNvPr>
          <p:cNvSpPr>
            <a:spLocks noGrp="1" noChangeArrowheads="1"/>
          </p:cNvSpPr>
          <p:nvPr>
            <p:ph type="title"/>
          </p:nvPr>
        </p:nvSpPr>
        <p:spPr>
          <a:xfrm>
            <a:off x="1084263" y="152400"/>
            <a:ext cx="7772400" cy="1143000"/>
          </a:xfrm>
        </p:spPr>
        <p:txBody>
          <a:bodyPr/>
          <a:lstStyle/>
          <a:p>
            <a:r>
              <a:rPr lang="en-US" altLang="en-US"/>
              <a:t>Integrity Check Value - ICV</a:t>
            </a:r>
          </a:p>
        </p:txBody>
      </p:sp>
      <p:sp>
        <p:nvSpPr>
          <p:cNvPr id="854019" name="Rectangle 3">
            <a:extLst>
              <a:ext uri="{FF2B5EF4-FFF2-40B4-BE49-F238E27FC236}">
                <a16:creationId xmlns:a16="http://schemas.microsoft.com/office/drawing/2014/main" id="{73A913D5-98EC-4F16-780B-5819F6925E70}"/>
              </a:ext>
            </a:extLst>
          </p:cNvPr>
          <p:cNvSpPr>
            <a:spLocks noGrp="1" noChangeArrowheads="1"/>
          </p:cNvSpPr>
          <p:nvPr>
            <p:ph type="body" idx="1"/>
          </p:nvPr>
        </p:nvSpPr>
        <p:spPr>
          <a:xfrm>
            <a:off x="409575" y="1277938"/>
            <a:ext cx="8543925" cy="5229225"/>
          </a:xfrm>
        </p:spPr>
        <p:txBody>
          <a:bodyPr/>
          <a:lstStyle/>
          <a:p>
            <a:pPr>
              <a:defRPr/>
            </a:pPr>
            <a:r>
              <a:rPr lang="en-US" dirty="0"/>
              <a:t>Keyed Message authentication code (MAC) calculated over</a:t>
            </a:r>
          </a:p>
          <a:p>
            <a:pPr lvl="1">
              <a:defRPr/>
            </a:pPr>
            <a:r>
              <a:rPr lang="en-US" dirty="0"/>
              <a:t>IP header field that do not change or are predictable</a:t>
            </a:r>
          </a:p>
          <a:p>
            <a:pPr lvl="2">
              <a:defRPr/>
            </a:pPr>
            <a:r>
              <a:rPr lang="en-US" dirty="0"/>
              <a:t>Source IP address, destination IP, header length, etc.</a:t>
            </a:r>
          </a:p>
          <a:p>
            <a:pPr lvl="2">
              <a:defRPr/>
            </a:pPr>
            <a:r>
              <a:rPr lang="en-US" dirty="0"/>
              <a:t>Prevent spoofing</a:t>
            </a:r>
          </a:p>
          <a:p>
            <a:pPr lvl="2">
              <a:defRPr/>
            </a:pPr>
            <a:r>
              <a:rPr lang="en-US" dirty="0"/>
              <a:t>Mutable fields excluded: e.g., time-to-live (TTL), IP header checksum, etc.</a:t>
            </a:r>
          </a:p>
          <a:p>
            <a:pPr lvl="1">
              <a:defRPr/>
            </a:pPr>
            <a:r>
              <a:rPr lang="en-US" dirty="0"/>
              <a:t>IPSec protocol  header except the ICV value field</a:t>
            </a:r>
          </a:p>
          <a:p>
            <a:pPr lvl="1">
              <a:defRPr/>
            </a:pPr>
            <a:r>
              <a:rPr lang="en-US" dirty="0"/>
              <a:t>Upper-level data</a:t>
            </a:r>
          </a:p>
          <a:p>
            <a:pPr>
              <a:defRPr/>
            </a:pPr>
            <a:r>
              <a:rPr lang="en-US" dirty="0"/>
              <a:t>Code may be truncated to first 96 bits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575BFBE7-72CE-2021-5E0B-64518490A10A}"/>
              </a:ext>
            </a:extLst>
          </p:cNvPr>
          <p:cNvSpPr>
            <a:spLocks noGrp="1" noChangeArrowheads="1"/>
          </p:cNvSpPr>
          <p:nvPr>
            <p:ph type="title"/>
          </p:nvPr>
        </p:nvSpPr>
        <p:spPr>
          <a:xfrm>
            <a:off x="1166813" y="122238"/>
            <a:ext cx="7772400" cy="1143000"/>
          </a:xfrm>
        </p:spPr>
        <p:txBody>
          <a:bodyPr/>
          <a:lstStyle/>
          <a:p>
            <a:r>
              <a:rPr lang="en-US" altLang="en-US"/>
              <a:t>AH: Tunnel and Transport Mode</a:t>
            </a:r>
          </a:p>
        </p:txBody>
      </p:sp>
      <p:sp>
        <p:nvSpPr>
          <p:cNvPr id="904195" name="Rectangle 3">
            <a:extLst>
              <a:ext uri="{FF2B5EF4-FFF2-40B4-BE49-F238E27FC236}">
                <a16:creationId xmlns:a16="http://schemas.microsoft.com/office/drawing/2014/main" id="{515BE36B-6A78-D621-313B-9F42B52F8DCD}"/>
              </a:ext>
            </a:extLst>
          </p:cNvPr>
          <p:cNvSpPr>
            <a:spLocks noGrp="1" noChangeArrowheads="1"/>
          </p:cNvSpPr>
          <p:nvPr>
            <p:ph type="body" idx="1"/>
          </p:nvPr>
        </p:nvSpPr>
        <p:spPr>
          <a:xfrm>
            <a:off x="5380038" y="1595438"/>
            <a:ext cx="3763962" cy="4465637"/>
          </a:xfrm>
        </p:spPr>
        <p:txBody>
          <a:bodyPr/>
          <a:lstStyle/>
          <a:p>
            <a:pPr>
              <a:defRPr/>
            </a:pPr>
            <a:r>
              <a:rPr lang="en-US" dirty="0"/>
              <a:t>Original</a:t>
            </a:r>
          </a:p>
          <a:p>
            <a:pPr>
              <a:defRPr/>
            </a:pPr>
            <a:r>
              <a:rPr lang="en-US" dirty="0"/>
              <a:t>Transport Mode</a:t>
            </a:r>
          </a:p>
          <a:p>
            <a:pPr lvl="1">
              <a:defRPr/>
            </a:pPr>
            <a:r>
              <a:rPr lang="en-US" dirty="0"/>
              <a:t>Cover most of the original packet</a:t>
            </a:r>
          </a:p>
          <a:p>
            <a:pPr>
              <a:defRPr/>
            </a:pPr>
            <a:r>
              <a:rPr lang="en-US" dirty="0"/>
              <a:t>Tunnel Mode</a:t>
            </a:r>
          </a:p>
          <a:p>
            <a:pPr lvl="1">
              <a:defRPr/>
            </a:pPr>
            <a:r>
              <a:rPr lang="en-US" dirty="0"/>
              <a:t>Cover entire original packet</a:t>
            </a:r>
          </a:p>
        </p:txBody>
      </p:sp>
      <p:pic>
        <p:nvPicPr>
          <p:cNvPr id="72707" name="Picture 4">
            <a:extLst>
              <a:ext uri="{FF2B5EF4-FFF2-40B4-BE49-F238E27FC236}">
                <a16:creationId xmlns:a16="http://schemas.microsoft.com/office/drawing/2014/main" id="{1A449CA4-94EA-87CC-CBB3-0C6F7CFE2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7288"/>
            <a:ext cx="5053013"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8" name="Picture 5">
            <a:extLst>
              <a:ext uri="{FF2B5EF4-FFF2-40B4-BE49-F238E27FC236}">
                <a16:creationId xmlns:a16="http://schemas.microsoft.com/office/drawing/2014/main" id="{08991CFD-AF02-224E-5E51-370983E415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57488"/>
            <a:ext cx="5243513"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9">
            <a:extLst>
              <a:ext uri="{FF2B5EF4-FFF2-40B4-BE49-F238E27FC236}">
                <a16:creationId xmlns:a16="http://schemas.microsoft.com/office/drawing/2014/main" id="{18025FF1-E2FD-D78B-EE26-AB3968DAF5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862513"/>
            <a:ext cx="53498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4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41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041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419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04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419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8BF9E1E9-4E01-BA3D-A78F-FBF4845E0580}"/>
              </a:ext>
            </a:extLst>
          </p:cNvPr>
          <p:cNvSpPr>
            <a:spLocks noGrp="1" noChangeArrowheads="1"/>
          </p:cNvSpPr>
          <p:nvPr>
            <p:ph type="title"/>
          </p:nvPr>
        </p:nvSpPr>
        <p:spPr>
          <a:xfrm>
            <a:off x="471488" y="531813"/>
            <a:ext cx="8412162" cy="1143000"/>
          </a:xfrm>
        </p:spPr>
        <p:txBody>
          <a:bodyPr/>
          <a:lstStyle/>
          <a:p>
            <a:r>
              <a:rPr lang="en-AU" altLang="en-US" sz="4000"/>
              <a:t>Encapsulating Security Payload (ESP)</a:t>
            </a:r>
          </a:p>
        </p:txBody>
      </p:sp>
      <p:sp>
        <p:nvSpPr>
          <p:cNvPr id="908291" name="Rectangle 3">
            <a:extLst>
              <a:ext uri="{FF2B5EF4-FFF2-40B4-BE49-F238E27FC236}">
                <a16:creationId xmlns:a16="http://schemas.microsoft.com/office/drawing/2014/main" id="{5C61571A-3FC3-D778-7486-19B5EFB2EAD8}"/>
              </a:ext>
            </a:extLst>
          </p:cNvPr>
          <p:cNvSpPr>
            <a:spLocks noGrp="1" noChangeArrowheads="1"/>
          </p:cNvSpPr>
          <p:nvPr>
            <p:ph type="body" idx="1"/>
          </p:nvPr>
        </p:nvSpPr>
        <p:spPr>
          <a:xfrm>
            <a:off x="349250" y="1716088"/>
            <a:ext cx="8542338" cy="4830762"/>
          </a:xfrm>
        </p:spPr>
        <p:txBody>
          <a:bodyPr/>
          <a:lstStyle/>
          <a:p>
            <a:pPr>
              <a:defRPr/>
            </a:pPr>
            <a:r>
              <a:rPr lang="en-US" dirty="0"/>
              <a:t>Provide </a:t>
            </a:r>
            <a:r>
              <a:rPr lang="en-AU" dirty="0"/>
              <a:t>message content confidentiality</a:t>
            </a:r>
          </a:p>
          <a:p>
            <a:pPr>
              <a:defRPr/>
            </a:pPr>
            <a:r>
              <a:rPr lang="en-US" dirty="0"/>
              <a:t>Provide</a:t>
            </a:r>
            <a:r>
              <a:rPr lang="en-AU" dirty="0"/>
              <a:t> limited traffic flow confidentiality</a:t>
            </a:r>
          </a:p>
          <a:p>
            <a:pPr>
              <a:defRPr/>
            </a:pPr>
            <a:r>
              <a:rPr lang="en-US" dirty="0"/>
              <a:t>Can optionally </a:t>
            </a:r>
            <a:r>
              <a:rPr lang="en-AU" dirty="0"/>
              <a:t>provide the same authentication services as AH</a:t>
            </a:r>
          </a:p>
          <a:p>
            <a:pPr>
              <a:defRPr/>
            </a:pPr>
            <a:r>
              <a:rPr lang="en-US" dirty="0"/>
              <a:t>Supports range of ciphers, modes, padding</a:t>
            </a:r>
          </a:p>
          <a:p>
            <a:pPr lvl="1">
              <a:defRPr/>
            </a:pPr>
            <a:r>
              <a:rPr lang="en-US" dirty="0"/>
              <a:t>Incl. DES, Triple-DES, RC5, IDEA, CAST etc</a:t>
            </a:r>
          </a:p>
          <a:p>
            <a:pPr lvl="1">
              <a:defRPr/>
            </a:pPr>
            <a:r>
              <a:rPr lang="en-US"/>
              <a:t>Pad </a:t>
            </a:r>
            <a:r>
              <a:rPr lang="en-US" dirty="0"/>
              <a:t>to meet </a:t>
            </a:r>
            <a:r>
              <a:rPr lang="en-US" dirty="0" err="1"/>
              <a:t>blocksize</a:t>
            </a:r>
            <a:r>
              <a:rPr lang="en-US" dirty="0"/>
              <a:t>, for traffic flow</a:t>
            </a:r>
            <a:endParaRPr lang="en-AU" dirty="0"/>
          </a:p>
          <a:p>
            <a:pPr>
              <a:defRPr/>
            </a:pPr>
            <a:endParaRPr lang="en-AU"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9CB709D9-649C-A2CE-F0E7-72AA773A68E1}"/>
              </a:ext>
            </a:extLst>
          </p:cNvPr>
          <p:cNvSpPr>
            <a:spLocks noGrp="1" noChangeArrowheads="1"/>
          </p:cNvSpPr>
          <p:nvPr>
            <p:ph type="title"/>
          </p:nvPr>
        </p:nvSpPr>
        <p:spPr>
          <a:xfrm>
            <a:off x="1166813" y="122238"/>
            <a:ext cx="7772400" cy="1143000"/>
          </a:xfrm>
        </p:spPr>
        <p:txBody>
          <a:bodyPr/>
          <a:lstStyle/>
          <a:p>
            <a:r>
              <a:rPr lang="en-US" altLang="en-US"/>
              <a:t>ESP: Tunnel and Transport Mode</a:t>
            </a:r>
          </a:p>
        </p:txBody>
      </p:sp>
      <p:sp>
        <p:nvSpPr>
          <p:cNvPr id="907267" name="Rectangle 3">
            <a:extLst>
              <a:ext uri="{FF2B5EF4-FFF2-40B4-BE49-F238E27FC236}">
                <a16:creationId xmlns:a16="http://schemas.microsoft.com/office/drawing/2014/main" id="{826CA993-1335-E2BB-EDB9-6B2AF40EF776}"/>
              </a:ext>
            </a:extLst>
          </p:cNvPr>
          <p:cNvSpPr>
            <a:spLocks noGrp="1" noChangeArrowheads="1"/>
          </p:cNvSpPr>
          <p:nvPr>
            <p:ph type="body" idx="1"/>
          </p:nvPr>
        </p:nvSpPr>
        <p:spPr>
          <a:xfrm>
            <a:off x="5380038" y="1595438"/>
            <a:ext cx="3763962" cy="5099050"/>
          </a:xfrm>
        </p:spPr>
        <p:txBody>
          <a:bodyPr/>
          <a:lstStyle/>
          <a:p>
            <a:pPr>
              <a:lnSpc>
                <a:spcPct val="90000"/>
              </a:lnSpc>
              <a:defRPr/>
            </a:pPr>
            <a:r>
              <a:rPr lang="en-US"/>
              <a:t>Original</a:t>
            </a:r>
          </a:p>
          <a:p>
            <a:pPr>
              <a:lnSpc>
                <a:spcPct val="90000"/>
              </a:lnSpc>
              <a:defRPr/>
            </a:pPr>
            <a:endParaRPr lang="en-US"/>
          </a:p>
          <a:p>
            <a:pPr>
              <a:lnSpc>
                <a:spcPct val="90000"/>
              </a:lnSpc>
              <a:buFont typeface="Monotype Sorts" pitchFamily="2" charset="2"/>
              <a:buNone/>
              <a:defRPr/>
            </a:pPr>
            <a:endParaRPr lang="en-US"/>
          </a:p>
          <a:p>
            <a:pPr>
              <a:lnSpc>
                <a:spcPct val="90000"/>
              </a:lnSpc>
              <a:defRPr/>
            </a:pPr>
            <a:r>
              <a:rPr lang="en-US"/>
              <a:t>Transport Mode</a:t>
            </a:r>
          </a:p>
          <a:p>
            <a:pPr lvl="1">
              <a:lnSpc>
                <a:spcPct val="90000"/>
              </a:lnSpc>
              <a:defRPr/>
            </a:pPr>
            <a:r>
              <a:rPr lang="en-US"/>
              <a:t>Good for host to host traffic</a:t>
            </a:r>
          </a:p>
          <a:p>
            <a:pPr>
              <a:lnSpc>
                <a:spcPct val="90000"/>
              </a:lnSpc>
              <a:defRPr/>
            </a:pPr>
            <a:r>
              <a:rPr lang="en-US"/>
              <a:t>Tunnel Mode</a:t>
            </a:r>
          </a:p>
          <a:p>
            <a:pPr lvl="1">
              <a:lnSpc>
                <a:spcPct val="90000"/>
              </a:lnSpc>
              <a:defRPr/>
            </a:pPr>
            <a:r>
              <a:rPr lang="en-US"/>
              <a:t>Good for VPNs, gateway to gateway security</a:t>
            </a:r>
          </a:p>
        </p:txBody>
      </p:sp>
      <p:pic>
        <p:nvPicPr>
          <p:cNvPr id="74755" name="Picture 4">
            <a:extLst>
              <a:ext uri="{FF2B5EF4-FFF2-40B4-BE49-F238E27FC236}">
                <a16:creationId xmlns:a16="http://schemas.microsoft.com/office/drawing/2014/main" id="{67281CA5-B103-FEDF-1DCB-B8B1F6920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7288"/>
            <a:ext cx="5053013"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6" name="Picture 7">
            <a:extLst>
              <a:ext uri="{FF2B5EF4-FFF2-40B4-BE49-F238E27FC236}">
                <a16:creationId xmlns:a16="http://schemas.microsoft.com/office/drawing/2014/main" id="{F6E1C542-CAE8-33AF-F336-C0DA9D859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09900"/>
            <a:ext cx="5130800"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8">
            <a:extLst>
              <a:ext uri="{FF2B5EF4-FFF2-40B4-BE49-F238E27FC236}">
                <a16:creationId xmlns:a16="http://schemas.microsoft.com/office/drawing/2014/main" id="{15E823A2-870D-259C-5721-B21C3454C1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070475"/>
            <a:ext cx="5257800" cy="140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0BF02DAE-7024-86D5-E684-3237D3F29261}"/>
              </a:ext>
            </a:extLst>
          </p:cNvPr>
          <p:cNvSpPr>
            <a:spLocks noGrp="1" noChangeArrowheads="1"/>
          </p:cNvSpPr>
          <p:nvPr>
            <p:ph type="title"/>
          </p:nvPr>
        </p:nvSpPr>
        <p:spPr>
          <a:xfrm>
            <a:off x="1047750" y="0"/>
            <a:ext cx="7772400" cy="1143000"/>
          </a:xfrm>
        </p:spPr>
        <p:txBody>
          <a:bodyPr/>
          <a:lstStyle/>
          <a:p>
            <a:r>
              <a:rPr lang="en-US" altLang="en-US"/>
              <a:t>Outbound Packet Processing</a:t>
            </a:r>
          </a:p>
        </p:txBody>
      </p:sp>
      <p:sp>
        <p:nvSpPr>
          <p:cNvPr id="857091" name="Rectangle 3">
            <a:extLst>
              <a:ext uri="{FF2B5EF4-FFF2-40B4-BE49-F238E27FC236}">
                <a16:creationId xmlns:a16="http://schemas.microsoft.com/office/drawing/2014/main" id="{B59B3BF8-FFA2-7B1F-E93E-4B9C0FAEA44B}"/>
              </a:ext>
            </a:extLst>
          </p:cNvPr>
          <p:cNvSpPr>
            <a:spLocks noGrp="1" noChangeArrowheads="1"/>
          </p:cNvSpPr>
          <p:nvPr>
            <p:ph type="body" idx="1"/>
          </p:nvPr>
        </p:nvSpPr>
        <p:spPr>
          <a:xfrm>
            <a:off x="234950" y="1014413"/>
            <a:ext cx="8628063" cy="5843587"/>
          </a:xfrm>
        </p:spPr>
        <p:txBody>
          <a:bodyPr/>
          <a:lstStyle/>
          <a:p>
            <a:pPr>
              <a:defRPr/>
            </a:pPr>
            <a:r>
              <a:rPr lang="en-US"/>
              <a:t>Form ESP header</a:t>
            </a:r>
          </a:p>
          <a:p>
            <a:pPr lvl="1">
              <a:defRPr/>
            </a:pPr>
            <a:r>
              <a:rPr lang="en-US"/>
              <a:t>Security parameter index (SPI)</a:t>
            </a:r>
          </a:p>
          <a:p>
            <a:pPr lvl="1">
              <a:defRPr/>
            </a:pPr>
            <a:r>
              <a:rPr lang="en-US"/>
              <a:t>Sequence number</a:t>
            </a:r>
          </a:p>
          <a:p>
            <a:pPr>
              <a:defRPr/>
            </a:pPr>
            <a:r>
              <a:rPr lang="en-US"/>
              <a:t>Pad as necessary</a:t>
            </a:r>
          </a:p>
          <a:p>
            <a:pPr>
              <a:defRPr/>
            </a:pPr>
            <a:r>
              <a:rPr lang="en-US"/>
              <a:t>Encrypt result [payload, padding, pad length, next header]</a:t>
            </a:r>
          </a:p>
          <a:p>
            <a:pPr>
              <a:defRPr/>
            </a:pPr>
            <a:r>
              <a:rPr lang="en-US"/>
              <a:t>Apply authentication (optional)</a:t>
            </a:r>
          </a:p>
          <a:p>
            <a:pPr lvl="1">
              <a:defRPr/>
            </a:pPr>
            <a:r>
              <a:rPr lang="en-US"/>
              <a:t>Allow rapid detection of replayed/bogus packets</a:t>
            </a:r>
          </a:p>
          <a:p>
            <a:pPr lvl="1">
              <a:defRPr/>
            </a:pPr>
            <a:r>
              <a:rPr lang="en-US"/>
              <a:t>Integrity Check Value (ICV) includes whole ESP packet minus </a:t>
            </a:r>
            <a:r>
              <a:rPr lang="en-US" i="1"/>
              <a:t>authentication data</a:t>
            </a:r>
            <a:r>
              <a:rPr lang="en-US"/>
              <a:t> field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70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70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70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5709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5709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57091">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57091">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570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AutoShape 2">
            <a:extLst>
              <a:ext uri="{FF2B5EF4-FFF2-40B4-BE49-F238E27FC236}">
                <a16:creationId xmlns:a16="http://schemas.microsoft.com/office/drawing/2014/main" id="{4371B6AA-1169-727B-146C-ABA057CA55E5}"/>
              </a:ext>
            </a:extLst>
          </p:cNvPr>
          <p:cNvSpPr>
            <a:spLocks noChangeArrowheads="1"/>
          </p:cNvSpPr>
          <p:nvPr/>
        </p:nvSpPr>
        <p:spPr bwMode="auto">
          <a:xfrm>
            <a:off x="2286000" y="381000"/>
            <a:ext cx="6019800" cy="6324600"/>
          </a:xfrm>
          <a:prstGeom prst="cube">
            <a:avLst>
              <a:gd name="adj" fmla="val 4051"/>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59139" name="Rectangle 3">
            <a:extLst>
              <a:ext uri="{FF2B5EF4-FFF2-40B4-BE49-F238E27FC236}">
                <a16:creationId xmlns:a16="http://schemas.microsoft.com/office/drawing/2014/main" id="{5A18005F-7BB6-4B77-2ACE-B1EC4C2D673C}"/>
              </a:ext>
            </a:extLst>
          </p:cNvPr>
          <p:cNvSpPr>
            <a:spLocks noChangeArrowheads="1"/>
          </p:cNvSpPr>
          <p:nvPr/>
        </p:nvSpPr>
        <p:spPr bwMode="auto">
          <a:xfrm>
            <a:off x="2286000" y="609600"/>
            <a:ext cx="5791200" cy="6096000"/>
          </a:xfrm>
          <a:prstGeom prst="rect">
            <a:avLst/>
          </a:prstGeom>
          <a:solidFill>
            <a:schemeClr val="accent1"/>
          </a:solidFill>
          <a:ln w="12700" cap="sq">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6803" name="Rectangle 4">
            <a:extLst>
              <a:ext uri="{FF2B5EF4-FFF2-40B4-BE49-F238E27FC236}">
                <a16:creationId xmlns:a16="http://schemas.microsoft.com/office/drawing/2014/main" id="{B3B99726-1023-9351-353B-682C28753B2F}"/>
              </a:ext>
            </a:extLst>
          </p:cNvPr>
          <p:cNvSpPr>
            <a:spLocks noChangeArrowheads="1"/>
          </p:cNvSpPr>
          <p:nvPr/>
        </p:nvSpPr>
        <p:spPr bwMode="auto">
          <a:xfrm>
            <a:off x="2286000" y="1219200"/>
            <a:ext cx="5791200" cy="609600"/>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400" b="1">
              <a:latin typeface="Arial" panose="020B0604020202020204" pitchFamily="34" charset="0"/>
            </a:endParaRPr>
          </a:p>
        </p:txBody>
      </p:sp>
      <p:sp>
        <p:nvSpPr>
          <p:cNvPr id="76804" name="Rectangle 5">
            <a:extLst>
              <a:ext uri="{FF2B5EF4-FFF2-40B4-BE49-F238E27FC236}">
                <a16:creationId xmlns:a16="http://schemas.microsoft.com/office/drawing/2014/main" id="{855AC7AF-CDC0-C9A4-ADF6-87513E74A1B7}"/>
              </a:ext>
            </a:extLst>
          </p:cNvPr>
          <p:cNvSpPr>
            <a:spLocks noChangeArrowheads="1"/>
          </p:cNvSpPr>
          <p:nvPr/>
        </p:nvSpPr>
        <p:spPr bwMode="auto">
          <a:xfrm>
            <a:off x="2286000" y="1828800"/>
            <a:ext cx="5791200" cy="609600"/>
          </a:xfrm>
          <a:prstGeom prst="rect">
            <a:avLst/>
          </a:prstGeom>
          <a:noFill/>
          <a:ln w="12700"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400" b="1">
              <a:latin typeface="Arial" panose="020B0604020202020204" pitchFamily="34" charset="0"/>
            </a:endParaRPr>
          </a:p>
        </p:txBody>
      </p:sp>
      <p:sp>
        <p:nvSpPr>
          <p:cNvPr id="76805" name="Rectangle 6">
            <a:extLst>
              <a:ext uri="{FF2B5EF4-FFF2-40B4-BE49-F238E27FC236}">
                <a16:creationId xmlns:a16="http://schemas.microsoft.com/office/drawing/2014/main" id="{7DF5D875-B9C6-1306-8637-7ECA0141FC77}"/>
              </a:ext>
            </a:extLst>
          </p:cNvPr>
          <p:cNvSpPr>
            <a:spLocks noChangeArrowheads="1"/>
          </p:cNvSpPr>
          <p:nvPr/>
        </p:nvSpPr>
        <p:spPr bwMode="auto">
          <a:xfrm>
            <a:off x="2286000" y="609600"/>
            <a:ext cx="5791200" cy="609600"/>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400" b="1">
              <a:latin typeface="Arial" panose="020B0604020202020204" pitchFamily="34" charset="0"/>
            </a:endParaRPr>
          </a:p>
        </p:txBody>
      </p:sp>
      <p:sp>
        <p:nvSpPr>
          <p:cNvPr id="859143" name="Rectangle 7">
            <a:extLst>
              <a:ext uri="{FF2B5EF4-FFF2-40B4-BE49-F238E27FC236}">
                <a16:creationId xmlns:a16="http://schemas.microsoft.com/office/drawing/2014/main" id="{4D743571-ABF4-79EF-C43A-6F0C18218676}"/>
              </a:ext>
            </a:extLst>
          </p:cNvPr>
          <p:cNvSpPr>
            <a:spLocks noChangeArrowheads="1"/>
          </p:cNvSpPr>
          <p:nvPr/>
        </p:nvSpPr>
        <p:spPr bwMode="auto">
          <a:xfrm>
            <a:off x="4724400" y="1295400"/>
            <a:ext cx="674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latin typeface="Arial" panose="020B0604020202020204" pitchFamily="34" charset="0"/>
              </a:rPr>
              <a:t>SPI</a:t>
            </a:r>
          </a:p>
        </p:txBody>
      </p:sp>
      <p:sp>
        <p:nvSpPr>
          <p:cNvPr id="859144" name="Rectangle 8">
            <a:extLst>
              <a:ext uri="{FF2B5EF4-FFF2-40B4-BE49-F238E27FC236}">
                <a16:creationId xmlns:a16="http://schemas.microsoft.com/office/drawing/2014/main" id="{D68C4E0B-B7BF-4B23-6503-DDD4562F8A3A}"/>
              </a:ext>
            </a:extLst>
          </p:cNvPr>
          <p:cNvSpPr>
            <a:spLocks noChangeArrowheads="1"/>
          </p:cNvSpPr>
          <p:nvPr/>
        </p:nvSpPr>
        <p:spPr bwMode="auto">
          <a:xfrm>
            <a:off x="3733800" y="1905000"/>
            <a:ext cx="286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latin typeface="Arial" panose="020B0604020202020204" pitchFamily="34" charset="0"/>
              </a:rPr>
              <a:t>Sequence Number</a:t>
            </a:r>
          </a:p>
        </p:txBody>
      </p:sp>
      <p:sp>
        <p:nvSpPr>
          <p:cNvPr id="859145" name="Rectangle 9">
            <a:extLst>
              <a:ext uri="{FF2B5EF4-FFF2-40B4-BE49-F238E27FC236}">
                <a16:creationId xmlns:a16="http://schemas.microsoft.com/office/drawing/2014/main" id="{A66DF610-4ECE-FC55-1B66-00EC642C7C3D}"/>
              </a:ext>
            </a:extLst>
          </p:cNvPr>
          <p:cNvSpPr>
            <a:spLocks noChangeArrowheads="1"/>
          </p:cNvSpPr>
          <p:nvPr/>
        </p:nvSpPr>
        <p:spPr bwMode="auto">
          <a:xfrm>
            <a:off x="2286000" y="685800"/>
            <a:ext cx="579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2400" b="1">
                <a:latin typeface="Arial" panose="020B0604020202020204" pitchFamily="34" charset="0"/>
              </a:rPr>
              <a:t>Original IP Header</a:t>
            </a:r>
          </a:p>
        </p:txBody>
      </p:sp>
      <p:sp>
        <p:nvSpPr>
          <p:cNvPr id="859146" name="Line 10">
            <a:extLst>
              <a:ext uri="{FF2B5EF4-FFF2-40B4-BE49-F238E27FC236}">
                <a16:creationId xmlns:a16="http://schemas.microsoft.com/office/drawing/2014/main" id="{33286E90-4333-67D6-8107-6E6A7DC878A7}"/>
              </a:ext>
            </a:extLst>
          </p:cNvPr>
          <p:cNvSpPr>
            <a:spLocks noChangeShapeType="1"/>
          </p:cNvSpPr>
          <p:nvPr/>
        </p:nvSpPr>
        <p:spPr bwMode="auto">
          <a:xfrm flipV="1">
            <a:off x="8077200" y="28194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47" name="Line 11">
            <a:extLst>
              <a:ext uri="{FF2B5EF4-FFF2-40B4-BE49-F238E27FC236}">
                <a16:creationId xmlns:a16="http://schemas.microsoft.com/office/drawing/2014/main" id="{2E42C40D-95E5-3D59-C281-A0751C9683E9}"/>
              </a:ext>
            </a:extLst>
          </p:cNvPr>
          <p:cNvSpPr>
            <a:spLocks noChangeShapeType="1"/>
          </p:cNvSpPr>
          <p:nvPr/>
        </p:nvSpPr>
        <p:spPr bwMode="auto">
          <a:xfrm flipV="1">
            <a:off x="8077200" y="34290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48" name="Line 12">
            <a:extLst>
              <a:ext uri="{FF2B5EF4-FFF2-40B4-BE49-F238E27FC236}">
                <a16:creationId xmlns:a16="http://schemas.microsoft.com/office/drawing/2014/main" id="{03F6AC39-C594-8DCF-5D48-19A2F6191339}"/>
              </a:ext>
            </a:extLst>
          </p:cNvPr>
          <p:cNvSpPr>
            <a:spLocks noChangeShapeType="1"/>
          </p:cNvSpPr>
          <p:nvPr/>
        </p:nvSpPr>
        <p:spPr bwMode="auto">
          <a:xfrm flipV="1">
            <a:off x="8077200" y="22098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49" name="Line 13">
            <a:extLst>
              <a:ext uri="{FF2B5EF4-FFF2-40B4-BE49-F238E27FC236}">
                <a16:creationId xmlns:a16="http://schemas.microsoft.com/office/drawing/2014/main" id="{24B10A84-7F4E-DDA3-3551-C845FE4E9D0F}"/>
              </a:ext>
            </a:extLst>
          </p:cNvPr>
          <p:cNvSpPr>
            <a:spLocks noChangeShapeType="1"/>
          </p:cNvSpPr>
          <p:nvPr/>
        </p:nvSpPr>
        <p:spPr bwMode="auto">
          <a:xfrm flipV="1">
            <a:off x="8077200" y="16002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0" name="Line 14">
            <a:extLst>
              <a:ext uri="{FF2B5EF4-FFF2-40B4-BE49-F238E27FC236}">
                <a16:creationId xmlns:a16="http://schemas.microsoft.com/office/drawing/2014/main" id="{C26E7397-7F30-1952-DD4D-F401FF8DF56D}"/>
              </a:ext>
            </a:extLst>
          </p:cNvPr>
          <p:cNvSpPr>
            <a:spLocks noChangeShapeType="1"/>
          </p:cNvSpPr>
          <p:nvPr/>
        </p:nvSpPr>
        <p:spPr bwMode="auto">
          <a:xfrm flipV="1">
            <a:off x="8077200" y="9906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76814" name="Rectangle 15">
            <a:extLst>
              <a:ext uri="{FF2B5EF4-FFF2-40B4-BE49-F238E27FC236}">
                <a16:creationId xmlns:a16="http://schemas.microsoft.com/office/drawing/2014/main" id="{0851E15A-B8BF-850F-A746-E5A0EDCB5488}"/>
              </a:ext>
            </a:extLst>
          </p:cNvPr>
          <p:cNvSpPr>
            <a:spLocks noChangeArrowheads="1"/>
          </p:cNvSpPr>
          <p:nvPr/>
        </p:nvSpPr>
        <p:spPr bwMode="auto">
          <a:xfrm>
            <a:off x="2286000" y="4876800"/>
            <a:ext cx="5791200" cy="1828800"/>
          </a:xfrm>
          <a:prstGeom prst="rect">
            <a:avLst/>
          </a:prstGeom>
          <a:solidFill>
            <a:schemeClr val="accent1"/>
          </a:solidFill>
          <a:ln w="12700" cap="sq">
            <a:solidFill>
              <a:srgbClr val="000000"/>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600" b="1">
              <a:latin typeface="Arial" panose="020B0604020202020204" pitchFamily="34" charset="0"/>
            </a:endParaRPr>
          </a:p>
        </p:txBody>
      </p:sp>
      <p:sp>
        <p:nvSpPr>
          <p:cNvPr id="859152" name="Rectangle 16">
            <a:extLst>
              <a:ext uri="{FF2B5EF4-FFF2-40B4-BE49-F238E27FC236}">
                <a16:creationId xmlns:a16="http://schemas.microsoft.com/office/drawing/2014/main" id="{FDA64C7F-217C-4C69-6236-F4701A171C18}"/>
              </a:ext>
            </a:extLst>
          </p:cNvPr>
          <p:cNvSpPr>
            <a:spLocks noChangeArrowheads="1"/>
          </p:cNvSpPr>
          <p:nvPr/>
        </p:nvSpPr>
        <p:spPr bwMode="auto">
          <a:xfrm>
            <a:off x="3281363" y="5500688"/>
            <a:ext cx="38052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800" b="1">
                <a:latin typeface="Arial" panose="020B0604020202020204" pitchFamily="34" charset="0"/>
              </a:rPr>
              <a:t>Integrity Check Value</a:t>
            </a:r>
          </a:p>
        </p:txBody>
      </p:sp>
      <p:sp>
        <p:nvSpPr>
          <p:cNvPr id="859153" name="Line 17">
            <a:extLst>
              <a:ext uri="{FF2B5EF4-FFF2-40B4-BE49-F238E27FC236}">
                <a16:creationId xmlns:a16="http://schemas.microsoft.com/office/drawing/2014/main" id="{DE832C92-A238-6842-5811-897BAF517CE0}"/>
              </a:ext>
            </a:extLst>
          </p:cNvPr>
          <p:cNvSpPr>
            <a:spLocks noChangeShapeType="1"/>
          </p:cNvSpPr>
          <p:nvPr/>
        </p:nvSpPr>
        <p:spPr bwMode="auto">
          <a:xfrm flipV="1">
            <a:off x="8077200" y="52578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4" name="Line 18">
            <a:extLst>
              <a:ext uri="{FF2B5EF4-FFF2-40B4-BE49-F238E27FC236}">
                <a16:creationId xmlns:a16="http://schemas.microsoft.com/office/drawing/2014/main" id="{84E19FB2-B641-B5AF-658E-155BE42FF177}"/>
              </a:ext>
            </a:extLst>
          </p:cNvPr>
          <p:cNvSpPr>
            <a:spLocks noChangeShapeType="1"/>
          </p:cNvSpPr>
          <p:nvPr/>
        </p:nvSpPr>
        <p:spPr bwMode="auto">
          <a:xfrm flipV="1">
            <a:off x="8077200" y="58674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5" name="Line 19">
            <a:extLst>
              <a:ext uri="{FF2B5EF4-FFF2-40B4-BE49-F238E27FC236}">
                <a16:creationId xmlns:a16="http://schemas.microsoft.com/office/drawing/2014/main" id="{09E2C2EF-021A-E106-A278-B7FA98C6E6FF}"/>
              </a:ext>
            </a:extLst>
          </p:cNvPr>
          <p:cNvSpPr>
            <a:spLocks noChangeShapeType="1"/>
          </p:cNvSpPr>
          <p:nvPr/>
        </p:nvSpPr>
        <p:spPr bwMode="auto">
          <a:xfrm>
            <a:off x="2286000" y="54864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6" name="Line 20">
            <a:extLst>
              <a:ext uri="{FF2B5EF4-FFF2-40B4-BE49-F238E27FC236}">
                <a16:creationId xmlns:a16="http://schemas.microsoft.com/office/drawing/2014/main" id="{73154DE5-DC29-D52D-FC4B-18052CDCD94D}"/>
              </a:ext>
            </a:extLst>
          </p:cNvPr>
          <p:cNvSpPr>
            <a:spLocks noChangeShapeType="1"/>
          </p:cNvSpPr>
          <p:nvPr/>
        </p:nvSpPr>
        <p:spPr bwMode="auto">
          <a:xfrm>
            <a:off x="2286000" y="60960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7" name="Line 21">
            <a:extLst>
              <a:ext uri="{FF2B5EF4-FFF2-40B4-BE49-F238E27FC236}">
                <a16:creationId xmlns:a16="http://schemas.microsoft.com/office/drawing/2014/main" id="{3ABFF443-0136-C5A0-C480-154EB4411092}"/>
              </a:ext>
            </a:extLst>
          </p:cNvPr>
          <p:cNvSpPr>
            <a:spLocks noChangeShapeType="1"/>
          </p:cNvSpPr>
          <p:nvPr/>
        </p:nvSpPr>
        <p:spPr bwMode="auto">
          <a:xfrm>
            <a:off x="7848600" y="54864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8" name="Line 22">
            <a:extLst>
              <a:ext uri="{FF2B5EF4-FFF2-40B4-BE49-F238E27FC236}">
                <a16:creationId xmlns:a16="http://schemas.microsoft.com/office/drawing/2014/main" id="{A791E8EB-90A4-D769-33AD-E160F9EAFCE5}"/>
              </a:ext>
            </a:extLst>
          </p:cNvPr>
          <p:cNvSpPr>
            <a:spLocks noChangeShapeType="1"/>
          </p:cNvSpPr>
          <p:nvPr/>
        </p:nvSpPr>
        <p:spPr bwMode="auto">
          <a:xfrm>
            <a:off x="7848600" y="60960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59" name="Freeform 23">
            <a:extLst>
              <a:ext uri="{FF2B5EF4-FFF2-40B4-BE49-F238E27FC236}">
                <a16:creationId xmlns:a16="http://schemas.microsoft.com/office/drawing/2014/main" id="{EE09D8A4-6A50-6D60-754A-DC40BF21CC92}"/>
              </a:ext>
            </a:extLst>
          </p:cNvPr>
          <p:cNvSpPr>
            <a:spLocks/>
          </p:cNvSpPr>
          <p:nvPr/>
        </p:nvSpPr>
        <p:spPr bwMode="auto">
          <a:xfrm>
            <a:off x="8077200" y="2209800"/>
            <a:ext cx="228600" cy="2667000"/>
          </a:xfrm>
          <a:custGeom>
            <a:avLst/>
            <a:gdLst/>
            <a:ahLst/>
            <a:cxnLst>
              <a:cxn ang="0">
                <a:pos x="0" y="2064"/>
              </a:cxn>
              <a:cxn ang="0">
                <a:pos x="144" y="1920"/>
              </a:cxn>
              <a:cxn ang="0">
                <a:pos x="144" y="0"/>
              </a:cxn>
              <a:cxn ang="0">
                <a:pos x="0" y="144"/>
              </a:cxn>
              <a:cxn ang="0">
                <a:pos x="0" y="2064"/>
              </a:cxn>
            </a:cxnLst>
            <a:rect l="0" t="0" r="r" b="b"/>
            <a:pathLst>
              <a:path w="144" h="2064">
                <a:moveTo>
                  <a:pt x="0" y="2064"/>
                </a:moveTo>
                <a:lnTo>
                  <a:pt x="144" y="1920"/>
                </a:lnTo>
                <a:lnTo>
                  <a:pt x="144" y="0"/>
                </a:lnTo>
                <a:lnTo>
                  <a:pt x="0" y="144"/>
                </a:lnTo>
                <a:lnTo>
                  <a:pt x="0" y="2064"/>
                </a:lnTo>
                <a:close/>
              </a:path>
            </a:pathLst>
          </a:custGeom>
          <a:solidFill>
            <a:srgbClr val="A85822"/>
          </a:solidFill>
          <a:ln w="12700" cap="sq" cmpd="sng">
            <a:solidFill>
              <a:srgbClr val="808080"/>
            </a:solidFill>
            <a:prstDash val="solid"/>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0" name="Line 24">
            <a:extLst>
              <a:ext uri="{FF2B5EF4-FFF2-40B4-BE49-F238E27FC236}">
                <a16:creationId xmlns:a16="http://schemas.microsoft.com/office/drawing/2014/main" id="{D86156CB-A9EE-BAA5-8AF3-3A361083EDF8}"/>
              </a:ext>
            </a:extLst>
          </p:cNvPr>
          <p:cNvSpPr>
            <a:spLocks noChangeShapeType="1"/>
          </p:cNvSpPr>
          <p:nvPr/>
        </p:nvSpPr>
        <p:spPr bwMode="auto">
          <a:xfrm>
            <a:off x="1752600" y="1295400"/>
            <a:ext cx="1588" cy="3581400"/>
          </a:xfrm>
          <a:prstGeom prst="line">
            <a:avLst/>
          </a:prstGeom>
          <a:noFill/>
          <a:ln w="38100" cap="sq">
            <a:solidFill>
              <a:schemeClr val="tx1"/>
            </a:solidFill>
            <a:round/>
            <a:headEnd type="triangl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1" name="Text Box 25">
            <a:extLst>
              <a:ext uri="{FF2B5EF4-FFF2-40B4-BE49-F238E27FC236}">
                <a16:creationId xmlns:a16="http://schemas.microsoft.com/office/drawing/2014/main" id="{35D40576-B856-8B93-DC01-074FAE266681}"/>
              </a:ext>
            </a:extLst>
          </p:cNvPr>
          <p:cNvSpPr txBox="1">
            <a:spLocks noChangeArrowheads="1"/>
          </p:cNvSpPr>
          <p:nvPr/>
        </p:nvSpPr>
        <p:spPr bwMode="auto">
          <a:xfrm rot="-5400000">
            <a:off x="338931" y="2632869"/>
            <a:ext cx="25542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600" b="1">
                <a:latin typeface="Arial" panose="020B0604020202020204" pitchFamily="34" charset="0"/>
              </a:rPr>
              <a:t>Authentication coverage</a:t>
            </a:r>
          </a:p>
        </p:txBody>
      </p:sp>
      <p:sp>
        <p:nvSpPr>
          <p:cNvPr id="859162" name="Line 26">
            <a:extLst>
              <a:ext uri="{FF2B5EF4-FFF2-40B4-BE49-F238E27FC236}">
                <a16:creationId xmlns:a16="http://schemas.microsoft.com/office/drawing/2014/main" id="{97D1BEF1-5ADE-5D22-8535-30F897FB1FD9}"/>
              </a:ext>
            </a:extLst>
          </p:cNvPr>
          <p:cNvSpPr>
            <a:spLocks noChangeShapeType="1"/>
          </p:cNvSpPr>
          <p:nvPr/>
        </p:nvSpPr>
        <p:spPr bwMode="auto">
          <a:xfrm>
            <a:off x="2103438" y="2438400"/>
            <a:ext cx="0" cy="2438400"/>
          </a:xfrm>
          <a:prstGeom prst="line">
            <a:avLst/>
          </a:prstGeom>
          <a:noFill/>
          <a:ln w="38100" cap="sq">
            <a:solidFill>
              <a:schemeClr val="tx1"/>
            </a:solidFill>
            <a:round/>
            <a:headEnd type="triangle" w="sm" len="sm"/>
            <a:tailEnd type="triangl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3" name="Text Box 27">
            <a:extLst>
              <a:ext uri="{FF2B5EF4-FFF2-40B4-BE49-F238E27FC236}">
                <a16:creationId xmlns:a16="http://schemas.microsoft.com/office/drawing/2014/main" id="{EA0CC9B2-DFAB-E395-CD41-3B24DBD59958}"/>
              </a:ext>
            </a:extLst>
          </p:cNvPr>
          <p:cNvSpPr txBox="1">
            <a:spLocks noChangeArrowheads="1"/>
          </p:cNvSpPr>
          <p:nvPr/>
        </p:nvSpPr>
        <p:spPr bwMode="auto">
          <a:xfrm rot="-5400000">
            <a:off x="1377156" y="3320257"/>
            <a:ext cx="11763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600" b="1">
                <a:latin typeface="Arial" panose="020B0604020202020204" pitchFamily="34" charset="0"/>
              </a:rPr>
              <a:t>Encrypted</a:t>
            </a:r>
          </a:p>
        </p:txBody>
      </p:sp>
      <p:sp>
        <p:nvSpPr>
          <p:cNvPr id="859164" name="Line 28">
            <a:extLst>
              <a:ext uri="{FF2B5EF4-FFF2-40B4-BE49-F238E27FC236}">
                <a16:creationId xmlns:a16="http://schemas.microsoft.com/office/drawing/2014/main" id="{1A0A8D10-51B7-08C7-0E12-B05F6D3B2676}"/>
              </a:ext>
            </a:extLst>
          </p:cNvPr>
          <p:cNvSpPr>
            <a:spLocks noChangeShapeType="1"/>
          </p:cNvSpPr>
          <p:nvPr/>
        </p:nvSpPr>
        <p:spPr bwMode="auto">
          <a:xfrm flipV="1">
            <a:off x="8077200" y="40386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5" name="Line 29">
            <a:extLst>
              <a:ext uri="{FF2B5EF4-FFF2-40B4-BE49-F238E27FC236}">
                <a16:creationId xmlns:a16="http://schemas.microsoft.com/office/drawing/2014/main" id="{5AF42D54-D3C1-5915-5C12-77832E4CA3CE}"/>
              </a:ext>
            </a:extLst>
          </p:cNvPr>
          <p:cNvSpPr>
            <a:spLocks noChangeShapeType="1"/>
          </p:cNvSpPr>
          <p:nvPr/>
        </p:nvSpPr>
        <p:spPr bwMode="auto">
          <a:xfrm flipV="1">
            <a:off x="8077200" y="46482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6" name="Line 30">
            <a:extLst>
              <a:ext uri="{FF2B5EF4-FFF2-40B4-BE49-F238E27FC236}">
                <a16:creationId xmlns:a16="http://schemas.microsoft.com/office/drawing/2014/main" id="{A845EEF0-C991-5D31-E59F-C33BB04277D4}"/>
              </a:ext>
            </a:extLst>
          </p:cNvPr>
          <p:cNvSpPr>
            <a:spLocks noChangeShapeType="1"/>
          </p:cNvSpPr>
          <p:nvPr/>
        </p:nvSpPr>
        <p:spPr bwMode="auto">
          <a:xfrm flipV="1">
            <a:off x="8077200" y="28194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7" name="Line 31">
            <a:extLst>
              <a:ext uri="{FF2B5EF4-FFF2-40B4-BE49-F238E27FC236}">
                <a16:creationId xmlns:a16="http://schemas.microsoft.com/office/drawing/2014/main" id="{627ED423-7F74-5916-8CB7-30D0EDF5B3CE}"/>
              </a:ext>
            </a:extLst>
          </p:cNvPr>
          <p:cNvSpPr>
            <a:spLocks noChangeShapeType="1"/>
          </p:cNvSpPr>
          <p:nvPr/>
        </p:nvSpPr>
        <p:spPr bwMode="auto">
          <a:xfrm flipV="1">
            <a:off x="8077200" y="34290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8" name="Line 32">
            <a:extLst>
              <a:ext uri="{FF2B5EF4-FFF2-40B4-BE49-F238E27FC236}">
                <a16:creationId xmlns:a16="http://schemas.microsoft.com/office/drawing/2014/main" id="{B55C334F-5009-4CBA-CB76-B4D0F6730D47}"/>
              </a:ext>
            </a:extLst>
          </p:cNvPr>
          <p:cNvSpPr>
            <a:spLocks noChangeShapeType="1"/>
          </p:cNvSpPr>
          <p:nvPr/>
        </p:nvSpPr>
        <p:spPr bwMode="auto">
          <a:xfrm flipV="1">
            <a:off x="8077200" y="22098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69" name="Line 33">
            <a:extLst>
              <a:ext uri="{FF2B5EF4-FFF2-40B4-BE49-F238E27FC236}">
                <a16:creationId xmlns:a16="http://schemas.microsoft.com/office/drawing/2014/main" id="{F9E8EB56-E3BB-AF42-A29F-7F63F5B13603}"/>
              </a:ext>
            </a:extLst>
          </p:cNvPr>
          <p:cNvSpPr>
            <a:spLocks noChangeShapeType="1"/>
          </p:cNvSpPr>
          <p:nvPr/>
        </p:nvSpPr>
        <p:spPr bwMode="auto">
          <a:xfrm flipV="1">
            <a:off x="8077200" y="2209800"/>
            <a:ext cx="228600" cy="228600"/>
          </a:xfrm>
          <a:prstGeom prst="line">
            <a:avLst/>
          </a:prstGeom>
          <a:noFill/>
          <a:ln w="12700" cap="sq">
            <a:solidFill>
              <a:srgbClr val="80808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70" name="Rectangle 34">
            <a:extLst>
              <a:ext uri="{FF2B5EF4-FFF2-40B4-BE49-F238E27FC236}">
                <a16:creationId xmlns:a16="http://schemas.microsoft.com/office/drawing/2014/main" id="{D87DF40D-A25B-E843-AFA3-35EEB38370B3}"/>
              </a:ext>
            </a:extLst>
          </p:cNvPr>
          <p:cNvSpPr>
            <a:spLocks noChangeArrowheads="1"/>
          </p:cNvSpPr>
          <p:nvPr/>
        </p:nvSpPr>
        <p:spPr bwMode="auto">
          <a:xfrm>
            <a:off x="2286000" y="2438400"/>
            <a:ext cx="5791200" cy="2438400"/>
          </a:xfrm>
          <a:prstGeom prst="rect">
            <a:avLst/>
          </a:prstGeom>
          <a:solidFill>
            <a:srgbClr val="FF6600"/>
          </a:solidFill>
          <a:ln w="12700" cap="sq">
            <a:solidFill>
              <a:srgbClr val="000000"/>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76834" name="Rectangle 35">
            <a:extLst>
              <a:ext uri="{FF2B5EF4-FFF2-40B4-BE49-F238E27FC236}">
                <a16:creationId xmlns:a16="http://schemas.microsoft.com/office/drawing/2014/main" id="{E665D11C-D423-486A-22B7-A219CA3A64F6}"/>
              </a:ext>
            </a:extLst>
          </p:cNvPr>
          <p:cNvSpPr>
            <a:spLocks noChangeArrowheads="1"/>
          </p:cNvSpPr>
          <p:nvPr/>
        </p:nvSpPr>
        <p:spPr bwMode="auto">
          <a:xfrm>
            <a:off x="2286000" y="2438400"/>
            <a:ext cx="5791200" cy="2438400"/>
          </a:xfrm>
          <a:prstGeom prst="rect">
            <a:avLst/>
          </a:prstGeom>
          <a:noFill/>
          <a:ln w="12700"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800" b="1">
              <a:latin typeface="Arial" panose="020B0604020202020204" pitchFamily="34" charset="0"/>
            </a:endParaRPr>
          </a:p>
        </p:txBody>
      </p:sp>
      <p:sp>
        <p:nvSpPr>
          <p:cNvPr id="76835" name="Rectangle 36">
            <a:extLst>
              <a:ext uri="{FF2B5EF4-FFF2-40B4-BE49-F238E27FC236}">
                <a16:creationId xmlns:a16="http://schemas.microsoft.com/office/drawing/2014/main" id="{4829D30B-4C9C-060C-0B53-FF959236EB38}"/>
              </a:ext>
            </a:extLst>
          </p:cNvPr>
          <p:cNvSpPr>
            <a:spLocks noChangeArrowheads="1"/>
          </p:cNvSpPr>
          <p:nvPr/>
        </p:nvSpPr>
        <p:spPr bwMode="auto">
          <a:xfrm>
            <a:off x="2286000" y="2438400"/>
            <a:ext cx="5791200" cy="2438400"/>
          </a:xfrm>
          <a:prstGeom prst="rect">
            <a:avLst/>
          </a:prstGeom>
          <a:noFill/>
          <a:ln w="12700"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2800" b="1">
              <a:latin typeface="Arial" panose="020B0604020202020204" pitchFamily="34" charset="0"/>
            </a:endParaRPr>
          </a:p>
        </p:txBody>
      </p:sp>
      <p:sp>
        <p:nvSpPr>
          <p:cNvPr id="859173" name="Line 37">
            <a:extLst>
              <a:ext uri="{FF2B5EF4-FFF2-40B4-BE49-F238E27FC236}">
                <a16:creationId xmlns:a16="http://schemas.microsoft.com/office/drawing/2014/main" id="{14B286AB-DBCB-0F41-96F2-C77D013A149D}"/>
              </a:ext>
            </a:extLst>
          </p:cNvPr>
          <p:cNvSpPr>
            <a:spLocks noChangeShapeType="1"/>
          </p:cNvSpPr>
          <p:nvPr/>
        </p:nvSpPr>
        <p:spPr bwMode="auto">
          <a:xfrm>
            <a:off x="2286000" y="30480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74" name="Line 38">
            <a:extLst>
              <a:ext uri="{FF2B5EF4-FFF2-40B4-BE49-F238E27FC236}">
                <a16:creationId xmlns:a16="http://schemas.microsoft.com/office/drawing/2014/main" id="{E63F713C-5271-EF01-1A14-DEF43C40E7BE}"/>
              </a:ext>
            </a:extLst>
          </p:cNvPr>
          <p:cNvSpPr>
            <a:spLocks noChangeShapeType="1"/>
          </p:cNvSpPr>
          <p:nvPr/>
        </p:nvSpPr>
        <p:spPr bwMode="auto">
          <a:xfrm>
            <a:off x="2286000" y="36576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75" name="Line 39">
            <a:extLst>
              <a:ext uri="{FF2B5EF4-FFF2-40B4-BE49-F238E27FC236}">
                <a16:creationId xmlns:a16="http://schemas.microsoft.com/office/drawing/2014/main" id="{9DF3F41E-A603-2E03-8969-EB4F5DD5F189}"/>
              </a:ext>
            </a:extLst>
          </p:cNvPr>
          <p:cNvSpPr>
            <a:spLocks noChangeShapeType="1"/>
          </p:cNvSpPr>
          <p:nvPr/>
        </p:nvSpPr>
        <p:spPr bwMode="auto">
          <a:xfrm>
            <a:off x="7848600" y="3048000"/>
            <a:ext cx="228600" cy="0"/>
          </a:xfrm>
          <a:prstGeom prst="line">
            <a:avLst/>
          </a:prstGeom>
          <a:noFill/>
          <a:ln w="12700" cap="sq">
            <a:solidFill>
              <a:srgbClr val="000000"/>
            </a:solidFill>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76" name="Rectangle 40">
            <a:extLst>
              <a:ext uri="{FF2B5EF4-FFF2-40B4-BE49-F238E27FC236}">
                <a16:creationId xmlns:a16="http://schemas.microsoft.com/office/drawing/2014/main" id="{9A7A1306-A139-214E-6792-B5A77CD07F6E}"/>
              </a:ext>
            </a:extLst>
          </p:cNvPr>
          <p:cNvSpPr>
            <a:spLocks noChangeArrowheads="1"/>
          </p:cNvSpPr>
          <p:nvPr/>
        </p:nvSpPr>
        <p:spPr bwMode="auto">
          <a:xfrm>
            <a:off x="2803525" y="2667000"/>
            <a:ext cx="47402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2400" b="1">
                <a:latin typeface="Arial" panose="020B0604020202020204" pitchFamily="34" charset="0"/>
              </a:rPr>
              <a:t>Payload (TCP Header and Data)</a:t>
            </a:r>
          </a:p>
          <a:p>
            <a:pPr algn="ctr" eaLnBrk="1" hangingPunct="1">
              <a:spcBef>
                <a:spcPct val="0"/>
              </a:spcBef>
              <a:buClrTx/>
              <a:buSzTx/>
              <a:buFontTx/>
              <a:buNone/>
            </a:pPr>
            <a:r>
              <a:rPr lang="en-US" altLang="en-US" sz="2400" b="1">
                <a:latin typeface="Arial" panose="020B0604020202020204" pitchFamily="34" charset="0"/>
              </a:rPr>
              <a:t>Variable Length</a:t>
            </a:r>
          </a:p>
        </p:txBody>
      </p:sp>
      <p:sp>
        <p:nvSpPr>
          <p:cNvPr id="76840" name="Rectangle 41">
            <a:extLst>
              <a:ext uri="{FF2B5EF4-FFF2-40B4-BE49-F238E27FC236}">
                <a16:creationId xmlns:a16="http://schemas.microsoft.com/office/drawing/2014/main" id="{85767B6E-0F70-9A19-313A-52B72A445C0E}"/>
              </a:ext>
            </a:extLst>
          </p:cNvPr>
          <p:cNvSpPr>
            <a:spLocks noChangeArrowheads="1"/>
          </p:cNvSpPr>
          <p:nvPr/>
        </p:nvSpPr>
        <p:spPr bwMode="auto">
          <a:xfrm>
            <a:off x="5181600" y="4267200"/>
            <a:ext cx="1447800" cy="609600"/>
          </a:xfrm>
          <a:prstGeom prst="rect">
            <a:avLst/>
          </a:prstGeom>
          <a:noFill/>
          <a:ln w="12700"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600" b="1">
              <a:latin typeface="Arial" panose="020B0604020202020204" pitchFamily="34" charset="0"/>
            </a:endParaRPr>
          </a:p>
        </p:txBody>
      </p:sp>
      <p:sp>
        <p:nvSpPr>
          <p:cNvPr id="859178" name="Text Box 42">
            <a:extLst>
              <a:ext uri="{FF2B5EF4-FFF2-40B4-BE49-F238E27FC236}">
                <a16:creationId xmlns:a16="http://schemas.microsoft.com/office/drawing/2014/main" id="{3B8576E2-A9A8-AC1C-104E-85B74CB6DE25}"/>
              </a:ext>
            </a:extLst>
          </p:cNvPr>
          <p:cNvSpPr txBox="1">
            <a:spLocks noChangeArrowheads="1"/>
          </p:cNvSpPr>
          <p:nvPr/>
        </p:nvSpPr>
        <p:spPr bwMode="auto">
          <a:xfrm>
            <a:off x="5181600" y="4267200"/>
            <a:ext cx="1066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b="1">
                <a:latin typeface="Arial" panose="020B0604020202020204" pitchFamily="34" charset="0"/>
              </a:rPr>
              <a:t>Pad </a:t>
            </a:r>
          </a:p>
          <a:p>
            <a:pPr eaLnBrk="1" hangingPunct="1">
              <a:spcBef>
                <a:spcPct val="0"/>
              </a:spcBef>
              <a:buClrTx/>
              <a:buSzTx/>
              <a:buFontTx/>
              <a:buNone/>
            </a:pPr>
            <a:r>
              <a:rPr lang="en-US" altLang="en-US" sz="1800" b="1">
                <a:latin typeface="Arial" panose="020B0604020202020204" pitchFamily="34" charset="0"/>
              </a:rPr>
              <a:t>Length</a:t>
            </a:r>
          </a:p>
        </p:txBody>
      </p:sp>
      <p:sp>
        <p:nvSpPr>
          <p:cNvPr id="859179" name="Freeform 43">
            <a:extLst>
              <a:ext uri="{FF2B5EF4-FFF2-40B4-BE49-F238E27FC236}">
                <a16:creationId xmlns:a16="http://schemas.microsoft.com/office/drawing/2014/main" id="{E8242879-E631-637B-CDD5-1FF92BCE8624}"/>
              </a:ext>
            </a:extLst>
          </p:cNvPr>
          <p:cNvSpPr>
            <a:spLocks/>
          </p:cNvSpPr>
          <p:nvPr/>
        </p:nvSpPr>
        <p:spPr bwMode="auto">
          <a:xfrm>
            <a:off x="2286000" y="3657600"/>
            <a:ext cx="5791200" cy="609600"/>
          </a:xfrm>
          <a:custGeom>
            <a:avLst/>
            <a:gdLst/>
            <a:ahLst/>
            <a:cxnLst>
              <a:cxn ang="0">
                <a:pos x="0" y="384"/>
              </a:cxn>
              <a:cxn ang="0">
                <a:pos x="912" y="384"/>
              </a:cxn>
              <a:cxn ang="0">
                <a:pos x="912" y="0"/>
              </a:cxn>
              <a:cxn ang="0">
                <a:pos x="3648" y="0"/>
              </a:cxn>
            </a:cxnLst>
            <a:rect l="0" t="0" r="r" b="b"/>
            <a:pathLst>
              <a:path w="3648" h="384">
                <a:moveTo>
                  <a:pt x="0" y="384"/>
                </a:moveTo>
                <a:lnTo>
                  <a:pt x="912" y="384"/>
                </a:lnTo>
                <a:lnTo>
                  <a:pt x="912" y="0"/>
                </a:lnTo>
                <a:lnTo>
                  <a:pt x="3648" y="0"/>
                </a:lnTo>
              </a:path>
            </a:pathLst>
          </a:custGeom>
          <a:noFill/>
          <a:ln w="12700" cap="sq" cmpd="sng">
            <a:solidFill>
              <a:srgbClr val="000000"/>
            </a:solidFill>
            <a:prstDash val="solid"/>
            <a:round/>
            <a:headEnd type="none" w="sm" len="sm"/>
            <a:tailEnd type="none" w="sm" len="sm"/>
          </a:ln>
          <a:effectLst/>
        </p:spPr>
        <p:txBody>
          <a:bodyPr wrap="none"/>
          <a:lstStyle/>
          <a:p>
            <a:pPr>
              <a:defRPr/>
            </a:pPr>
            <a:endParaRPr lang="en-US">
              <a:effectLst>
                <a:outerShdw blurRad="38100" dist="38100" dir="2700000" algn="tl">
                  <a:srgbClr val="000000">
                    <a:alpha val="43137"/>
                  </a:srgbClr>
                </a:outerShdw>
              </a:effectLst>
            </a:endParaRPr>
          </a:p>
        </p:txBody>
      </p:sp>
      <p:sp>
        <p:nvSpPr>
          <p:cNvPr id="859180" name="Text Box 44">
            <a:extLst>
              <a:ext uri="{FF2B5EF4-FFF2-40B4-BE49-F238E27FC236}">
                <a16:creationId xmlns:a16="http://schemas.microsoft.com/office/drawing/2014/main" id="{3255761F-5E30-4B38-4ACA-85B5094DF459}"/>
              </a:ext>
            </a:extLst>
          </p:cNvPr>
          <p:cNvSpPr txBox="1">
            <a:spLocks noChangeArrowheads="1"/>
          </p:cNvSpPr>
          <p:nvPr/>
        </p:nvSpPr>
        <p:spPr bwMode="auto">
          <a:xfrm>
            <a:off x="4022725" y="3733800"/>
            <a:ext cx="333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2400" b="1">
                <a:latin typeface="Arial" panose="020B0604020202020204" pitchFamily="34" charset="0"/>
              </a:rPr>
              <a:t>Padding (0-255 bytes)</a:t>
            </a:r>
          </a:p>
        </p:txBody>
      </p:sp>
      <p:sp>
        <p:nvSpPr>
          <p:cNvPr id="76844" name="Rectangle 45">
            <a:extLst>
              <a:ext uri="{FF2B5EF4-FFF2-40B4-BE49-F238E27FC236}">
                <a16:creationId xmlns:a16="http://schemas.microsoft.com/office/drawing/2014/main" id="{C221BC41-D1D3-9328-6A2D-1EE428B34A19}"/>
              </a:ext>
            </a:extLst>
          </p:cNvPr>
          <p:cNvSpPr>
            <a:spLocks noChangeArrowheads="1"/>
          </p:cNvSpPr>
          <p:nvPr/>
        </p:nvSpPr>
        <p:spPr bwMode="auto">
          <a:xfrm>
            <a:off x="6629400" y="4267200"/>
            <a:ext cx="1447800" cy="609600"/>
          </a:xfrm>
          <a:prstGeom prst="rect">
            <a:avLst/>
          </a:prstGeom>
          <a:noFill/>
          <a:ln w="12700"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en-US" sz="1600" b="1">
              <a:latin typeface="Arial" panose="020B0604020202020204" pitchFamily="34" charset="0"/>
            </a:endParaRPr>
          </a:p>
        </p:txBody>
      </p:sp>
      <p:sp>
        <p:nvSpPr>
          <p:cNvPr id="859182" name="Text Box 46">
            <a:extLst>
              <a:ext uri="{FF2B5EF4-FFF2-40B4-BE49-F238E27FC236}">
                <a16:creationId xmlns:a16="http://schemas.microsoft.com/office/drawing/2014/main" id="{BF733320-94FF-539D-5846-5A3BDD97C95E}"/>
              </a:ext>
            </a:extLst>
          </p:cNvPr>
          <p:cNvSpPr txBox="1">
            <a:spLocks noChangeArrowheads="1"/>
          </p:cNvSpPr>
          <p:nvPr/>
        </p:nvSpPr>
        <p:spPr bwMode="auto">
          <a:xfrm>
            <a:off x="6629400" y="4267200"/>
            <a:ext cx="958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eaLnBrk="1" hangingPunct="1">
              <a:spcBef>
                <a:spcPct val="0"/>
              </a:spcBef>
              <a:buClrTx/>
              <a:buSzTx/>
              <a:buFontTx/>
              <a:buNone/>
            </a:pPr>
            <a:r>
              <a:rPr lang="en-US" altLang="en-US" sz="1800" b="1">
                <a:latin typeface="Arial" panose="020B0604020202020204" pitchFamily="34" charset="0"/>
              </a:rPr>
              <a:t>Next </a:t>
            </a:r>
          </a:p>
          <a:p>
            <a:pPr eaLnBrk="1" hangingPunct="1">
              <a:spcBef>
                <a:spcPct val="0"/>
              </a:spcBef>
              <a:buClrTx/>
              <a:buSzTx/>
              <a:buFontTx/>
              <a:buNone/>
            </a:pPr>
            <a:r>
              <a:rPr lang="en-US" altLang="en-US" sz="1800" b="1">
                <a:latin typeface="Arial" panose="020B0604020202020204" pitchFamily="34" charset="0"/>
              </a:rPr>
              <a:t>Header</a:t>
            </a:r>
          </a:p>
        </p:txBody>
      </p:sp>
      <p:sp>
        <p:nvSpPr>
          <p:cNvPr id="76846" name="Rectangle 47">
            <a:extLst>
              <a:ext uri="{FF2B5EF4-FFF2-40B4-BE49-F238E27FC236}">
                <a16:creationId xmlns:a16="http://schemas.microsoft.com/office/drawing/2014/main" id="{5905B297-8B2F-EBA5-29E3-F5246F6F10D8}"/>
              </a:ext>
            </a:extLst>
          </p:cNvPr>
          <p:cNvSpPr>
            <a:spLocks noGrp="1" noChangeArrowheads="1"/>
          </p:cNvSpPr>
          <p:nvPr>
            <p:ph type="title" idx="4294967295"/>
          </p:nvPr>
        </p:nvSpPr>
        <p:spPr>
          <a:xfrm rot="16200000">
            <a:off x="-2590800" y="2590800"/>
            <a:ext cx="6324600" cy="1143000"/>
          </a:xfrm>
        </p:spPr>
        <p:txBody>
          <a:bodyPr/>
          <a:lstStyle/>
          <a:p>
            <a:r>
              <a:rPr lang="en-US" altLang="en-US">
                <a:solidFill>
                  <a:schemeClr val="tx1"/>
                </a:solidFill>
              </a:rPr>
              <a:t>ESP Transport Example</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2000"/>
                                  </p:stCondLst>
                                  <p:childTnLst>
                                    <p:set>
                                      <p:cBhvr>
                                        <p:cTn id="6" dur="1" fill="hold">
                                          <p:stCondLst>
                                            <p:cond delay="0"/>
                                          </p:stCondLst>
                                        </p:cTn>
                                        <p:tgtEl>
                                          <p:spTgt spid="859145"/>
                                        </p:tgtEl>
                                        <p:attrNameLst>
                                          <p:attrName>style.visibility</p:attrName>
                                        </p:attrNameLst>
                                      </p:cBhvr>
                                      <p:to>
                                        <p:strVal val="visible"/>
                                      </p:to>
                                    </p:set>
                                    <p:anim calcmode="lin" valueType="num">
                                      <p:cBhvr additive="base">
                                        <p:cTn id="7" dur="500" fill="hold"/>
                                        <p:tgtEl>
                                          <p:spTgt spid="859145"/>
                                        </p:tgtEl>
                                        <p:attrNameLst>
                                          <p:attrName>ppt_x</p:attrName>
                                        </p:attrNameLst>
                                      </p:cBhvr>
                                      <p:tavLst>
                                        <p:tav tm="0">
                                          <p:val>
                                            <p:strVal val="#ppt_x"/>
                                          </p:val>
                                        </p:tav>
                                        <p:tav tm="100000">
                                          <p:val>
                                            <p:strVal val="#ppt_x"/>
                                          </p:val>
                                        </p:tav>
                                      </p:tavLst>
                                    </p:anim>
                                    <p:anim calcmode="lin" valueType="num">
                                      <p:cBhvr additive="base">
                                        <p:cTn id="8" dur="500" fill="hold"/>
                                        <p:tgtEl>
                                          <p:spTgt spid="859145"/>
                                        </p:tgtEl>
                                        <p:attrNameLst>
                                          <p:attrName>ppt_y</p:attrName>
                                        </p:attrNameLst>
                                      </p:cBhvr>
                                      <p:tavLst>
                                        <p:tav tm="0">
                                          <p:val>
                                            <p:strVal val="0-#ppt_h/2"/>
                                          </p:val>
                                        </p:tav>
                                        <p:tav tm="100000">
                                          <p:val>
                                            <p:strVal val="#ppt_y"/>
                                          </p:val>
                                        </p:tav>
                                      </p:tavLst>
                                    </p:anim>
                                  </p:childTnLst>
                                </p:cTn>
                              </p:par>
                            </p:childTnLst>
                          </p:cTn>
                        </p:par>
                        <p:par>
                          <p:cTn id="9" fill="hold" nodeType="afterGroup">
                            <p:stCondLst>
                              <p:cond delay="2500"/>
                            </p:stCondLst>
                            <p:childTnLst>
                              <p:par>
                                <p:cTn id="10" presetID="5" presetClass="entr" presetSubtype="5" fill="hold" grpId="0" nodeType="afterEffect">
                                  <p:stCondLst>
                                    <p:cond delay="1000"/>
                                  </p:stCondLst>
                                  <p:childTnLst>
                                    <p:set>
                                      <p:cBhvr>
                                        <p:cTn id="11" dur="1" fill="hold">
                                          <p:stCondLst>
                                            <p:cond delay="0"/>
                                          </p:stCondLst>
                                        </p:cTn>
                                        <p:tgtEl>
                                          <p:spTgt spid="859143"/>
                                        </p:tgtEl>
                                        <p:attrNameLst>
                                          <p:attrName>style.visibility</p:attrName>
                                        </p:attrNameLst>
                                      </p:cBhvr>
                                      <p:to>
                                        <p:strVal val="visible"/>
                                      </p:to>
                                    </p:set>
                                    <p:animEffect transition="in" filter="checkerboard(down)">
                                      <p:cBhvr>
                                        <p:cTn id="12" dur="500"/>
                                        <p:tgtEl>
                                          <p:spTgt spid="859143"/>
                                        </p:tgtEl>
                                      </p:cBhvr>
                                    </p:animEffect>
                                  </p:childTnLst>
                                </p:cTn>
                              </p:par>
                            </p:childTnLst>
                          </p:cTn>
                        </p:par>
                        <p:par>
                          <p:cTn id="13" fill="hold" nodeType="afterGroup">
                            <p:stCondLst>
                              <p:cond delay="4000"/>
                            </p:stCondLst>
                            <p:childTnLst>
                              <p:par>
                                <p:cTn id="14" presetID="5" presetClass="entr" presetSubtype="10" fill="hold" grpId="0" nodeType="afterEffect">
                                  <p:stCondLst>
                                    <p:cond delay="1000"/>
                                  </p:stCondLst>
                                  <p:childTnLst>
                                    <p:set>
                                      <p:cBhvr>
                                        <p:cTn id="15" dur="1" fill="hold">
                                          <p:stCondLst>
                                            <p:cond delay="0"/>
                                          </p:stCondLst>
                                        </p:cTn>
                                        <p:tgtEl>
                                          <p:spTgt spid="859144"/>
                                        </p:tgtEl>
                                        <p:attrNameLst>
                                          <p:attrName>style.visibility</p:attrName>
                                        </p:attrNameLst>
                                      </p:cBhvr>
                                      <p:to>
                                        <p:strVal val="visible"/>
                                      </p:to>
                                    </p:set>
                                    <p:animEffect transition="in" filter="checkerboard(across)">
                                      <p:cBhvr>
                                        <p:cTn id="16" dur="500"/>
                                        <p:tgtEl>
                                          <p:spTgt spid="85914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6" presetClass="entr" presetSubtype="26" fill="hold" grpId="0" nodeType="clickEffect">
                                  <p:stCondLst>
                                    <p:cond delay="0"/>
                                  </p:stCondLst>
                                  <p:childTnLst>
                                    <p:set>
                                      <p:cBhvr>
                                        <p:cTn id="20" dur="1" fill="hold">
                                          <p:stCondLst>
                                            <p:cond delay="0"/>
                                          </p:stCondLst>
                                        </p:cTn>
                                        <p:tgtEl>
                                          <p:spTgt spid="859176"/>
                                        </p:tgtEl>
                                        <p:attrNameLst>
                                          <p:attrName>style.visibility</p:attrName>
                                        </p:attrNameLst>
                                      </p:cBhvr>
                                      <p:to>
                                        <p:strVal val="visible"/>
                                      </p:to>
                                    </p:set>
                                    <p:animEffect transition="in" filter="barn(inHorizontal)">
                                      <p:cBhvr>
                                        <p:cTn id="21" dur="500"/>
                                        <p:tgtEl>
                                          <p:spTgt spid="859176"/>
                                        </p:tgtEl>
                                      </p:cBhvr>
                                    </p:animEffect>
                                  </p:childTnLst>
                                </p:cTn>
                              </p:par>
                            </p:childTnLst>
                          </p:cTn>
                        </p:par>
                        <p:par>
                          <p:cTn id="22" fill="hold" nodeType="afterGroup">
                            <p:stCondLst>
                              <p:cond delay="500"/>
                            </p:stCondLst>
                            <p:childTnLst>
                              <p:par>
                                <p:cTn id="23" presetID="18" presetClass="entr" presetSubtype="12" fill="hold" grpId="0" nodeType="afterEffect">
                                  <p:stCondLst>
                                    <p:cond delay="1000"/>
                                  </p:stCondLst>
                                  <p:childTnLst>
                                    <p:set>
                                      <p:cBhvr>
                                        <p:cTn id="24" dur="1" fill="hold">
                                          <p:stCondLst>
                                            <p:cond delay="0"/>
                                          </p:stCondLst>
                                        </p:cTn>
                                        <p:tgtEl>
                                          <p:spTgt spid="859180"/>
                                        </p:tgtEl>
                                        <p:attrNameLst>
                                          <p:attrName>style.visibility</p:attrName>
                                        </p:attrNameLst>
                                      </p:cBhvr>
                                      <p:to>
                                        <p:strVal val="visible"/>
                                      </p:to>
                                    </p:set>
                                    <p:animEffect transition="in" filter="strips(downLeft)">
                                      <p:cBhvr>
                                        <p:cTn id="25" dur="500"/>
                                        <p:tgtEl>
                                          <p:spTgt spid="859180"/>
                                        </p:tgtEl>
                                      </p:cBhvr>
                                    </p:animEffect>
                                  </p:childTnLst>
                                </p:cTn>
                              </p:par>
                            </p:childTnLst>
                          </p:cTn>
                        </p:par>
                        <p:par>
                          <p:cTn id="26" fill="hold" nodeType="afterGroup">
                            <p:stCondLst>
                              <p:cond delay="2000"/>
                            </p:stCondLst>
                            <p:childTnLst>
                              <p:par>
                                <p:cTn id="27" presetID="18" presetClass="entr" presetSubtype="3" fill="hold" grpId="0" nodeType="afterEffect">
                                  <p:stCondLst>
                                    <p:cond delay="1000"/>
                                  </p:stCondLst>
                                  <p:childTnLst>
                                    <p:set>
                                      <p:cBhvr>
                                        <p:cTn id="28" dur="1" fill="hold">
                                          <p:stCondLst>
                                            <p:cond delay="0"/>
                                          </p:stCondLst>
                                        </p:cTn>
                                        <p:tgtEl>
                                          <p:spTgt spid="859178"/>
                                        </p:tgtEl>
                                        <p:attrNameLst>
                                          <p:attrName>style.visibility</p:attrName>
                                        </p:attrNameLst>
                                      </p:cBhvr>
                                      <p:to>
                                        <p:strVal val="visible"/>
                                      </p:to>
                                    </p:set>
                                    <p:animEffect transition="in" filter="strips(upRight)">
                                      <p:cBhvr>
                                        <p:cTn id="29" dur="500"/>
                                        <p:tgtEl>
                                          <p:spTgt spid="859178"/>
                                        </p:tgtEl>
                                      </p:cBhvr>
                                    </p:animEffect>
                                  </p:childTnLst>
                                </p:cTn>
                              </p:par>
                            </p:childTnLst>
                          </p:cTn>
                        </p:par>
                        <p:par>
                          <p:cTn id="30" fill="hold" nodeType="afterGroup">
                            <p:stCondLst>
                              <p:cond delay="3500"/>
                            </p:stCondLst>
                            <p:childTnLst>
                              <p:par>
                                <p:cTn id="31" presetID="14" presetClass="entr" presetSubtype="10" fill="hold" grpId="0" nodeType="afterEffect">
                                  <p:stCondLst>
                                    <p:cond delay="1000"/>
                                  </p:stCondLst>
                                  <p:childTnLst>
                                    <p:set>
                                      <p:cBhvr>
                                        <p:cTn id="32" dur="1" fill="hold">
                                          <p:stCondLst>
                                            <p:cond delay="0"/>
                                          </p:stCondLst>
                                        </p:cTn>
                                        <p:tgtEl>
                                          <p:spTgt spid="859182"/>
                                        </p:tgtEl>
                                        <p:attrNameLst>
                                          <p:attrName>style.visibility</p:attrName>
                                        </p:attrNameLst>
                                      </p:cBhvr>
                                      <p:to>
                                        <p:strVal val="visible"/>
                                      </p:to>
                                    </p:set>
                                    <p:animEffect transition="in" filter="randombar(horizontal)">
                                      <p:cBhvr>
                                        <p:cTn id="33" dur="500"/>
                                        <p:tgtEl>
                                          <p:spTgt spid="85918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4" presetClass="entr" presetSubtype="5" fill="hold" grpId="0" nodeType="clickEffect">
                                  <p:stCondLst>
                                    <p:cond delay="0"/>
                                  </p:stCondLst>
                                  <p:childTnLst>
                                    <p:set>
                                      <p:cBhvr>
                                        <p:cTn id="37" dur="1" fill="hold">
                                          <p:stCondLst>
                                            <p:cond delay="0"/>
                                          </p:stCondLst>
                                        </p:cTn>
                                        <p:tgtEl>
                                          <p:spTgt spid="859163"/>
                                        </p:tgtEl>
                                        <p:attrNameLst>
                                          <p:attrName>style.visibility</p:attrName>
                                        </p:attrNameLst>
                                      </p:cBhvr>
                                      <p:to>
                                        <p:strVal val="visible"/>
                                      </p:to>
                                    </p:set>
                                    <p:animEffect transition="in" filter="randombar(vertical)">
                                      <p:cBhvr>
                                        <p:cTn id="38" dur="500"/>
                                        <p:tgtEl>
                                          <p:spTgt spid="859163"/>
                                        </p:tgtEl>
                                      </p:cBhvr>
                                    </p:animEffect>
                                  </p:childTnLst>
                                </p:cTn>
                              </p:par>
                            </p:childTnLst>
                          </p:cTn>
                        </p:par>
                        <p:par>
                          <p:cTn id="39" fill="hold" nodeType="afterGroup">
                            <p:stCondLst>
                              <p:cond delay="500"/>
                            </p:stCondLst>
                            <p:childTnLst>
                              <p:par>
                                <p:cTn id="40" presetID="22" presetClass="entr" presetSubtype="1" fill="hold" nodeType="afterEffect">
                                  <p:stCondLst>
                                    <p:cond delay="1000"/>
                                  </p:stCondLst>
                                  <p:childTnLst>
                                    <p:set>
                                      <p:cBhvr>
                                        <p:cTn id="41" dur="1" fill="hold">
                                          <p:stCondLst>
                                            <p:cond delay="0"/>
                                          </p:stCondLst>
                                        </p:cTn>
                                        <p:tgtEl>
                                          <p:spTgt spid="859162"/>
                                        </p:tgtEl>
                                        <p:attrNameLst>
                                          <p:attrName>style.visibility</p:attrName>
                                        </p:attrNameLst>
                                      </p:cBhvr>
                                      <p:to>
                                        <p:strVal val="visible"/>
                                      </p:to>
                                    </p:set>
                                    <p:animEffect transition="in" filter="wipe(up)">
                                      <p:cBhvr>
                                        <p:cTn id="42" dur="500"/>
                                        <p:tgtEl>
                                          <p:spTgt spid="859162"/>
                                        </p:tgtEl>
                                      </p:cBhvr>
                                    </p:animEffect>
                                  </p:childTnLst>
                                </p:cTn>
                              </p:par>
                            </p:childTnLst>
                          </p:cTn>
                        </p:par>
                        <p:par>
                          <p:cTn id="43" fill="hold" nodeType="afterGroup">
                            <p:stCondLst>
                              <p:cond delay="2000"/>
                            </p:stCondLst>
                            <p:childTnLst>
                              <p:par>
                                <p:cTn id="44" presetID="9" presetClass="entr" presetSubtype="0" fill="hold" grpId="0" nodeType="afterEffect">
                                  <p:stCondLst>
                                    <p:cond delay="1000"/>
                                  </p:stCondLst>
                                  <p:childTnLst>
                                    <p:set>
                                      <p:cBhvr>
                                        <p:cTn id="45" dur="1" fill="hold">
                                          <p:stCondLst>
                                            <p:cond delay="0"/>
                                          </p:stCondLst>
                                        </p:cTn>
                                        <p:tgtEl>
                                          <p:spTgt spid="859170"/>
                                        </p:tgtEl>
                                        <p:attrNameLst>
                                          <p:attrName>style.visibility</p:attrName>
                                        </p:attrNameLst>
                                      </p:cBhvr>
                                      <p:to>
                                        <p:strVal val="visible"/>
                                      </p:to>
                                    </p:set>
                                    <p:animEffect transition="in" filter="dissolve">
                                      <p:cBhvr>
                                        <p:cTn id="46" dur="500"/>
                                        <p:tgtEl>
                                          <p:spTgt spid="859170"/>
                                        </p:tgtEl>
                                      </p:cBhvr>
                                    </p:animEffect>
                                  </p:childTnLst>
                                </p:cTn>
                              </p:par>
                            </p:childTnLst>
                          </p:cTn>
                        </p:par>
                        <p:par>
                          <p:cTn id="47" fill="hold" nodeType="afterGroup">
                            <p:stCondLst>
                              <p:cond delay="3500"/>
                            </p:stCondLst>
                            <p:childTnLst>
                              <p:par>
                                <p:cTn id="48" presetID="9" presetClass="entr" presetSubtype="0" fill="hold" nodeType="afterEffect">
                                  <p:stCondLst>
                                    <p:cond delay="0"/>
                                  </p:stCondLst>
                                  <p:childTnLst>
                                    <p:set>
                                      <p:cBhvr>
                                        <p:cTn id="49" dur="1" fill="hold">
                                          <p:stCondLst>
                                            <p:cond delay="0"/>
                                          </p:stCondLst>
                                        </p:cTn>
                                        <p:tgtEl>
                                          <p:spTgt spid="859159"/>
                                        </p:tgtEl>
                                        <p:attrNameLst>
                                          <p:attrName>style.visibility</p:attrName>
                                        </p:attrNameLst>
                                      </p:cBhvr>
                                      <p:to>
                                        <p:strVal val="visible"/>
                                      </p:to>
                                    </p:set>
                                    <p:animEffect transition="in" filter="dissolve">
                                      <p:cBhvr>
                                        <p:cTn id="50" dur="500"/>
                                        <p:tgtEl>
                                          <p:spTgt spid="859159"/>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59161"/>
                                        </p:tgtEl>
                                        <p:attrNameLst>
                                          <p:attrName>style.visibility</p:attrName>
                                        </p:attrNameLst>
                                      </p:cBhvr>
                                      <p:to>
                                        <p:strVal val="visible"/>
                                      </p:to>
                                    </p:set>
                                    <p:anim calcmode="lin" valueType="num">
                                      <p:cBhvr additive="base">
                                        <p:cTn id="55" dur="500" fill="hold"/>
                                        <p:tgtEl>
                                          <p:spTgt spid="859161"/>
                                        </p:tgtEl>
                                        <p:attrNameLst>
                                          <p:attrName>ppt_x</p:attrName>
                                        </p:attrNameLst>
                                      </p:cBhvr>
                                      <p:tavLst>
                                        <p:tav tm="0">
                                          <p:val>
                                            <p:strVal val="#ppt_x"/>
                                          </p:val>
                                        </p:tav>
                                        <p:tav tm="100000">
                                          <p:val>
                                            <p:strVal val="#ppt_x"/>
                                          </p:val>
                                        </p:tav>
                                      </p:tavLst>
                                    </p:anim>
                                    <p:anim calcmode="lin" valueType="num">
                                      <p:cBhvr additive="base">
                                        <p:cTn id="56" dur="500" fill="hold"/>
                                        <p:tgtEl>
                                          <p:spTgt spid="859161"/>
                                        </p:tgtEl>
                                        <p:attrNameLst>
                                          <p:attrName>ppt_y</p:attrName>
                                        </p:attrNameLst>
                                      </p:cBhvr>
                                      <p:tavLst>
                                        <p:tav tm="0">
                                          <p:val>
                                            <p:strVal val="1+#ppt_h/2"/>
                                          </p:val>
                                        </p:tav>
                                        <p:tav tm="100000">
                                          <p:val>
                                            <p:strVal val="#ppt_y"/>
                                          </p:val>
                                        </p:tav>
                                      </p:tavLst>
                                    </p:anim>
                                  </p:childTnLst>
                                </p:cTn>
                              </p:par>
                            </p:childTnLst>
                          </p:cTn>
                        </p:par>
                        <p:par>
                          <p:cTn id="57" fill="hold" nodeType="afterGroup">
                            <p:stCondLst>
                              <p:cond delay="500"/>
                            </p:stCondLst>
                            <p:childTnLst>
                              <p:par>
                                <p:cTn id="58" presetID="22" presetClass="entr" presetSubtype="1" fill="hold" nodeType="afterEffect">
                                  <p:stCondLst>
                                    <p:cond delay="1000"/>
                                  </p:stCondLst>
                                  <p:childTnLst>
                                    <p:set>
                                      <p:cBhvr>
                                        <p:cTn id="59" dur="1" fill="hold">
                                          <p:stCondLst>
                                            <p:cond delay="0"/>
                                          </p:stCondLst>
                                        </p:cTn>
                                        <p:tgtEl>
                                          <p:spTgt spid="859160"/>
                                        </p:tgtEl>
                                        <p:attrNameLst>
                                          <p:attrName>style.visibility</p:attrName>
                                        </p:attrNameLst>
                                      </p:cBhvr>
                                      <p:to>
                                        <p:strVal val="visible"/>
                                      </p:to>
                                    </p:set>
                                    <p:animEffect transition="in" filter="wipe(up)">
                                      <p:cBhvr>
                                        <p:cTn id="60" dur="500"/>
                                        <p:tgtEl>
                                          <p:spTgt spid="859160"/>
                                        </p:tgtEl>
                                      </p:cBhvr>
                                    </p:animEffect>
                                  </p:childTnLst>
                                </p:cTn>
                              </p:par>
                            </p:childTnLst>
                          </p:cTn>
                        </p:par>
                        <p:par>
                          <p:cTn id="61" fill="hold" nodeType="afterGroup">
                            <p:stCondLst>
                              <p:cond delay="2000"/>
                            </p:stCondLst>
                            <p:childTnLst>
                              <p:par>
                                <p:cTn id="62" presetID="5" presetClass="entr" presetSubtype="10" fill="hold" grpId="0" nodeType="afterEffect">
                                  <p:stCondLst>
                                    <p:cond delay="1000"/>
                                  </p:stCondLst>
                                  <p:childTnLst>
                                    <p:set>
                                      <p:cBhvr>
                                        <p:cTn id="63" dur="1" fill="hold">
                                          <p:stCondLst>
                                            <p:cond delay="0"/>
                                          </p:stCondLst>
                                        </p:cTn>
                                        <p:tgtEl>
                                          <p:spTgt spid="859152"/>
                                        </p:tgtEl>
                                        <p:attrNameLst>
                                          <p:attrName>style.visibility</p:attrName>
                                        </p:attrNameLst>
                                      </p:cBhvr>
                                      <p:to>
                                        <p:strVal val="visible"/>
                                      </p:to>
                                    </p:set>
                                    <p:animEffect transition="in" filter="checkerboard(across)">
                                      <p:cBhvr>
                                        <p:cTn id="64" dur="500"/>
                                        <p:tgtEl>
                                          <p:spTgt spid="859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9143" grpId="0" autoUpdateAnimBg="0"/>
      <p:bldP spid="859144" grpId="0" autoUpdateAnimBg="0"/>
      <p:bldP spid="859145" grpId="0" autoUpdateAnimBg="0"/>
      <p:bldP spid="859152" grpId="0" autoUpdateAnimBg="0"/>
      <p:bldP spid="859161" grpId="0" autoUpdateAnimBg="0"/>
      <p:bldP spid="859163" grpId="0" autoUpdateAnimBg="0"/>
      <p:bldP spid="859170" grpId="0" animBg="1"/>
      <p:bldP spid="859176" grpId="0" autoUpdateAnimBg="0"/>
      <p:bldP spid="859178" grpId="0" autoUpdateAnimBg="0"/>
      <p:bldP spid="859180" grpId="0" autoUpdateAnimBg="0"/>
      <p:bldP spid="85918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04BC9CCA-3FFE-1152-3E41-DE3F8B7DE4B6}"/>
              </a:ext>
            </a:extLst>
          </p:cNvPr>
          <p:cNvSpPr>
            <a:spLocks noGrp="1" noChangeArrowheads="1"/>
          </p:cNvSpPr>
          <p:nvPr>
            <p:ph type="title"/>
          </p:nvPr>
        </p:nvSpPr>
        <p:spPr>
          <a:xfrm>
            <a:off x="1047750" y="0"/>
            <a:ext cx="7772400" cy="1143000"/>
          </a:xfrm>
        </p:spPr>
        <p:txBody>
          <a:bodyPr/>
          <a:lstStyle/>
          <a:p>
            <a:r>
              <a:rPr lang="en-US" altLang="en-US"/>
              <a:t>Inbound Packet Processing...</a:t>
            </a:r>
          </a:p>
        </p:txBody>
      </p:sp>
      <p:sp>
        <p:nvSpPr>
          <p:cNvPr id="864259" name="Rectangle 3">
            <a:extLst>
              <a:ext uri="{FF2B5EF4-FFF2-40B4-BE49-F238E27FC236}">
                <a16:creationId xmlns:a16="http://schemas.microsoft.com/office/drawing/2014/main" id="{10978249-7CFA-2C65-2E0F-5CAAD78D2AA3}"/>
              </a:ext>
            </a:extLst>
          </p:cNvPr>
          <p:cNvSpPr>
            <a:spLocks noGrp="1" noChangeArrowheads="1"/>
          </p:cNvSpPr>
          <p:nvPr>
            <p:ph type="body" idx="1"/>
          </p:nvPr>
        </p:nvSpPr>
        <p:spPr>
          <a:xfrm>
            <a:off x="1104900" y="1181100"/>
            <a:ext cx="7772400" cy="5481638"/>
          </a:xfrm>
        </p:spPr>
        <p:txBody>
          <a:bodyPr/>
          <a:lstStyle/>
          <a:p>
            <a:pPr>
              <a:lnSpc>
                <a:spcPct val="90000"/>
              </a:lnSpc>
              <a:defRPr/>
            </a:pPr>
            <a:r>
              <a:rPr lang="en-US"/>
              <a:t>Sequence number checking</a:t>
            </a:r>
          </a:p>
          <a:p>
            <a:pPr lvl="1">
              <a:lnSpc>
                <a:spcPct val="90000"/>
              </a:lnSpc>
              <a:defRPr/>
            </a:pPr>
            <a:r>
              <a:rPr lang="en-US"/>
              <a:t>Duplicates are rejected!</a:t>
            </a:r>
          </a:p>
          <a:p>
            <a:pPr>
              <a:lnSpc>
                <a:spcPct val="90000"/>
              </a:lnSpc>
              <a:defRPr/>
            </a:pPr>
            <a:r>
              <a:rPr lang="en-US"/>
              <a:t>Packet decryption</a:t>
            </a:r>
          </a:p>
          <a:p>
            <a:pPr lvl="1">
              <a:lnSpc>
                <a:spcPct val="90000"/>
              </a:lnSpc>
              <a:defRPr/>
            </a:pPr>
            <a:r>
              <a:rPr lang="en-US"/>
              <a:t>Decrypt quantity [ESP payload,padding,pad length,next header] per SA specification</a:t>
            </a:r>
          </a:p>
          <a:p>
            <a:pPr lvl="1">
              <a:lnSpc>
                <a:spcPct val="90000"/>
              </a:lnSpc>
              <a:defRPr/>
            </a:pPr>
            <a:r>
              <a:rPr lang="en-US"/>
              <a:t>Processing (stripping) padding per encryption algorithm</a:t>
            </a:r>
          </a:p>
          <a:p>
            <a:pPr lvl="1">
              <a:lnSpc>
                <a:spcPct val="90000"/>
              </a:lnSpc>
              <a:defRPr/>
            </a:pPr>
            <a:r>
              <a:rPr lang="en-US"/>
              <a:t>Reconstruct the original IP datagram</a:t>
            </a:r>
          </a:p>
          <a:p>
            <a:pPr>
              <a:lnSpc>
                <a:spcPct val="90000"/>
              </a:lnSpc>
              <a:defRPr/>
            </a:pPr>
            <a:r>
              <a:rPr lang="en-US"/>
              <a:t>Authentication verification (optional)</a:t>
            </a:r>
          </a:p>
          <a:p>
            <a:pPr lvl="1">
              <a:lnSpc>
                <a:spcPct val="90000"/>
              </a:lnSpc>
              <a:defRPr/>
            </a:pPr>
            <a:r>
              <a:rPr lang="en-US"/>
              <a:t>Allow potential parallel processing - decryption &amp; verifying authentication code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9F10FA9C-7CE5-782A-6C34-BD6404F01367}"/>
              </a:ext>
            </a:extLst>
          </p:cNvPr>
          <p:cNvSpPr>
            <a:spLocks noGrp="1" noChangeArrowheads="1"/>
          </p:cNvSpPr>
          <p:nvPr>
            <p:ph type="title"/>
          </p:nvPr>
        </p:nvSpPr>
        <p:spPr>
          <a:xfrm>
            <a:off x="1096963" y="258763"/>
            <a:ext cx="7772400" cy="1143000"/>
          </a:xfrm>
        </p:spPr>
        <p:txBody>
          <a:bodyPr/>
          <a:lstStyle/>
          <a:p>
            <a:r>
              <a:rPr lang="en-US" altLang="en-US"/>
              <a:t>Architecture &amp; Concepts</a:t>
            </a:r>
          </a:p>
        </p:txBody>
      </p:sp>
      <p:sp>
        <p:nvSpPr>
          <p:cNvPr id="920579" name="Rectangle 3">
            <a:extLst>
              <a:ext uri="{FF2B5EF4-FFF2-40B4-BE49-F238E27FC236}">
                <a16:creationId xmlns:a16="http://schemas.microsoft.com/office/drawing/2014/main" id="{ED6C000E-2215-A3A0-3780-954D47F9BEE6}"/>
              </a:ext>
            </a:extLst>
          </p:cNvPr>
          <p:cNvSpPr>
            <a:spLocks noGrp="1" noChangeArrowheads="1"/>
          </p:cNvSpPr>
          <p:nvPr>
            <p:ph type="body" idx="1"/>
          </p:nvPr>
        </p:nvSpPr>
        <p:spPr>
          <a:xfrm>
            <a:off x="773113" y="1447800"/>
            <a:ext cx="7831137" cy="5068888"/>
          </a:xfrm>
        </p:spPr>
        <p:txBody>
          <a:bodyPr/>
          <a:lstStyle/>
          <a:p>
            <a:pPr>
              <a:defRPr/>
            </a:pPr>
            <a:r>
              <a:rPr lang="en-US"/>
              <a:t>Tunnel vs. Transport mode</a:t>
            </a:r>
          </a:p>
          <a:p>
            <a:pPr>
              <a:defRPr/>
            </a:pPr>
            <a:r>
              <a:rPr lang="en-US"/>
              <a:t>Security association (SA)</a:t>
            </a:r>
          </a:p>
          <a:p>
            <a:pPr lvl="1">
              <a:defRPr/>
            </a:pPr>
            <a:r>
              <a:rPr lang="en-US"/>
              <a:t>Security parameter index (SPI)</a:t>
            </a:r>
          </a:p>
          <a:p>
            <a:pPr lvl="1">
              <a:defRPr/>
            </a:pPr>
            <a:r>
              <a:rPr lang="en-US"/>
              <a:t>Security policy database (SPD)</a:t>
            </a:r>
          </a:p>
          <a:p>
            <a:pPr lvl="1">
              <a:defRPr/>
            </a:pPr>
            <a:r>
              <a:rPr lang="en-US"/>
              <a:t>SA database (SAD)</a:t>
            </a:r>
          </a:p>
          <a:p>
            <a:pPr>
              <a:defRPr/>
            </a:pPr>
            <a:r>
              <a:rPr lang="en-US"/>
              <a:t>Authentication header (AH)</a:t>
            </a:r>
          </a:p>
          <a:p>
            <a:pPr>
              <a:defRPr/>
            </a:pPr>
            <a:r>
              <a:rPr lang="en-US"/>
              <a:t>Encapsulating security payload (ESP)</a:t>
            </a:r>
          </a:p>
          <a:p>
            <a:pPr>
              <a:defRPr/>
            </a:pPr>
            <a:r>
              <a:rPr lang="en-US">
                <a:solidFill>
                  <a:srgbClr val="FF0066"/>
                </a:solidFill>
              </a:rPr>
              <a:t>Practical Issues w/ NAT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5CFCE584-2745-E955-4B6C-0FD242D6F8FE}"/>
              </a:ext>
            </a:extLst>
          </p:cNvPr>
          <p:cNvSpPr>
            <a:spLocks noGrp="1" noChangeArrowheads="1"/>
          </p:cNvSpPr>
          <p:nvPr>
            <p:ph type="title"/>
          </p:nvPr>
        </p:nvSpPr>
        <p:spPr/>
        <p:txBody>
          <a:bodyPr/>
          <a:lstStyle/>
          <a:p>
            <a:r>
              <a:rPr lang="en-US" altLang="en-US"/>
              <a:t>IPSec Pros</a:t>
            </a:r>
          </a:p>
        </p:txBody>
      </p:sp>
      <p:sp>
        <p:nvSpPr>
          <p:cNvPr id="79874" name="Rectangle 3">
            <a:extLst>
              <a:ext uri="{FF2B5EF4-FFF2-40B4-BE49-F238E27FC236}">
                <a16:creationId xmlns:a16="http://schemas.microsoft.com/office/drawing/2014/main" id="{54725F33-AFF7-04BD-3C25-FDC4F2A2127C}"/>
              </a:ext>
            </a:extLst>
          </p:cNvPr>
          <p:cNvSpPr>
            <a:spLocks noChangeArrowheads="1"/>
          </p:cNvSpPr>
          <p:nvPr>
            <p:ph type="body" idx="1"/>
          </p:nvPr>
        </p:nvSpPr>
        <p:spPr>
          <a:xfrm>
            <a:off x="252413" y="1981200"/>
            <a:ext cx="8662987" cy="4602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Hides the identity of your network</a:t>
            </a:r>
          </a:p>
          <a:p>
            <a:r>
              <a:rPr lang="en-US" altLang="en-US">
                <a:effectLst/>
              </a:rPr>
              <a:t>Provides secure channel: confidentiality, authenticity, and integrity</a:t>
            </a:r>
          </a:p>
          <a:p>
            <a:r>
              <a:rPr lang="en-US" altLang="en-US">
                <a:effectLst/>
              </a:rPr>
              <a:t>Connects sites (e.g., branch offices) with a cost-effective secure network compared with leased lines</a:t>
            </a:r>
          </a:p>
          <a:p>
            <a:r>
              <a:rPr lang="en-US" altLang="en-US">
                <a:effectLst/>
              </a:rPr>
              <a:t>Allows user to work from home and mobile hosts</a:t>
            </a:r>
          </a:p>
          <a:p>
            <a:endParaRPr lang="en-US" altLang="en-US">
              <a:effectLs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E2DFF34-0B57-334B-CD59-E9A8EA91DAC1}"/>
              </a:ext>
            </a:extLst>
          </p:cNvPr>
          <p:cNvSpPr>
            <a:spLocks noGrp="1" noChangeArrowheads="1"/>
          </p:cNvSpPr>
          <p:nvPr>
            <p:ph type="title"/>
          </p:nvPr>
        </p:nvSpPr>
        <p:spPr>
          <a:xfrm>
            <a:off x="1143000" y="401638"/>
            <a:ext cx="7772400" cy="1143000"/>
          </a:xfrm>
        </p:spPr>
        <p:txBody>
          <a:bodyPr/>
          <a:lstStyle/>
          <a:p>
            <a:r>
              <a:rPr lang="en-US" altLang="en-US"/>
              <a:t>IPSec Cons</a:t>
            </a:r>
          </a:p>
        </p:txBody>
      </p:sp>
      <p:sp>
        <p:nvSpPr>
          <p:cNvPr id="86019" name="Rectangle 3">
            <a:extLst>
              <a:ext uri="{FF2B5EF4-FFF2-40B4-BE49-F238E27FC236}">
                <a16:creationId xmlns:a16="http://schemas.microsoft.com/office/drawing/2014/main" id="{3235F2A1-4D51-8172-9447-AD6E3638E512}"/>
              </a:ext>
            </a:extLst>
          </p:cNvPr>
          <p:cNvSpPr>
            <a:spLocks noChangeArrowheads="1"/>
          </p:cNvSpPr>
          <p:nvPr>
            <p:ph type="body" idx="1"/>
          </p:nvPr>
        </p:nvSpPr>
        <p:spPr>
          <a:xfrm>
            <a:off x="546100" y="1587500"/>
            <a:ext cx="8597900" cy="5207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effectLst/>
              </a:rPr>
              <a:t>A single failure in the path disconnect the entire network. Also cause performance bottlenecks.</a:t>
            </a:r>
          </a:p>
          <a:p>
            <a:r>
              <a:rPr lang="en-US" altLang="en-US">
                <a:effectLst/>
              </a:rPr>
              <a:t>Incompatible with NAT/PAT depending on the architecture</a:t>
            </a:r>
          </a:p>
          <a:p>
            <a:r>
              <a:rPr lang="en-US" altLang="en-US">
                <a:effectLst/>
              </a:rPr>
              <a:t>Tunneled traffic is undetected by IDS </a:t>
            </a:r>
          </a:p>
          <a:p>
            <a:r>
              <a:rPr lang="en-US" altLang="en-US">
                <a:effectLst/>
              </a:rPr>
              <a:t>VPN gateways might be compromised which leads to uncovering protected data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601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74EE2238-44D9-F3A2-A649-D987E69533AC}"/>
              </a:ext>
            </a:extLst>
          </p:cNvPr>
          <p:cNvSpPr>
            <a:spLocks noGrp="1" noChangeArrowheads="1"/>
          </p:cNvSpPr>
          <p:nvPr>
            <p:ph type="title"/>
          </p:nvPr>
        </p:nvSpPr>
        <p:spPr>
          <a:xfrm>
            <a:off x="744538" y="327025"/>
            <a:ext cx="7772400" cy="1143000"/>
          </a:xfrm>
        </p:spPr>
        <p:txBody>
          <a:bodyPr/>
          <a:lstStyle/>
          <a:p>
            <a:r>
              <a:rPr lang="en-US" altLang="en-US"/>
              <a:t>NATs</a:t>
            </a:r>
          </a:p>
        </p:txBody>
      </p:sp>
      <p:sp>
        <p:nvSpPr>
          <p:cNvPr id="922627" name="Rectangle 3">
            <a:extLst>
              <a:ext uri="{FF2B5EF4-FFF2-40B4-BE49-F238E27FC236}">
                <a16:creationId xmlns:a16="http://schemas.microsoft.com/office/drawing/2014/main" id="{21FBFB99-F1AF-0C91-E48C-BC27A3583C35}"/>
              </a:ext>
            </a:extLst>
          </p:cNvPr>
          <p:cNvSpPr>
            <a:spLocks noGrp="1" noChangeArrowheads="1"/>
          </p:cNvSpPr>
          <p:nvPr>
            <p:ph type="body" idx="1"/>
          </p:nvPr>
        </p:nvSpPr>
        <p:spPr>
          <a:xfrm>
            <a:off x="239713" y="1370013"/>
            <a:ext cx="8675687" cy="5207000"/>
          </a:xfrm>
        </p:spPr>
        <p:txBody>
          <a:bodyPr/>
          <a:lstStyle/>
          <a:p>
            <a:pPr>
              <a:lnSpc>
                <a:spcPct val="90000"/>
              </a:lnSpc>
              <a:defRPr/>
            </a:pPr>
            <a:r>
              <a:rPr lang="en-US" sz="2800"/>
              <a:t>Network address translation = local, LAN-specific address space translated to small number of globally routable IP addresses</a:t>
            </a:r>
          </a:p>
          <a:p>
            <a:pPr>
              <a:lnSpc>
                <a:spcPct val="90000"/>
              </a:lnSpc>
              <a:defRPr/>
            </a:pPr>
            <a:r>
              <a:rPr lang="en-US" sz="2800"/>
              <a:t>Motivation:</a:t>
            </a:r>
          </a:p>
          <a:p>
            <a:pPr lvl="1">
              <a:lnSpc>
                <a:spcPct val="90000"/>
              </a:lnSpc>
              <a:defRPr/>
            </a:pPr>
            <a:r>
              <a:rPr lang="en-US" sz="2400"/>
              <a:t>Scarce address space</a:t>
            </a:r>
          </a:p>
          <a:p>
            <a:pPr lvl="1">
              <a:lnSpc>
                <a:spcPct val="90000"/>
              </a:lnSpc>
              <a:defRPr/>
            </a:pPr>
            <a:r>
              <a:rPr lang="en-US" sz="2400"/>
              <a:t>Security: prevent unsolicited inbound requests</a:t>
            </a:r>
          </a:p>
          <a:p>
            <a:pPr>
              <a:lnSpc>
                <a:spcPct val="90000"/>
              </a:lnSpc>
              <a:defRPr/>
            </a:pPr>
            <a:r>
              <a:rPr lang="en-US" sz="2800"/>
              <a:t>Prevalence of NATs</a:t>
            </a:r>
          </a:p>
          <a:p>
            <a:pPr lvl="1">
              <a:lnSpc>
                <a:spcPct val="90000"/>
              </a:lnSpc>
              <a:defRPr/>
            </a:pPr>
            <a:r>
              <a:rPr lang="en-US" sz="2400"/>
              <a:t>Claim: 50% of broadband users are behind NATs</a:t>
            </a:r>
          </a:p>
          <a:p>
            <a:pPr lvl="1">
              <a:lnSpc>
                <a:spcPct val="90000"/>
              </a:lnSpc>
              <a:defRPr/>
            </a:pPr>
            <a:r>
              <a:rPr lang="en-US" sz="2400"/>
              <a:t>All Linksys/D-Link/Netgear home routers are NATs</a:t>
            </a:r>
          </a:p>
          <a:p>
            <a:pPr lvl="1">
              <a:lnSpc>
                <a:spcPct val="90000"/>
              </a:lnSpc>
              <a:defRPr/>
            </a:pPr>
            <a:endParaRPr lang="en-US"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6E8F0180-017F-9D54-BAB3-4EE48B8CC006}"/>
              </a:ext>
            </a:extLst>
          </p:cNvPr>
          <p:cNvSpPr>
            <a:spLocks noGrp="1" noChangeArrowheads="1"/>
          </p:cNvSpPr>
          <p:nvPr>
            <p:ph type="title"/>
          </p:nvPr>
        </p:nvSpPr>
        <p:spPr/>
        <p:txBody>
          <a:bodyPr/>
          <a:lstStyle/>
          <a:p>
            <a:r>
              <a:rPr lang="en-US" altLang="en-US"/>
              <a:t>NAT types</a:t>
            </a:r>
          </a:p>
        </p:txBody>
      </p:sp>
      <p:sp>
        <p:nvSpPr>
          <p:cNvPr id="925699" name="Rectangle 3">
            <a:extLst>
              <a:ext uri="{FF2B5EF4-FFF2-40B4-BE49-F238E27FC236}">
                <a16:creationId xmlns:a16="http://schemas.microsoft.com/office/drawing/2014/main" id="{4742B415-1400-0EAD-B40A-3E363DF3359B}"/>
              </a:ext>
            </a:extLst>
          </p:cNvPr>
          <p:cNvSpPr>
            <a:spLocks noGrp="1" noChangeArrowheads="1"/>
          </p:cNvSpPr>
          <p:nvPr>
            <p:ph type="body" idx="1"/>
          </p:nvPr>
        </p:nvSpPr>
        <p:spPr>
          <a:xfrm>
            <a:off x="661988" y="1770063"/>
            <a:ext cx="7772400" cy="4114800"/>
          </a:xfrm>
        </p:spPr>
        <p:txBody>
          <a:bodyPr/>
          <a:lstStyle/>
          <a:p>
            <a:pPr>
              <a:defRPr/>
            </a:pPr>
            <a:r>
              <a:rPr lang="en-US"/>
              <a:t>All use net-10/8 (10.*.*.*) or 192.168/16</a:t>
            </a:r>
          </a:p>
          <a:p>
            <a:pPr>
              <a:defRPr/>
            </a:pPr>
            <a:r>
              <a:rPr lang="en-US"/>
              <a:t>Address translation</a:t>
            </a:r>
          </a:p>
          <a:p>
            <a:pPr>
              <a:defRPr/>
            </a:pPr>
            <a:r>
              <a:rPr lang="en-US"/>
              <a:t>Address-and-port translation (NAPT)</a:t>
            </a:r>
          </a:p>
          <a:p>
            <a:pPr lvl="1">
              <a:defRPr/>
            </a:pPr>
            <a:r>
              <a:rPr lang="en-US"/>
              <a:t>most common form today, still called NAT</a:t>
            </a:r>
          </a:p>
          <a:p>
            <a:pPr lvl="1">
              <a:defRPr/>
            </a:pPr>
            <a:r>
              <a:rPr lang="en-US"/>
              <a:t>one external (global) IP address</a:t>
            </a:r>
          </a:p>
          <a:p>
            <a:pPr>
              <a:defRPr/>
            </a:pPr>
            <a:r>
              <a:rPr lang="en-US"/>
              <a:t>Change IP header and TCP/UDP headers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41753258-843C-2371-2496-A568176C525E}"/>
              </a:ext>
            </a:extLst>
          </p:cNvPr>
          <p:cNvSpPr>
            <a:spLocks noGrp="1" noChangeArrowheads="1"/>
          </p:cNvSpPr>
          <p:nvPr>
            <p:ph type="title"/>
          </p:nvPr>
        </p:nvSpPr>
        <p:spPr/>
        <p:txBody>
          <a:bodyPr/>
          <a:lstStyle/>
          <a:p>
            <a:r>
              <a:rPr lang="en-US" altLang="en-US"/>
              <a:t>NAT Example</a:t>
            </a:r>
          </a:p>
        </p:txBody>
      </p:sp>
      <p:cxnSp>
        <p:nvCxnSpPr>
          <p:cNvPr id="84994" name="AutoShape 3">
            <a:extLst>
              <a:ext uri="{FF2B5EF4-FFF2-40B4-BE49-F238E27FC236}">
                <a16:creationId xmlns:a16="http://schemas.microsoft.com/office/drawing/2014/main" id="{A3D1DC7F-136D-4352-5539-09C04A253B15}"/>
              </a:ext>
            </a:extLst>
          </p:cNvPr>
          <p:cNvCxnSpPr>
            <a:cxnSpLocks noChangeShapeType="1"/>
            <a:stCxn id="926727" idx="0"/>
            <a:endCxn id="926724" idx="5"/>
          </p:cNvCxnSpPr>
          <p:nvPr/>
        </p:nvCxnSpPr>
        <p:spPr bwMode="auto">
          <a:xfrm flipH="1" flipV="1">
            <a:off x="3241675" y="3275013"/>
            <a:ext cx="415925" cy="1106487"/>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926724" name="Oval 4">
            <a:extLst>
              <a:ext uri="{FF2B5EF4-FFF2-40B4-BE49-F238E27FC236}">
                <a16:creationId xmlns:a16="http://schemas.microsoft.com/office/drawing/2014/main" id="{752EE159-C3D5-CB2A-045A-DF22DBCE45C9}"/>
              </a:ext>
            </a:extLst>
          </p:cNvPr>
          <p:cNvSpPr>
            <a:spLocks noChangeArrowheads="1"/>
          </p:cNvSpPr>
          <p:nvPr/>
        </p:nvSpPr>
        <p:spPr bwMode="blackWhite">
          <a:xfrm>
            <a:off x="2590800" y="2819400"/>
            <a:ext cx="762000" cy="533400"/>
          </a:xfrm>
          <a:prstGeom prst="ellipse">
            <a:avLst/>
          </a:prstGeom>
          <a:solidFill>
            <a:schemeClr val="accent1"/>
          </a:solidFill>
          <a:ln w="12700">
            <a:solidFill>
              <a:schemeClr val="tx1"/>
            </a:solid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cxnSp>
        <p:nvCxnSpPr>
          <p:cNvPr id="84996" name="AutoShape 5">
            <a:extLst>
              <a:ext uri="{FF2B5EF4-FFF2-40B4-BE49-F238E27FC236}">
                <a16:creationId xmlns:a16="http://schemas.microsoft.com/office/drawing/2014/main" id="{21C51A3B-11BA-17B1-87D7-FD6DB88CFBA8}"/>
              </a:ext>
            </a:extLst>
          </p:cNvPr>
          <p:cNvCxnSpPr>
            <a:cxnSpLocks noChangeShapeType="1"/>
          </p:cNvCxnSpPr>
          <p:nvPr/>
        </p:nvCxnSpPr>
        <p:spPr bwMode="auto">
          <a:xfrm rot="16200000" flipH="1">
            <a:off x="4502943" y="3955257"/>
            <a:ext cx="23813" cy="1714500"/>
          </a:xfrm>
          <a:prstGeom prst="bentConnector3">
            <a:avLst>
              <a:gd name="adj1" fmla="val 1060000"/>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cxnSp>
        <p:nvCxnSpPr>
          <p:cNvPr id="84997" name="AutoShape 6">
            <a:extLst>
              <a:ext uri="{FF2B5EF4-FFF2-40B4-BE49-F238E27FC236}">
                <a16:creationId xmlns:a16="http://schemas.microsoft.com/office/drawing/2014/main" id="{89A704CE-AA59-AC02-04F5-204D78A489B0}"/>
              </a:ext>
            </a:extLst>
          </p:cNvPr>
          <p:cNvCxnSpPr>
            <a:cxnSpLocks noChangeShapeType="1"/>
          </p:cNvCxnSpPr>
          <p:nvPr/>
        </p:nvCxnSpPr>
        <p:spPr bwMode="auto">
          <a:xfrm rot="16200000" flipH="1">
            <a:off x="4510881" y="4526757"/>
            <a:ext cx="7937" cy="571500"/>
          </a:xfrm>
          <a:prstGeom prst="bentConnector3">
            <a:avLst>
              <a:gd name="adj1" fmla="val 3119995"/>
            </a:avLst>
          </a:prstGeom>
          <a:noFill/>
          <a:ln w="127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sp>
        <p:nvSpPr>
          <p:cNvPr id="926727" name="Oval 7">
            <a:extLst>
              <a:ext uri="{FF2B5EF4-FFF2-40B4-BE49-F238E27FC236}">
                <a16:creationId xmlns:a16="http://schemas.microsoft.com/office/drawing/2014/main" id="{A6DD3065-E05E-5368-8BEB-5424F017305C}"/>
              </a:ext>
            </a:extLst>
          </p:cNvPr>
          <p:cNvSpPr>
            <a:spLocks noChangeArrowheads="1"/>
          </p:cNvSpPr>
          <p:nvPr/>
        </p:nvSpPr>
        <p:spPr bwMode="blackWhite">
          <a:xfrm>
            <a:off x="3429000" y="4381500"/>
            <a:ext cx="457200" cy="381000"/>
          </a:xfrm>
          <a:prstGeom prst="ellipse">
            <a:avLst/>
          </a:prstGeom>
          <a:solidFill>
            <a:schemeClr val="accent1"/>
          </a:solidFill>
          <a:ln w="12700">
            <a:solidFill>
              <a:schemeClr val="tx1"/>
            </a:solid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26728" name="Freeform 8">
            <a:extLst>
              <a:ext uri="{FF2B5EF4-FFF2-40B4-BE49-F238E27FC236}">
                <a16:creationId xmlns:a16="http://schemas.microsoft.com/office/drawing/2014/main" id="{24E53B96-7BB2-7FAD-C5E8-78ED56D3D5B2}"/>
              </a:ext>
            </a:extLst>
          </p:cNvPr>
          <p:cNvSpPr>
            <a:spLocks/>
          </p:cNvSpPr>
          <p:nvPr/>
        </p:nvSpPr>
        <p:spPr bwMode="auto">
          <a:xfrm flipH="1">
            <a:off x="1981200" y="2286000"/>
            <a:ext cx="762000" cy="508000"/>
          </a:xfrm>
          <a:custGeom>
            <a:avLst/>
            <a:gdLst/>
            <a:ahLst/>
            <a:cxnLst>
              <a:cxn ang="0">
                <a:pos x="576" y="32"/>
              </a:cxn>
              <a:cxn ang="0">
                <a:pos x="240" y="32"/>
              </a:cxn>
              <a:cxn ang="0">
                <a:pos x="0" y="224"/>
              </a:cxn>
            </a:cxnLst>
            <a:rect l="0" t="0" r="r" b="b"/>
            <a:pathLst>
              <a:path w="576" h="224">
                <a:moveTo>
                  <a:pt x="576" y="32"/>
                </a:moveTo>
                <a:cubicBezTo>
                  <a:pt x="456" y="16"/>
                  <a:pt x="336" y="0"/>
                  <a:pt x="240" y="32"/>
                </a:cubicBezTo>
                <a:cubicBezTo>
                  <a:pt x="144" y="64"/>
                  <a:pt x="72" y="144"/>
                  <a:pt x="0" y="224"/>
                </a:cubicBezTo>
              </a:path>
            </a:pathLst>
          </a:custGeom>
          <a:noFill/>
          <a:ln w="28575" cap="flat" cmpd="sng">
            <a:solidFill>
              <a:srgbClr val="FFFF00"/>
            </a:solidFill>
            <a:prstDash val="solid"/>
            <a:round/>
            <a:headEnd type="none" w="sm" len="sm"/>
            <a:tailEnd type="arrow"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5000" name="Text Box 9">
            <a:extLst>
              <a:ext uri="{FF2B5EF4-FFF2-40B4-BE49-F238E27FC236}">
                <a16:creationId xmlns:a16="http://schemas.microsoft.com/office/drawing/2014/main" id="{9571E552-37A3-7A72-AE7B-120018792D21}"/>
              </a:ext>
            </a:extLst>
          </p:cNvPr>
          <p:cNvSpPr txBox="1">
            <a:spLocks noChangeArrowheads="1"/>
          </p:cNvSpPr>
          <p:nvPr/>
        </p:nvSpPr>
        <p:spPr bwMode="blackWhite">
          <a:xfrm>
            <a:off x="228600" y="2133600"/>
            <a:ext cx="2762250" cy="379413"/>
          </a:xfrm>
          <a:prstGeom prst="rect">
            <a:avLst/>
          </a:prstGeom>
          <a:solidFill>
            <a:schemeClr val="bg2"/>
          </a:solidFill>
          <a:ln w="12700">
            <a:solidFill>
              <a:schemeClr val="tx1"/>
            </a:solidFill>
            <a:miter lim="800000"/>
            <a:headEnd type="none" w="sm" len="sm"/>
            <a:tailEnd type="none" w="sm" len="sm"/>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a:latin typeface="Arial" panose="020B0604020202020204" pitchFamily="34" charset="0"/>
              </a:rPr>
              <a:t>IAP’s Point of Presence</a:t>
            </a:r>
          </a:p>
        </p:txBody>
      </p:sp>
      <p:sp>
        <p:nvSpPr>
          <p:cNvPr id="926730" name="Freeform 10">
            <a:extLst>
              <a:ext uri="{FF2B5EF4-FFF2-40B4-BE49-F238E27FC236}">
                <a16:creationId xmlns:a16="http://schemas.microsoft.com/office/drawing/2014/main" id="{B09DC121-ADED-661B-849B-E065BB1D9F1E}"/>
              </a:ext>
            </a:extLst>
          </p:cNvPr>
          <p:cNvSpPr>
            <a:spLocks/>
          </p:cNvSpPr>
          <p:nvPr/>
        </p:nvSpPr>
        <p:spPr bwMode="auto">
          <a:xfrm flipH="1" flipV="1">
            <a:off x="2819400" y="4800600"/>
            <a:ext cx="762000" cy="304800"/>
          </a:xfrm>
          <a:custGeom>
            <a:avLst/>
            <a:gdLst/>
            <a:ahLst/>
            <a:cxnLst>
              <a:cxn ang="0">
                <a:pos x="576" y="32"/>
              </a:cxn>
              <a:cxn ang="0">
                <a:pos x="240" y="32"/>
              </a:cxn>
              <a:cxn ang="0">
                <a:pos x="0" y="224"/>
              </a:cxn>
            </a:cxnLst>
            <a:rect l="0" t="0" r="r" b="b"/>
            <a:pathLst>
              <a:path w="576" h="224">
                <a:moveTo>
                  <a:pt x="576" y="32"/>
                </a:moveTo>
                <a:cubicBezTo>
                  <a:pt x="456" y="16"/>
                  <a:pt x="336" y="0"/>
                  <a:pt x="240" y="32"/>
                </a:cubicBezTo>
                <a:cubicBezTo>
                  <a:pt x="144" y="64"/>
                  <a:pt x="72" y="144"/>
                  <a:pt x="0" y="224"/>
                </a:cubicBezTo>
              </a:path>
            </a:pathLst>
          </a:custGeom>
          <a:noFill/>
          <a:ln w="28575" cap="flat" cmpd="sng">
            <a:solidFill>
              <a:srgbClr val="FFFF00"/>
            </a:solidFill>
            <a:prstDash val="solid"/>
            <a:round/>
            <a:headEnd type="none" w="sm" len="sm"/>
            <a:tailEnd type="arrow" w="med" len="med"/>
          </a:ln>
          <a:effectLst/>
        </p:spPr>
        <p:txBody>
          <a:bodyPr/>
          <a:lstStyle/>
          <a:p>
            <a:pPr>
              <a:defRPr/>
            </a:pPr>
            <a:endParaRPr lang="en-US">
              <a:effectLst>
                <a:outerShdw blurRad="38100" dist="38100" dir="2700000" algn="tl">
                  <a:srgbClr val="000000">
                    <a:alpha val="43137"/>
                  </a:srgbClr>
                </a:outerShdw>
              </a:effectLst>
            </a:endParaRPr>
          </a:p>
        </p:txBody>
      </p:sp>
      <p:sp>
        <p:nvSpPr>
          <p:cNvPr id="85002" name="Text Box 11">
            <a:extLst>
              <a:ext uri="{FF2B5EF4-FFF2-40B4-BE49-F238E27FC236}">
                <a16:creationId xmlns:a16="http://schemas.microsoft.com/office/drawing/2014/main" id="{32DD4E4F-6C59-5BB4-05B1-283361F76900}"/>
              </a:ext>
            </a:extLst>
          </p:cNvPr>
          <p:cNvSpPr txBox="1">
            <a:spLocks noChangeArrowheads="1"/>
          </p:cNvSpPr>
          <p:nvPr/>
        </p:nvSpPr>
        <p:spPr bwMode="blackWhite">
          <a:xfrm>
            <a:off x="196850" y="4953000"/>
            <a:ext cx="2724150" cy="928688"/>
          </a:xfrm>
          <a:prstGeom prst="rect">
            <a:avLst/>
          </a:prstGeom>
          <a:solidFill>
            <a:schemeClr val="bg2"/>
          </a:solidFill>
          <a:ln w="12700">
            <a:solidFill>
              <a:schemeClr val="tx1"/>
            </a:solidFill>
            <a:miter lim="800000"/>
            <a:headEnd type="none" w="sm" len="sm"/>
            <a:tailEnd type="none" w="sm" len="sm"/>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a:latin typeface="Arial" panose="020B0604020202020204" pitchFamily="34" charset="0"/>
              </a:rPr>
              <a:t>Router with NAT</a:t>
            </a:r>
          </a:p>
          <a:p>
            <a:pPr algn="ctr">
              <a:spcBef>
                <a:spcPct val="0"/>
              </a:spcBef>
              <a:buClrTx/>
              <a:buSzTx/>
              <a:buFontTx/>
              <a:buNone/>
            </a:pPr>
            <a:r>
              <a:rPr lang="en-US" altLang="en-US" sz="1800" b="1">
                <a:latin typeface="Arial" panose="020B0604020202020204" pitchFamily="34" charset="0"/>
              </a:rPr>
              <a:t>External IP: 68.40.162.3</a:t>
            </a:r>
          </a:p>
          <a:p>
            <a:pPr algn="ctr">
              <a:spcBef>
                <a:spcPct val="0"/>
              </a:spcBef>
              <a:buClrTx/>
              <a:buSzTx/>
              <a:buFontTx/>
              <a:buNone/>
            </a:pPr>
            <a:r>
              <a:rPr lang="en-US" altLang="en-US" sz="1800" b="1">
                <a:latin typeface="Arial" panose="020B0604020202020204" pitchFamily="34" charset="0"/>
              </a:rPr>
              <a:t>Internal IP: 192.168.0.0</a:t>
            </a:r>
          </a:p>
        </p:txBody>
      </p:sp>
      <p:sp>
        <p:nvSpPr>
          <p:cNvPr id="85003" name="Text Box 12">
            <a:extLst>
              <a:ext uri="{FF2B5EF4-FFF2-40B4-BE49-F238E27FC236}">
                <a16:creationId xmlns:a16="http://schemas.microsoft.com/office/drawing/2014/main" id="{CA0016EA-ED29-4FA4-2BA2-73F4E55AF0FB}"/>
              </a:ext>
            </a:extLst>
          </p:cNvPr>
          <p:cNvSpPr txBox="1">
            <a:spLocks noChangeArrowheads="1"/>
          </p:cNvSpPr>
          <p:nvPr/>
        </p:nvSpPr>
        <p:spPr bwMode="blackWhite">
          <a:xfrm>
            <a:off x="3352800" y="5257800"/>
            <a:ext cx="2800350" cy="1477963"/>
          </a:xfrm>
          <a:prstGeom prst="rect">
            <a:avLst/>
          </a:prstGeom>
          <a:solidFill>
            <a:schemeClr val="bg2"/>
          </a:solidFill>
          <a:ln w="12700">
            <a:solidFill>
              <a:schemeClr val="tx1"/>
            </a:solidFill>
            <a:miter lim="800000"/>
            <a:headEnd type="none" w="sm" len="sm"/>
            <a:tailEnd type="none" w="sm" len="sm"/>
          </a:ln>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a:latin typeface="Arial" panose="020B0604020202020204" pitchFamily="34" charset="0"/>
              </a:rPr>
              <a:t>Router assigns internal </a:t>
            </a:r>
          </a:p>
          <a:p>
            <a:pPr algn="ctr">
              <a:spcBef>
                <a:spcPct val="0"/>
              </a:spcBef>
              <a:buClrTx/>
              <a:buSzTx/>
              <a:buFontTx/>
              <a:buNone/>
            </a:pPr>
            <a:r>
              <a:rPr lang="en-US" altLang="en-US" sz="1800" b="1">
                <a:latin typeface="Arial" panose="020B0604020202020204" pitchFamily="34" charset="0"/>
              </a:rPr>
              <a:t>IPs to hosts on LAN :</a:t>
            </a:r>
          </a:p>
          <a:p>
            <a:pPr algn="ctr">
              <a:spcBef>
                <a:spcPct val="0"/>
              </a:spcBef>
              <a:buClrTx/>
              <a:buSzTx/>
              <a:buFontTx/>
              <a:buNone/>
            </a:pPr>
            <a:r>
              <a:rPr lang="en-US" altLang="en-US" sz="1800" b="1">
                <a:latin typeface="Arial" panose="020B0604020202020204" pitchFamily="34" charset="0"/>
              </a:rPr>
              <a:t>A: 192.168.0.100</a:t>
            </a:r>
          </a:p>
          <a:p>
            <a:pPr algn="ctr">
              <a:spcBef>
                <a:spcPct val="0"/>
              </a:spcBef>
              <a:buClrTx/>
              <a:buSzTx/>
              <a:buFontTx/>
              <a:buNone/>
            </a:pPr>
            <a:r>
              <a:rPr lang="en-US" altLang="en-US" sz="1800" b="1">
                <a:latin typeface="Arial" panose="020B0604020202020204" pitchFamily="34" charset="0"/>
              </a:rPr>
              <a:t>B: 192.168.0.101</a:t>
            </a:r>
          </a:p>
          <a:p>
            <a:pPr algn="ctr">
              <a:spcBef>
                <a:spcPct val="0"/>
              </a:spcBef>
              <a:buClrTx/>
              <a:buSzTx/>
              <a:buFontTx/>
              <a:buNone/>
            </a:pPr>
            <a:r>
              <a:rPr lang="en-US" altLang="en-US" sz="1800" b="1">
                <a:latin typeface="Arial" panose="020B0604020202020204" pitchFamily="34" charset="0"/>
              </a:rPr>
              <a:t>C: 192.168.0.102</a:t>
            </a:r>
          </a:p>
        </p:txBody>
      </p:sp>
      <p:sp>
        <p:nvSpPr>
          <p:cNvPr id="85004" name="Text Box 13">
            <a:extLst>
              <a:ext uri="{FF2B5EF4-FFF2-40B4-BE49-F238E27FC236}">
                <a16:creationId xmlns:a16="http://schemas.microsoft.com/office/drawing/2014/main" id="{0C1F16B1-7603-E826-DDD8-408F96B0C251}"/>
              </a:ext>
            </a:extLst>
          </p:cNvPr>
          <p:cNvSpPr txBox="1">
            <a:spLocks noChangeArrowheads="1"/>
          </p:cNvSpPr>
          <p:nvPr/>
        </p:nvSpPr>
        <p:spPr bwMode="blackWhite">
          <a:xfrm>
            <a:off x="3962400" y="4364038"/>
            <a:ext cx="523875" cy="457200"/>
          </a:xfrm>
          <a:prstGeom prst="rect">
            <a:avLst/>
          </a:prstGeom>
          <a:solidFill>
            <a:schemeClr val="accent2"/>
          </a:solidFill>
          <a:ln w="12700">
            <a:solidFill>
              <a:schemeClr val="tx1"/>
            </a:solidFill>
            <a:miter lim="800000"/>
            <a:headEnd type="none" w="sm" len="sm"/>
            <a:tailEnd type="none" w="sm" len="sm"/>
          </a:ln>
        </p:spPr>
        <p:txBody>
          <a:bodyPr anchor="ctr" anchorCtr="1"/>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a:latin typeface="Arial" panose="020B0604020202020204" pitchFamily="34" charset="0"/>
              </a:rPr>
              <a:t>A</a:t>
            </a:r>
          </a:p>
        </p:txBody>
      </p:sp>
      <p:sp>
        <p:nvSpPr>
          <p:cNvPr id="85005" name="Text Box 14">
            <a:extLst>
              <a:ext uri="{FF2B5EF4-FFF2-40B4-BE49-F238E27FC236}">
                <a16:creationId xmlns:a16="http://schemas.microsoft.com/office/drawing/2014/main" id="{C76B3739-341E-2DC1-D7F9-522D8E72EE5C}"/>
              </a:ext>
            </a:extLst>
          </p:cNvPr>
          <p:cNvSpPr txBox="1">
            <a:spLocks noChangeArrowheads="1"/>
          </p:cNvSpPr>
          <p:nvPr/>
        </p:nvSpPr>
        <p:spPr bwMode="blackWhite">
          <a:xfrm>
            <a:off x="4592638" y="4364038"/>
            <a:ext cx="523875" cy="457200"/>
          </a:xfrm>
          <a:prstGeom prst="rect">
            <a:avLst/>
          </a:prstGeom>
          <a:solidFill>
            <a:schemeClr val="accent2"/>
          </a:solidFill>
          <a:ln w="12700">
            <a:solidFill>
              <a:schemeClr val="tx1"/>
            </a:solidFill>
            <a:miter lim="800000"/>
            <a:headEnd type="none" w="sm" len="sm"/>
            <a:tailEnd type="none" w="sm" len="sm"/>
          </a:ln>
        </p:spPr>
        <p:txBody>
          <a:bodyPr anchor="ctr" anchorCtr="1"/>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a:latin typeface="Arial" panose="020B0604020202020204" pitchFamily="34" charset="0"/>
              </a:rPr>
              <a:t>B</a:t>
            </a:r>
          </a:p>
        </p:txBody>
      </p:sp>
      <p:sp>
        <p:nvSpPr>
          <p:cNvPr id="85006" name="Text Box 15">
            <a:extLst>
              <a:ext uri="{FF2B5EF4-FFF2-40B4-BE49-F238E27FC236}">
                <a16:creationId xmlns:a16="http://schemas.microsoft.com/office/drawing/2014/main" id="{00C8B233-F865-A938-9775-7CC3757E239D}"/>
              </a:ext>
            </a:extLst>
          </p:cNvPr>
          <p:cNvSpPr txBox="1">
            <a:spLocks noChangeArrowheads="1"/>
          </p:cNvSpPr>
          <p:nvPr/>
        </p:nvSpPr>
        <p:spPr bwMode="blackWhite">
          <a:xfrm>
            <a:off x="5211763" y="4364038"/>
            <a:ext cx="523875" cy="457200"/>
          </a:xfrm>
          <a:prstGeom prst="rect">
            <a:avLst/>
          </a:prstGeom>
          <a:solidFill>
            <a:schemeClr val="accent2"/>
          </a:solidFill>
          <a:ln w="12700">
            <a:solidFill>
              <a:schemeClr val="tx1"/>
            </a:solidFill>
            <a:miter lim="800000"/>
            <a:headEnd type="none" w="sm" len="sm"/>
            <a:tailEnd type="none" w="sm" len="sm"/>
          </a:ln>
        </p:spPr>
        <p:txBody>
          <a:bodyPr anchor="ctr" anchorCtr="1"/>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b="1">
                <a:latin typeface="Arial" panose="020B0604020202020204" pitchFamily="34" charset="0"/>
              </a:rPr>
              <a:t>C</a:t>
            </a:r>
          </a:p>
        </p:txBody>
      </p:sp>
      <p:sp>
        <p:nvSpPr>
          <p:cNvPr id="85007" name="Text Box 16">
            <a:extLst>
              <a:ext uri="{FF2B5EF4-FFF2-40B4-BE49-F238E27FC236}">
                <a16:creationId xmlns:a16="http://schemas.microsoft.com/office/drawing/2014/main" id="{FEF50750-9F17-B13E-D5C1-4DACC0E7F392}"/>
              </a:ext>
            </a:extLst>
          </p:cNvPr>
          <p:cNvSpPr txBox="1">
            <a:spLocks noChangeArrowheads="1"/>
          </p:cNvSpPr>
          <p:nvPr/>
        </p:nvSpPr>
        <p:spPr bwMode="blackWhite">
          <a:xfrm>
            <a:off x="4038600" y="1803400"/>
            <a:ext cx="4800600" cy="2295525"/>
          </a:xfrm>
          <a:prstGeom prst="rect">
            <a:avLst/>
          </a:prstGeom>
          <a:solidFill>
            <a:schemeClr val="bg2"/>
          </a:solidFill>
          <a:ln w="12700">
            <a:solidFill>
              <a:schemeClr val="tx1"/>
            </a:solidFill>
            <a:miter lim="800000"/>
            <a:headEnd type="none" w="sm" len="sm"/>
            <a:tailEnd type="none" w="sm" len="sm"/>
          </a:ln>
        </p:spPr>
        <p:txBody>
          <a:bodyPr>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latin typeface="Arial" panose="020B0604020202020204" pitchFamily="34" charset="0"/>
              </a:rPr>
              <a:t>Messages sent between host B </a:t>
            </a:r>
            <a:br>
              <a:rPr lang="en-US" altLang="en-US" sz="2400" b="1">
                <a:latin typeface="Arial" panose="020B0604020202020204" pitchFamily="34" charset="0"/>
              </a:rPr>
            </a:br>
            <a:r>
              <a:rPr lang="en-US" altLang="en-US" sz="2400" b="1">
                <a:latin typeface="Arial" panose="020B0604020202020204" pitchFamily="34" charset="0"/>
              </a:rPr>
              <a:t>to another host on the Internet</a:t>
            </a:r>
          </a:p>
          <a:p>
            <a:pPr>
              <a:spcBef>
                <a:spcPct val="0"/>
              </a:spcBef>
              <a:buClrTx/>
              <a:buSzTx/>
              <a:buFontTx/>
              <a:buNone/>
            </a:pPr>
            <a:r>
              <a:rPr lang="en-US" altLang="en-US" sz="2400" b="1" u="sng">
                <a:latin typeface="Arial" panose="020B0604020202020204" pitchFamily="34" charset="0"/>
              </a:rPr>
              <a:t>Host B original source socket:</a:t>
            </a:r>
          </a:p>
          <a:p>
            <a:pPr>
              <a:spcBef>
                <a:spcPct val="0"/>
              </a:spcBef>
              <a:buClrTx/>
              <a:buSzTx/>
              <a:buFontTx/>
              <a:buNone/>
            </a:pPr>
            <a:r>
              <a:rPr lang="en-US" altLang="en-US" sz="2400" b="1">
                <a:latin typeface="Arial" panose="020B0604020202020204" pitchFamily="34" charset="0"/>
              </a:rPr>
              <a:t>192.168.0.101 port 1341</a:t>
            </a:r>
          </a:p>
          <a:p>
            <a:pPr>
              <a:spcBef>
                <a:spcPct val="0"/>
              </a:spcBef>
              <a:buClrTx/>
              <a:buSzTx/>
              <a:buFontTx/>
              <a:buNone/>
            </a:pPr>
            <a:r>
              <a:rPr lang="en-US" altLang="en-US" sz="2400" b="1" u="sng">
                <a:latin typeface="Arial" panose="020B0604020202020204" pitchFamily="34" charset="0"/>
              </a:rPr>
              <a:t>Host B translated socket:</a:t>
            </a:r>
          </a:p>
          <a:p>
            <a:pPr>
              <a:spcBef>
                <a:spcPct val="0"/>
              </a:spcBef>
              <a:buClrTx/>
              <a:buSzTx/>
              <a:buFontTx/>
              <a:buNone/>
            </a:pPr>
            <a:r>
              <a:rPr lang="en-US" altLang="en-US" sz="2400" b="1">
                <a:latin typeface="Arial" panose="020B0604020202020204" pitchFamily="34" charset="0"/>
              </a:rPr>
              <a:t>68.40.162.3 port 5280</a:t>
            </a:r>
          </a:p>
        </p:txBody>
      </p:sp>
      <p:cxnSp>
        <p:nvCxnSpPr>
          <p:cNvPr id="85008" name="AutoShape 17">
            <a:extLst>
              <a:ext uri="{FF2B5EF4-FFF2-40B4-BE49-F238E27FC236}">
                <a16:creationId xmlns:a16="http://schemas.microsoft.com/office/drawing/2014/main" id="{C870E579-B192-2640-D44F-741D8B536EE6}"/>
              </a:ext>
            </a:extLst>
          </p:cNvPr>
          <p:cNvCxnSpPr>
            <a:cxnSpLocks noChangeShapeType="1"/>
            <a:stCxn id="926724" idx="2"/>
          </p:cNvCxnSpPr>
          <p:nvPr/>
        </p:nvCxnSpPr>
        <p:spPr bwMode="auto">
          <a:xfrm flipH="1">
            <a:off x="1981200" y="3086100"/>
            <a:ext cx="609600" cy="692150"/>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graphicFrame>
        <p:nvGraphicFramePr>
          <p:cNvPr id="85009" name="Object 18">
            <a:extLst>
              <a:ext uri="{FF2B5EF4-FFF2-40B4-BE49-F238E27FC236}">
                <a16:creationId xmlns:a16="http://schemas.microsoft.com/office/drawing/2014/main" id="{7F62ECA1-34EA-9509-C97F-938105890570}"/>
              </a:ext>
            </a:extLst>
          </p:cNvPr>
          <p:cNvGraphicFramePr>
            <a:graphicFrameLocks noChangeAspect="1"/>
          </p:cNvGraphicFramePr>
          <p:nvPr/>
        </p:nvGraphicFramePr>
        <p:xfrm>
          <a:off x="609600" y="3200400"/>
          <a:ext cx="1371600" cy="1155700"/>
        </p:xfrm>
        <a:graphic>
          <a:graphicData uri="http://schemas.openxmlformats.org/presentationml/2006/ole">
            <mc:AlternateContent xmlns:mc="http://schemas.openxmlformats.org/markup-compatibility/2006">
              <mc:Choice xmlns:v="urn:schemas-microsoft-com:vml" Requires="v">
                <p:oleObj name="Clip" r:id="rId2" imgW="0" imgH="0" progId="MS_ClipArt_Gallery.2">
                  <p:embed/>
                </p:oleObj>
              </mc:Choice>
              <mc:Fallback>
                <p:oleObj name="Clip" r:id="rId2" imgW="0" imgH="0" progId="MS_ClipArt_Gallery.2">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200400"/>
                        <a:ext cx="1371600" cy="1155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0643DF53-F429-AA5B-F9E8-45EA6BD7D4D1}"/>
              </a:ext>
            </a:extLst>
          </p:cNvPr>
          <p:cNvSpPr>
            <a:spLocks noGrp="1" noChangeArrowheads="1"/>
          </p:cNvSpPr>
          <p:nvPr>
            <p:ph type="title"/>
          </p:nvPr>
        </p:nvSpPr>
        <p:spPr>
          <a:xfrm>
            <a:off x="1023938" y="141288"/>
            <a:ext cx="7772400" cy="1143000"/>
          </a:xfrm>
        </p:spPr>
        <p:txBody>
          <a:bodyPr/>
          <a:lstStyle/>
          <a:p>
            <a:r>
              <a:rPr lang="en-US" altLang="en-US"/>
              <a:t>Will IPSec Work with NAT ?</a:t>
            </a:r>
          </a:p>
        </p:txBody>
      </p:sp>
      <p:sp>
        <p:nvSpPr>
          <p:cNvPr id="946179" name="Rectangle 3">
            <a:extLst>
              <a:ext uri="{FF2B5EF4-FFF2-40B4-BE49-F238E27FC236}">
                <a16:creationId xmlns:a16="http://schemas.microsoft.com/office/drawing/2014/main" id="{C23446DC-3748-42FA-7AF0-BFBC6B8EF948}"/>
              </a:ext>
            </a:extLst>
          </p:cNvPr>
          <p:cNvSpPr>
            <a:spLocks noGrp="1" noChangeArrowheads="1"/>
          </p:cNvSpPr>
          <p:nvPr>
            <p:ph type="body" idx="1"/>
          </p:nvPr>
        </p:nvSpPr>
        <p:spPr>
          <a:xfrm>
            <a:off x="0" y="1119188"/>
            <a:ext cx="9144000" cy="5327650"/>
          </a:xfrm>
        </p:spPr>
        <p:txBody>
          <a:bodyPr/>
          <a:lstStyle/>
          <a:p>
            <a:pPr marL="609600" indent="-609600">
              <a:lnSpc>
                <a:spcPct val="90000"/>
              </a:lnSpc>
              <a:defRPr/>
            </a:pPr>
            <a:r>
              <a:rPr lang="en-US" altLang="en-US"/>
              <a:t>Consider both AH and ESP protocols. </a:t>
            </a:r>
          </a:p>
          <a:p>
            <a:pPr marL="609600" indent="-609600">
              <a:lnSpc>
                <a:spcPct val="90000"/>
              </a:lnSpc>
              <a:defRPr/>
            </a:pPr>
            <a:r>
              <a:rPr lang="en-US" altLang="en-US"/>
              <a:t>Consider both transport and tunnel modes. For tunnel mode, consider  the following two cases</a:t>
            </a:r>
          </a:p>
          <a:p>
            <a:pPr marL="990600" lvl="1" indent="-533400">
              <a:lnSpc>
                <a:spcPct val="90000"/>
              </a:lnSpc>
              <a:defRPr/>
            </a:pPr>
            <a:r>
              <a:rPr lang="en-US" altLang="en-US"/>
              <a:t>Sender – NAT – IPSec Gateway 1 – IPSec Gateway 2 – Receiver</a:t>
            </a:r>
          </a:p>
          <a:p>
            <a:pPr marL="990600" lvl="1" indent="-533400">
              <a:lnSpc>
                <a:spcPct val="90000"/>
              </a:lnSpc>
              <a:defRPr/>
            </a:pPr>
            <a:r>
              <a:rPr lang="en-US" altLang="en-US"/>
              <a:t>Sender – IPSec Gateway 1 – NAT – IPSec Gateway 2 – Receiver</a:t>
            </a:r>
          </a:p>
          <a:p>
            <a:pPr marL="609600" indent="-609600">
              <a:lnSpc>
                <a:spcPct val="90000"/>
              </a:lnSpc>
              <a:defRPr/>
            </a:pPr>
            <a:r>
              <a:rPr lang="en-US" altLang="en-US"/>
              <a:t>What about no port # translation?</a:t>
            </a:r>
          </a:p>
          <a:p>
            <a:pPr marL="609600" indent="-609600">
              <a:lnSpc>
                <a:spcPct val="90000"/>
              </a:lnSpc>
              <a:defRPr/>
            </a:pPr>
            <a:r>
              <a:rPr lang="en-US" altLang="en-US">
                <a:effectLst/>
              </a:rPr>
              <a:t>Practical solutions for NAT to work w/ IPSec</a:t>
            </a:r>
          </a:p>
          <a:p>
            <a:pPr marL="990600" lvl="1" indent="-533400">
              <a:lnSpc>
                <a:spcPct val="90000"/>
              </a:lnSpc>
              <a:defRPr/>
            </a:pPr>
            <a:r>
              <a:rPr lang="en-US" altLang="en-US">
                <a:effectLst/>
              </a:rPr>
              <a:t>IPSec – NAC Compatibility Requirements: RFC 3715</a:t>
            </a:r>
          </a:p>
          <a:p>
            <a:pPr marL="990600" lvl="1" indent="-533400">
              <a:lnSpc>
                <a:spcPct val="90000"/>
              </a:lnSpc>
              <a:defRPr/>
            </a:pPr>
            <a:r>
              <a:rPr lang="en-US" altLang="en-US">
                <a:effectLst/>
              </a:rPr>
              <a:t>UDP Encapsulation of IPsec ESP Packets: RFC 3948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6179">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6179">
                                            <p:txEl>
                                              <p:pRg st="5" end="5"/>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46179">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461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617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4">
            <a:extLst>
              <a:ext uri="{FF2B5EF4-FFF2-40B4-BE49-F238E27FC236}">
                <a16:creationId xmlns:a16="http://schemas.microsoft.com/office/drawing/2014/main" id="{61AC32DE-0CCF-3C79-F362-DCB269183618}"/>
              </a:ext>
            </a:extLst>
          </p:cNvPr>
          <p:cNvSpPr>
            <a:spLocks noGrp="1" noChangeArrowheads="1"/>
          </p:cNvSpPr>
          <p:nvPr>
            <p:ph type="ctrTitle"/>
          </p:nvPr>
        </p:nvSpPr>
        <p:spPr/>
        <p:txBody>
          <a:bodyPr/>
          <a:lstStyle/>
          <a:p>
            <a:r>
              <a:rPr lang="en-US" altLang="en-US"/>
              <a:t>Backup Slides</a:t>
            </a:r>
          </a:p>
        </p:txBody>
      </p:sp>
      <p:sp>
        <p:nvSpPr>
          <p:cNvPr id="913413" name="Rectangle 5">
            <a:extLst>
              <a:ext uri="{FF2B5EF4-FFF2-40B4-BE49-F238E27FC236}">
                <a16:creationId xmlns:a16="http://schemas.microsoft.com/office/drawing/2014/main" id="{86AD616C-B6B6-F19C-33D7-88DBE527C0B8}"/>
              </a:ext>
            </a:extLst>
          </p:cNvPr>
          <p:cNvSpPr>
            <a:spLocks noGrp="1" noChangeArrowheads="1"/>
          </p:cNvSpPr>
          <p:nvPr>
            <p:ph type="subTitle" idx="1"/>
          </p:nvPr>
        </p:nvSpPr>
        <p:spPr/>
        <p:txBody>
          <a:bodyPr/>
          <a:lstStyle/>
          <a:p>
            <a:pPr>
              <a:defRPr/>
            </a:pP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8104A4C1-5C09-CA3B-5CD5-710B7F74186A}"/>
              </a:ext>
            </a:extLst>
          </p:cNvPr>
          <p:cNvSpPr>
            <a:spLocks noGrp="1" noChangeArrowheads="1"/>
          </p:cNvSpPr>
          <p:nvPr>
            <p:ph type="title"/>
          </p:nvPr>
        </p:nvSpPr>
        <p:spPr/>
        <p:txBody>
          <a:bodyPr/>
          <a:lstStyle/>
          <a:p>
            <a:r>
              <a:rPr lang="en-US" altLang="en-US" sz="4000"/>
              <a:t>Combining Security Associations</a:t>
            </a:r>
            <a:endParaRPr lang="en-AU" altLang="en-US" sz="4000"/>
          </a:p>
        </p:txBody>
      </p:sp>
      <p:sp>
        <p:nvSpPr>
          <p:cNvPr id="942083" name="Rectangle 3">
            <a:extLst>
              <a:ext uri="{FF2B5EF4-FFF2-40B4-BE49-F238E27FC236}">
                <a16:creationId xmlns:a16="http://schemas.microsoft.com/office/drawing/2014/main" id="{82ABCF69-0D61-442E-B9DE-5C1A2D8EEF11}"/>
              </a:ext>
            </a:extLst>
          </p:cNvPr>
          <p:cNvSpPr>
            <a:spLocks noGrp="1" noChangeArrowheads="1"/>
          </p:cNvSpPr>
          <p:nvPr>
            <p:ph type="body" idx="1"/>
          </p:nvPr>
        </p:nvSpPr>
        <p:spPr/>
        <p:txBody>
          <a:bodyPr/>
          <a:lstStyle/>
          <a:p>
            <a:pPr>
              <a:lnSpc>
                <a:spcPct val="90000"/>
              </a:lnSpc>
              <a:defRPr/>
            </a:pPr>
            <a:r>
              <a:rPr lang="en-US"/>
              <a:t>SA’s can implement either AH or ESP</a:t>
            </a:r>
          </a:p>
          <a:p>
            <a:pPr>
              <a:lnSpc>
                <a:spcPct val="90000"/>
              </a:lnSpc>
              <a:defRPr/>
            </a:pPr>
            <a:r>
              <a:rPr lang="en-US"/>
              <a:t>to implement both need to combine SA’s</a:t>
            </a:r>
          </a:p>
          <a:p>
            <a:pPr lvl="1">
              <a:lnSpc>
                <a:spcPct val="90000"/>
              </a:lnSpc>
              <a:defRPr/>
            </a:pPr>
            <a:r>
              <a:rPr lang="en-US"/>
              <a:t>form a security </a:t>
            </a:r>
            <a:r>
              <a:rPr lang="en-US">
                <a:latin typeface="Times-Roman" charset="0"/>
              </a:rPr>
              <a:t>association </a:t>
            </a:r>
            <a:r>
              <a:rPr lang="en-US"/>
              <a:t>bundle</a:t>
            </a:r>
          </a:p>
          <a:p>
            <a:pPr lvl="1">
              <a:lnSpc>
                <a:spcPct val="90000"/>
              </a:lnSpc>
              <a:defRPr/>
            </a:pPr>
            <a:r>
              <a:rPr lang="en-US">
                <a:latin typeface="Times-Roman" charset="0"/>
              </a:rPr>
              <a:t>may terminate at different or same endpoints</a:t>
            </a:r>
          </a:p>
          <a:p>
            <a:pPr lvl="1">
              <a:lnSpc>
                <a:spcPct val="90000"/>
              </a:lnSpc>
              <a:defRPr/>
            </a:pPr>
            <a:r>
              <a:rPr lang="en-US">
                <a:latin typeface="Times-Roman" charset="0"/>
              </a:rPr>
              <a:t>combined by</a:t>
            </a:r>
          </a:p>
          <a:p>
            <a:pPr lvl="2">
              <a:lnSpc>
                <a:spcPct val="90000"/>
              </a:lnSpc>
              <a:defRPr/>
            </a:pPr>
            <a:r>
              <a:rPr lang="en-US">
                <a:latin typeface="Times-Roman" charset="0"/>
              </a:rPr>
              <a:t>transport adjacency</a:t>
            </a:r>
          </a:p>
          <a:p>
            <a:pPr lvl="2">
              <a:lnSpc>
                <a:spcPct val="90000"/>
              </a:lnSpc>
              <a:defRPr/>
            </a:pPr>
            <a:r>
              <a:rPr lang="en-US">
                <a:latin typeface="Times-Roman" charset="0"/>
              </a:rPr>
              <a:t>iterated tunneling</a:t>
            </a:r>
          </a:p>
          <a:p>
            <a:pPr>
              <a:lnSpc>
                <a:spcPct val="90000"/>
              </a:lnSpc>
              <a:defRPr/>
            </a:pPr>
            <a:r>
              <a:rPr lang="en-US"/>
              <a:t>issue of authentication &amp; encryption order </a:t>
            </a:r>
          </a:p>
          <a:p>
            <a:pPr lvl="1">
              <a:lnSpc>
                <a:spcPct val="90000"/>
              </a:lnSpc>
              <a:defRPr/>
            </a:pP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ADD36831-7AF5-8DDD-A07C-F57B5323FB7C}"/>
              </a:ext>
            </a:extLst>
          </p:cNvPr>
          <p:cNvSpPr>
            <a:spLocks noGrp="1" noChangeArrowheads="1"/>
          </p:cNvSpPr>
          <p:nvPr>
            <p:ph type="title"/>
          </p:nvPr>
        </p:nvSpPr>
        <p:spPr/>
        <p:txBody>
          <a:bodyPr/>
          <a:lstStyle/>
          <a:p>
            <a:r>
              <a:rPr lang="en-US" altLang="en-US" sz="4000"/>
              <a:t>Combining Security Associations</a:t>
            </a:r>
            <a:endParaRPr lang="en-AU" altLang="en-US" sz="4000"/>
          </a:p>
        </p:txBody>
      </p:sp>
      <p:pic>
        <p:nvPicPr>
          <p:cNvPr id="92162" name="Picture 3">
            <a:extLst>
              <a:ext uri="{FF2B5EF4-FFF2-40B4-BE49-F238E27FC236}">
                <a16:creationId xmlns:a16="http://schemas.microsoft.com/office/drawing/2014/main" id="{D0E7B290-8452-CBCE-9A95-FA39D475DE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474" b="13898"/>
          <a:stretch>
            <a:fillRect/>
          </a:stretch>
        </p:blipFill>
        <p:spPr bwMode="auto">
          <a:xfrm>
            <a:off x="762000" y="1676400"/>
            <a:ext cx="7539038" cy="481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5CA323DE-FEA2-25E7-0426-AFE3965FD4B8}"/>
              </a:ext>
            </a:extLst>
          </p:cNvPr>
          <p:cNvSpPr>
            <a:spLocks noGrp="1" noChangeArrowheads="1"/>
          </p:cNvSpPr>
          <p:nvPr>
            <p:ph type="title"/>
          </p:nvPr>
        </p:nvSpPr>
        <p:spPr/>
        <p:txBody>
          <a:bodyPr/>
          <a:lstStyle/>
          <a:p>
            <a:r>
              <a:rPr lang="en-US" altLang="en-US"/>
              <a:t>SA Bundle</a:t>
            </a:r>
          </a:p>
        </p:txBody>
      </p:sp>
      <p:sp>
        <p:nvSpPr>
          <p:cNvPr id="916483" name="Rectangle 3">
            <a:extLst>
              <a:ext uri="{FF2B5EF4-FFF2-40B4-BE49-F238E27FC236}">
                <a16:creationId xmlns:a16="http://schemas.microsoft.com/office/drawing/2014/main" id="{AFB2C759-AA2C-6AAB-8C95-53B9814EE601}"/>
              </a:ext>
            </a:extLst>
          </p:cNvPr>
          <p:cNvSpPr>
            <a:spLocks noGrp="1" noChangeArrowheads="1"/>
          </p:cNvSpPr>
          <p:nvPr>
            <p:ph type="body" idx="1"/>
          </p:nvPr>
        </p:nvSpPr>
        <p:spPr/>
        <p:txBody>
          <a:bodyPr/>
          <a:lstStyle/>
          <a:p>
            <a:pPr>
              <a:defRPr/>
            </a:pPr>
            <a:r>
              <a:rPr lang="en-US"/>
              <a:t>More than 1 SA can apply to a packet</a:t>
            </a:r>
          </a:p>
          <a:p>
            <a:pPr>
              <a:defRPr/>
            </a:pPr>
            <a:r>
              <a:rPr lang="en-US"/>
              <a:t>Example: ESP does not authenticate new IP header. How to authenticate?</a:t>
            </a:r>
          </a:p>
          <a:p>
            <a:pPr lvl="1">
              <a:defRPr/>
            </a:pPr>
            <a:r>
              <a:rPr lang="en-US"/>
              <a:t>Use SA to apply ESP w/o authentication to original packet</a:t>
            </a:r>
          </a:p>
          <a:p>
            <a:pPr lvl="1">
              <a:defRPr/>
            </a:pPr>
            <a:r>
              <a:rPr lang="en-US"/>
              <a:t>Use 2</a:t>
            </a:r>
            <a:r>
              <a:rPr lang="en-US" baseline="30000"/>
              <a:t>nd</a:t>
            </a:r>
            <a:r>
              <a:rPr lang="en-US"/>
              <a:t> SA to apply AH</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45D484FD-5DA3-7DB1-3C17-9E91565067B0}"/>
              </a:ext>
            </a:extLst>
          </p:cNvPr>
          <p:cNvSpPr>
            <a:spLocks noGrp="1" noChangeArrowheads="1"/>
          </p:cNvSpPr>
          <p:nvPr>
            <p:ph type="title"/>
          </p:nvPr>
        </p:nvSpPr>
        <p:spPr>
          <a:xfrm>
            <a:off x="1104900" y="0"/>
            <a:ext cx="7772400" cy="1143000"/>
          </a:xfrm>
        </p:spPr>
        <p:txBody>
          <a:bodyPr/>
          <a:lstStyle/>
          <a:p>
            <a:r>
              <a:rPr lang="en-US" altLang="en-US"/>
              <a:t>Outbound Packet Processing...</a:t>
            </a:r>
          </a:p>
        </p:txBody>
      </p:sp>
      <p:sp>
        <p:nvSpPr>
          <p:cNvPr id="915459" name="Rectangle 3">
            <a:extLst>
              <a:ext uri="{FF2B5EF4-FFF2-40B4-BE49-F238E27FC236}">
                <a16:creationId xmlns:a16="http://schemas.microsoft.com/office/drawing/2014/main" id="{539768F0-5472-CDBD-FD79-F237AE175CB0}"/>
              </a:ext>
            </a:extLst>
          </p:cNvPr>
          <p:cNvSpPr>
            <a:spLocks noGrp="1" noChangeArrowheads="1"/>
          </p:cNvSpPr>
          <p:nvPr>
            <p:ph type="body" idx="1"/>
          </p:nvPr>
        </p:nvSpPr>
        <p:spPr>
          <a:xfrm>
            <a:off x="566738" y="939800"/>
            <a:ext cx="8253412" cy="5734050"/>
          </a:xfrm>
        </p:spPr>
        <p:txBody>
          <a:bodyPr/>
          <a:lstStyle/>
          <a:p>
            <a:pPr>
              <a:defRPr/>
            </a:pPr>
            <a:endParaRPr lang="en-US"/>
          </a:p>
          <a:p>
            <a:pPr>
              <a:defRPr/>
            </a:pPr>
            <a:r>
              <a:rPr lang="en-US"/>
              <a:t>Integrity Check Value (ICV) calculation</a:t>
            </a:r>
          </a:p>
          <a:p>
            <a:pPr lvl="1">
              <a:defRPr/>
            </a:pPr>
            <a:r>
              <a:rPr lang="en-US"/>
              <a:t>ICV includes whole ESP packet minus </a:t>
            </a:r>
            <a:r>
              <a:rPr lang="en-US" i="1"/>
              <a:t>authentication data</a:t>
            </a:r>
            <a:r>
              <a:rPr lang="en-US"/>
              <a:t> field</a:t>
            </a:r>
          </a:p>
          <a:p>
            <a:pPr lvl="1">
              <a:defRPr/>
            </a:pPr>
            <a:r>
              <a:rPr lang="en-US"/>
              <a:t>Implicit padding of ‘0’s between </a:t>
            </a:r>
            <a:r>
              <a:rPr lang="en-US" i="1"/>
              <a:t>next header</a:t>
            </a:r>
            <a:r>
              <a:rPr lang="en-US"/>
              <a:t> and </a:t>
            </a:r>
            <a:r>
              <a:rPr lang="en-US" i="1"/>
              <a:t>authentication data</a:t>
            </a:r>
            <a:r>
              <a:rPr lang="en-US"/>
              <a:t> is used to satisfy block size requirement for ICV algorithm</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2DF34999-8A5D-16B5-BD4F-2BDCF8163E1F}"/>
              </a:ext>
            </a:extLst>
          </p:cNvPr>
          <p:cNvSpPr>
            <a:spLocks noGrp="1" noChangeArrowheads="1"/>
          </p:cNvSpPr>
          <p:nvPr>
            <p:ph type="title"/>
          </p:nvPr>
        </p:nvSpPr>
        <p:spPr>
          <a:xfrm>
            <a:off x="1143000" y="0"/>
            <a:ext cx="7772400" cy="1143000"/>
          </a:xfrm>
        </p:spPr>
        <p:txBody>
          <a:bodyPr/>
          <a:lstStyle/>
          <a:p>
            <a:r>
              <a:rPr lang="en-US" altLang="en-US"/>
              <a:t>Inbound Packet Processing</a:t>
            </a:r>
          </a:p>
        </p:txBody>
      </p:sp>
      <p:sp>
        <p:nvSpPr>
          <p:cNvPr id="909315" name="Rectangle 3">
            <a:extLst>
              <a:ext uri="{FF2B5EF4-FFF2-40B4-BE49-F238E27FC236}">
                <a16:creationId xmlns:a16="http://schemas.microsoft.com/office/drawing/2014/main" id="{72275270-974A-FE0B-686F-93921DF604A7}"/>
              </a:ext>
            </a:extLst>
          </p:cNvPr>
          <p:cNvSpPr>
            <a:spLocks noGrp="1" noChangeArrowheads="1"/>
          </p:cNvSpPr>
          <p:nvPr>
            <p:ph type="body" idx="1"/>
          </p:nvPr>
        </p:nvSpPr>
        <p:spPr>
          <a:xfrm>
            <a:off x="1066800" y="1219200"/>
            <a:ext cx="7772400" cy="3162300"/>
          </a:xfrm>
        </p:spPr>
        <p:txBody>
          <a:bodyPr/>
          <a:lstStyle/>
          <a:p>
            <a:pPr>
              <a:defRPr/>
            </a:pPr>
            <a:r>
              <a:rPr lang="en-US"/>
              <a:t>Sequence number checking</a:t>
            </a:r>
          </a:p>
          <a:p>
            <a:pPr lvl="1">
              <a:defRPr/>
            </a:pPr>
            <a:r>
              <a:rPr lang="en-US"/>
              <a:t>Anti-replay is used only if authentication is selected</a:t>
            </a:r>
          </a:p>
          <a:p>
            <a:pPr lvl="1">
              <a:defRPr/>
            </a:pPr>
            <a:r>
              <a:rPr lang="en-US"/>
              <a:t>Sequence number should be the first ESP check on a packet upon looking up an SA</a:t>
            </a:r>
          </a:p>
          <a:p>
            <a:pPr lvl="1">
              <a:defRPr/>
            </a:pPr>
            <a:r>
              <a:rPr lang="en-US"/>
              <a:t>Duplicates are rejected! </a:t>
            </a:r>
          </a:p>
        </p:txBody>
      </p:sp>
      <p:sp>
        <p:nvSpPr>
          <p:cNvPr id="909316" name="Rectangle 4">
            <a:extLst>
              <a:ext uri="{FF2B5EF4-FFF2-40B4-BE49-F238E27FC236}">
                <a16:creationId xmlns:a16="http://schemas.microsoft.com/office/drawing/2014/main" id="{93076436-F727-C021-E477-29723623099A}"/>
              </a:ext>
            </a:extLst>
          </p:cNvPr>
          <p:cNvSpPr>
            <a:spLocks noChangeArrowheads="1"/>
          </p:cNvSpPr>
          <p:nvPr/>
        </p:nvSpPr>
        <p:spPr bwMode="auto">
          <a:xfrm>
            <a:off x="2609850" y="5162550"/>
            <a:ext cx="4591050" cy="85725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09317" name="Line 5">
            <a:extLst>
              <a:ext uri="{FF2B5EF4-FFF2-40B4-BE49-F238E27FC236}">
                <a16:creationId xmlns:a16="http://schemas.microsoft.com/office/drawing/2014/main" id="{0FB5A713-3F45-1921-BDAA-6B1BE5736956}"/>
              </a:ext>
            </a:extLst>
          </p:cNvPr>
          <p:cNvSpPr>
            <a:spLocks noChangeShapeType="1"/>
          </p:cNvSpPr>
          <p:nvPr/>
        </p:nvSpPr>
        <p:spPr bwMode="auto">
          <a:xfrm>
            <a:off x="2609850" y="4953000"/>
            <a:ext cx="0" cy="1314450"/>
          </a:xfrm>
          <a:prstGeom prst="line">
            <a:avLst/>
          </a:prstGeom>
          <a:noFill/>
          <a:ln w="12700">
            <a:solidFill>
              <a:schemeClr val="tx1"/>
            </a:solid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09318" name="Line 6">
            <a:extLst>
              <a:ext uri="{FF2B5EF4-FFF2-40B4-BE49-F238E27FC236}">
                <a16:creationId xmlns:a16="http://schemas.microsoft.com/office/drawing/2014/main" id="{EFD2E154-BC82-409C-27E8-DC43EAA4D715}"/>
              </a:ext>
            </a:extLst>
          </p:cNvPr>
          <p:cNvSpPr>
            <a:spLocks noChangeShapeType="1"/>
          </p:cNvSpPr>
          <p:nvPr/>
        </p:nvSpPr>
        <p:spPr bwMode="auto">
          <a:xfrm>
            <a:off x="7200900" y="4933950"/>
            <a:ext cx="0" cy="1314450"/>
          </a:xfrm>
          <a:prstGeom prst="line">
            <a:avLst/>
          </a:prstGeom>
          <a:noFill/>
          <a:ln w="12700">
            <a:solidFill>
              <a:schemeClr val="tx1"/>
            </a:solid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09319" name="Line 7">
            <a:extLst>
              <a:ext uri="{FF2B5EF4-FFF2-40B4-BE49-F238E27FC236}">
                <a16:creationId xmlns:a16="http://schemas.microsoft.com/office/drawing/2014/main" id="{AA1FF917-A909-6D95-71FA-2488270EE145}"/>
              </a:ext>
            </a:extLst>
          </p:cNvPr>
          <p:cNvSpPr>
            <a:spLocks noChangeShapeType="1"/>
          </p:cNvSpPr>
          <p:nvPr/>
        </p:nvSpPr>
        <p:spPr bwMode="auto">
          <a:xfrm>
            <a:off x="1143000" y="6305550"/>
            <a:ext cx="7677150" cy="0"/>
          </a:xfrm>
          <a:prstGeom prst="line">
            <a:avLst/>
          </a:prstGeom>
          <a:noFill/>
          <a:ln w="12700">
            <a:solidFill>
              <a:schemeClr val="tx1"/>
            </a:solidFill>
            <a:round/>
            <a:headEnd type="none" w="sm" len="sm"/>
            <a:tailEnd type="arrow" w="med" len="me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09320" name="Line 8">
            <a:extLst>
              <a:ext uri="{FF2B5EF4-FFF2-40B4-BE49-F238E27FC236}">
                <a16:creationId xmlns:a16="http://schemas.microsoft.com/office/drawing/2014/main" id="{E3712D28-0FC4-792B-D873-1F3FB2C04905}"/>
              </a:ext>
            </a:extLst>
          </p:cNvPr>
          <p:cNvSpPr>
            <a:spLocks noChangeShapeType="1"/>
          </p:cNvSpPr>
          <p:nvPr/>
        </p:nvSpPr>
        <p:spPr bwMode="auto">
          <a:xfrm>
            <a:off x="1123950" y="6096000"/>
            <a:ext cx="0" cy="247650"/>
          </a:xfrm>
          <a:prstGeom prst="line">
            <a:avLst/>
          </a:prstGeom>
          <a:noFill/>
          <a:ln w="12700">
            <a:solidFill>
              <a:schemeClr val="tx1"/>
            </a:solid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97288" name="Text Box 9">
            <a:extLst>
              <a:ext uri="{FF2B5EF4-FFF2-40B4-BE49-F238E27FC236}">
                <a16:creationId xmlns:a16="http://schemas.microsoft.com/office/drawing/2014/main" id="{E3BD2B8C-DBA9-5360-84B7-1713D59460A4}"/>
              </a:ext>
            </a:extLst>
          </p:cNvPr>
          <p:cNvSpPr txBox="1">
            <a:spLocks noChangeArrowheads="1"/>
          </p:cNvSpPr>
          <p:nvPr/>
        </p:nvSpPr>
        <p:spPr bwMode="auto">
          <a:xfrm>
            <a:off x="1050925" y="5514975"/>
            <a:ext cx="361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0</a:t>
            </a:r>
          </a:p>
        </p:txBody>
      </p:sp>
      <p:sp>
        <p:nvSpPr>
          <p:cNvPr id="97289" name="Text Box 10">
            <a:extLst>
              <a:ext uri="{FF2B5EF4-FFF2-40B4-BE49-F238E27FC236}">
                <a16:creationId xmlns:a16="http://schemas.microsoft.com/office/drawing/2014/main" id="{DF9BF113-E1D7-D5B5-6C5E-2CF1B5F53D1D}"/>
              </a:ext>
            </a:extLst>
          </p:cNvPr>
          <p:cNvSpPr txBox="1">
            <a:spLocks noChangeArrowheads="1"/>
          </p:cNvSpPr>
          <p:nvPr/>
        </p:nvSpPr>
        <p:spPr bwMode="auto">
          <a:xfrm>
            <a:off x="3565525" y="5153025"/>
            <a:ext cx="25241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Sliding Window</a:t>
            </a:r>
          </a:p>
          <a:p>
            <a:pPr>
              <a:spcBef>
                <a:spcPct val="0"/>
              </a:spcBef>
              <a:buClrTx/>
              <a:buSzTx/>
              <a:buFontTx/>
              <a:buNone/>
            </a:pPr>
            <a:r>
              <a:rPr lang="en-US" altLang="en-US" sz="2800"/>
              <a:t>size &gt;= 32</a:t>
            </a:r>
          </a:p>
        </p:txBody>
      </p:sp>
      <p:sp>
        <p:nvSpPr>
          <p:cNvPr id="97290" name="Text Box 11">
            <a:extLst>
              <a:ext uri="{FF2B5EF4-FFF2-40B4-BE49-F238E27FC236}">
                <a16:creationId xmlns:a16="http://schemas.microsoft.com/office/drawing/2014/main" id="{D019F790-D35A-9C2A-A3D3-E20351C81163}"/>
              </a:ext>
            </a:extLst>
          </p:cNvPr>
          <p:cNvSpPr txBox="1">
            <a:spLocks noChangeArrowheads="1"/>
          </p:cNvSpPr>
          <p:nvPr/>
        </p:nvSpPr>
        <p:spPr bwMode="auto">
          <a:xfrm>
            <a:off x="1184275" y="4829175"/>
            <a:ext cx="971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reject</a:t>
            </a:r>
          </a:p>
        </p:txBody>
      </p:sp>
      <p:sp>
        <p:nvSpPr>
          <p:cNvPr id="97291" name="Text Box 12">
            <a:extLst>
              <a:ext uri="{FF2B5EF4-FFF2-40B4-BE49-F238E27FC236}">
                <a16:creationId xmlns:a16="http://schemas.microsoft.com/office/drawing/2014/main" id="{4A3D1FF8-AB52-20D2-999A-12EFE32DD860}"/>
              </a:ext>
            </a:extLst>
          </p:cNvPr>
          <p:cNvSpPr txBox="1">
            <a:spLocks noChangeArrowheads="1"/>
          </p:cNvSpPr>
          <p:nvPr/>
        </p:nvSpPr>
        <p:spPr bwMode="auto">
          <a:xfrm>
            <a:off x="2784475" y="4524375"/>
            <a:ext cx="4179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Check bitmap, verify if new</a:t>
            </a:r>
          </a:p>
        </p:txBody>
      </p:sp>
      <p:sp>
        <p:nvSpPr>
          <p:cNvPr id="97292" name="Text Box 13">
            <a:extLst>
              <a:ext uri="{FF2B5EF4-FFF2-40B4-BE49-F238E27FC236}">
                <a16:creationId xmlns:a16="http://schemas.microsoft.com/office/drawing/2014/main" id="{D8EDBA8B-9B53-6F5D-152C-D9A0DC06F42D}"/>
              </a:ext>
            </a:extLst>
          </p:cNvPr>
          <p:cNvSpPr txBox="1">
            <a:spLocks noChangeArrowheads="1"/>
          </p:cNvSpPr>
          <p:nvPr/>
        </p:nvSpPr>
        <p:spPr bwMode="auto">
          <a:xfrm>
            <a:off x="7470775" y="4810125"/>
            <a:ext cx="10334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verify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BED5C7CA-11CB-12D8-2B28-63E71175943D}"/>
              </a:ext>
            </a:extLst>
          </p:cNvPr>
          <p:cNvSpPr>
            <a:spLocks noGrp="1" noChangeArrowheads="1"/>
          </p:cNvSpPr>
          <p:nvPr>
            <p:ph type="title"/>
          </p:nvPr>
        </p:nvSpPr>
        <p:spPr>
          <a:xfrm>
            <a:off x="1066800" y="0"/>
            <a:ext cx="7772400" cy="1143000"/>
          </a:xfrm>
        </p:spPr>
        <p:txBody>
          <a:bodyPr/>
          <a:lstStyle/>
          <a:p>
            <a:r>
              <a:rPr lang="en-US" altLang="en-US"/>
              <a:t>Anti-replay Feature</a:t>
            </a:r>
          </a:p>
        </p:txBody>
      </p:sp>
      <p:sp>
        <p:nvSpPr>
          <p:cNvPr id="910339" name="Rectangle 3">
            <a:extLst>
              <a:ext uri="{FF2B5EF4-FFF2-40B4-BE49-F238E27FC236}">
                <a16:creationId xmlns:a16="http://schemas.microsoft.com/office/drawing/2014/main" id="{5891D6F4-FD47-81D8-3FA8-324055234ACE}"/>
              </a:ext>
            </a:extLst>
          </p:cNvPr>
          <p:cNvSpPr>
            <a:spLocks noGrp="1" noChangeArrowheads="1"/>
          </p:cNvSpPr>
          <p:nvPr>
            <p:ph type="body" idx="1"/>
          </p:nvPr>
        </p:nvSpPr>
        <p:spPr>
          <a:xfrm>
            <a:off x="1143000" y="1295400"/>
            <a:ext cx="7772400" cy="4724400"/>
          </a:xfrm>
        </p:spPr>
        <p:txBody>
          <a:bodyPr/>
          <a:lstStyle/>
          <a:p>
            <a:pPr>
              <a:defRPr/>
            </a:pPr>
            <a:r>
              <a:rPr lang="en-US"/>
              <a:t>Optional</a:t>
            </a:r>
          </a:p>
          <a:p>
            <a:pPr>
              <a:defRPr/>
            </a:pPr>
            <a:r>
              <a:rPr lang="en-US"/>
              <a:t>Information to enforce held in SA entry</a:t>
            </a:r>
          </a:p>
          <a:p>
            <a:pPr>
              <a:defRPr/>
            </a:pPr>
            <a:r>
              <a:rPr lang="en-US"/>
              <a:t>Sequence number counter - 32 bit for outgoing IPSec packets</a:t>
            </a:r>
          </a:p>
          <a:p>
            <a:pPr>
              <a:defRPr/>
            </a:pPr>
            <a:r>
              <a:rPr lang="en-US"/>
              <a:t>Anti-replay window </a:t>
            </a:r>
          </a:p>
          <a:p>
            <a:pPr lvl="1">
              <a:defRPr/>
            </a:pPr>
            <a:r>
              <a:rPr lang="en-US"/>
              <a:t>32-bit </a:t>
            </a:r>
          </a:p>
          <a:p>
            <a:pPr lvl="1">
              <a:defRPr/>
            </a:pPr>
            <a:r>
              <a:rPr lang="en-US"/>
              <a:t>Bit-map for detecting replayed packets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57B3E1C2-A3FC-6DCF-5B1B-258664A6EA62}"/>
              </a:ext>
            </a:extLst>
          </p:cNvPr>
          <p:cNvSpPr>
            <a:spLocks noGrp="1" noChangeArrowheads="1"/>
          </p:cNvSpPr>
          <p:nvPr>
            <p:ph type="title"/>
          </p:nvPr>
        </p:nvSpPr>
        <p:spPr/>
        <p:txBody>
          <a:bodyPr/>
          <a:lstStyle/>
          <a:p>
            <a:r>
              <a:rPr lang="en-US" altLang="en-US"/>
              <a:t>Anti-replay Sliding Window</a:t>
            </a:r>
          </a:p>
        </p:txBody>
      </p:sp>
      <p:sp>
        <p:nvSpPr>
          <p:cNvPr id="911363" name="Rectangle 3">
            <a:extLst>
              <a:ext uri="{FF2B5EF4-FFF2-40B4-BE49-F238E27FC236}">
                <a16:creationId xmlns:a16="http://schemas.microsoft.com/office/drawing/2014/main" id="{1B074F19-215C-FE18-BF22-5C0BDB087C1C}"/>
              </a:ext>
            </a:extLst>
          </p:cNvPr>
          <p:cNvSpPr>
            <a:spLocks noGrp="1" noChangeArrowheads="1"/>
          </p:cNvSpPr>
          <p:nvPr>
            <p:ph type="body" idx="1"/>
          </p:nvPr>
        </p:nvSpPr>
        <p:spPr/>
        <p:txBody>
          <a:bodyPr/>
          <a:lstStyle/>
          <a:p>
            <a:pPr>
              <a:defRPr/>
            </a:pPr>
            <a:r>
              <a:rPr lang="en-US"/>
              <a:t>Window should not be advanced until the packet has been authenticated</a:t>
            </a:r>
          </a:p>
          <a:p>
            <a:pPr>
              <a:defRPr/>
            </a:pPr>
            <a:r>
              <a:rPr lang="en-US"/>
              <a:t>Without authentication, malicious packets with large sequence numbers can advance window unnecessarily</a:t>
            </a:r>
          </a:p>
          <a:p>
            <a:pPr lvl="1">
              <a:defRPr/>
            </a:pPr>
            <a:r>
              <a:rPr lang="en-US"/>
              <a:t>Valid packets would be dropped!</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E347528D-BC4A-D8E1-F9CF-A368D79D613F}"/>
              </a:ext>
            </a:extLst>
          </p:cNvPr>
          <p:cNvSpPr>
            <a:spLocks noGrp="1" noChangeArrowheads="1"/>
          </p:cNvSpPr>
          <p:nvPr>
            <p:ph type="title"/>
          </p:nvPr>
        </p:nvSpPr>
        <p:spPr/>
        <p:txBody>
          <a:bodyPr/>
          <a:lstStyle/>
          <a:p>
            <a:r>
              <a:rPr lang="en-US" altLang="en-US"/>
              <a:t>ESP Processing - Header Location...</a:t>
            </a:r>
          </a:p>
        </p:txBody>
      </p:sp>
      <p:sp>
        <p:nvSpPr>
          <p:cNvPr id="865283" name="Rectangle 3">
            <a:extLst>
              <a:ext uri="{FF2B5EF4-FFF2-40B4-BE49-F238E27FC236}">
                <a16:creationId xmlns:a16="http://schemas.microsoft.com/office/drawing/2014/main" id="{ABE2556D-6BD3-C777-8277-5FDDADD1A120}"/>
              </a:ext>
            </a:extLst>
          </p:cNvPr>
          <p:cNvSpPr>
            <a:spLocks noGrp="1" noChangeArrowheads="1"/>
          </p:cNvSpPr>
          <p:nvPr>
            <p:ph type="body" idx="1"/>
          </p:nvPr>
        </p:nvSpPr>
        <p:spPr>
          <a:xfrm>
            <a:off x="1143000" y="5715000"/>
            <a:ext cx="7772400" cy="1143000"/>
          </a:xfrm>
        </p:spPr>
        <p:txBody>
          <a:bodyPr/>
          <a:lstStyle/>
          <a:p>
            <a:pPr>
              <a:defRPr/>
            </a:pPr>
            <a:r>
              <a:rPr lang="en-US"/>
              <a:t>Tunnel mode IPv4 and IPv6</a:t>
            </a:r>
          </a:p>
        </p:txBody>
      </p:sp>
      <p:sp>
        <p:nvSpPr>
          <p:cNvPr id="101379" name="Rectangle 4">
            <a:extLst>
              <a:ext uri="{FF2B5EF4-FFF2-40B4-BE49-F238E27FC236}">
                <a16:creationId xmlns:a16="http://schemas.microsoft.com/office/drawing/2014/main" id="{333A31F2-CB80-BD29-373C-30E35DF3BAC1}"/>
              </a:ext>
            </a:extLst>
          </p:cNvPr>
          <p:cNvSpPr>
            <a:spLocks noChangeArrowheads="1"/>
          </p:cNvSpPr>
          <p:nvPr/>
        </p:nvSpPr>
        <p:spPr bwMode="auto">
          <a:xfrm>
            <a:off x="228600" y="4171950"/>
            <a:ext cx="12954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New </a:t>
            </a:r>
          </a:p>
          <a:p>
            <a:pPr algn="ctr">
              <a:spcBef>
                <a:spcPct val="0"/>
              </a:spcBef>
              <a:buClrTx/>
              <a:buSzTx/>
              <a:buFontTx/>
              <a:buNone/>
            </a:pPr>
            <a:r>
              <a:rPr lang="en-US" altLang="en-US" sz="2800"/>
              <a:t>IP hdr</a:t>
            </a:r>
          </a:p>
        </p:txBody>
      </p:sp>
      <p:sp>
        <p:nvSpPr>
          <p:cNvPr id="101380" name="Rectangle 5">
            <a:extLst>
              <a:ext uri="{FF2B5EF4-FFF2-40B4-BE49-F238E27FC236}">
                <a16:creationId xmlns:a16="http://schemas.microsoft.com/office/drawing/2014/main" id="{A884FAD8-BF47-9717-8543-E56407AF2AFF}"/>
              </a:ext>
            </a:extLst>
          </p:cNvPr>
          <p:cNvSpPr>
            <a:spLocks noChangeArrowheads="1"/>
          </p:cNvSpPr>
          <p:nvPr/>
        </p:nvSpPr>
        <p:spPr bwMode="auto">
          <a:xfrm>
            <a:off x="3429000" y="4171950"/>
            <a:ext cx="10668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Orig</a:t>
            </a:r>
          </a:p>
          <a:p>
            <a:pPr algn="ctr">
              <a:spcBef>
                <a:spcPct val="0"/>
              </a:spcBef>
              <a:buClrTx/>
              <a:buSzTx/>
              <a:buFontTx/>
              <a:buNone/>
            </a:pPr>
            <a:r>
              <a:rPr lang="en-US" altLang="en-US" sz="2800"/>
              <a:t>IP hdr</a:t>
            </a:r>
          </a:p>
        </p:txBody>
      </p:sp>
      <p:sp>
        <p:nvSpPr>
          <p:cNvPr id="101381" name="Rectangle 6">
            <a:extLst>
              <a:ext uri="{FF2B5EF4-FFF2-40B4-BE49-F238E27FC236}">
                <a16:creationId xmlns:a16="http://schemas.microsoft.com/office/drawing/2014/main" id="{A7D578D0-CF0F-C1D8-C136-75338959B12E}"/>
              </a:ext>
            </a:extLst>
          </p:cNvPr>
          <p:cNvSpPr>
            <a:spLocks noChangeArrowheads="1"/>
          </p:cNvSpPr>
          <p:nvPr/>
        </p:nvSpPr>
        <p:spPr bwMode="auto">
          <a:xfrm>
            <a:off x="5410200" y="4171950"/>
            <a:ext cx="7620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TCP</a:t>
            </a:r>
          </a:p>
        </p:txBody>
      </p:sp>
      <p:sp>
        <p:nvSpPr>
          <p:cNvPr id="101382" name="Rectangle 7">
            <a:extLst>
              <a:ext uri="{FF2B5EF4-FFF2-40B4-BE49-F238E27FC236}">
                <a16:creationId xmlns:a16="http://schemas.microsoft.com/office/drawing/2014/main" id="{200364C4-736A-5CC3-46B9-3172D5088DA0}"/>
              </a:ext>
            </a:extLst>
          </p:cNvPr>
          <p:cNvSpPr>
            <a:spLocks noChangeArrowheads="1"/>
          </p:cNvSpPr>
          <p:nvPr/>
        </p:nvSpPr>
        <p:spPr bwMode="auto">
          <a:xfrm>
            <a:off x="6172200" y="4171950"/>
            <a:ext cx="7620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Data</a:t>
            </a:r>
          </a:p>
        </p:txBody>
      </p:sp>
      <p:sp>
        <p:nvSpPr>
          <p:cNvPr id="101383" name="Rectangle 8">
            <a:extLst>
              <a:ext uri="{FF2B5EF4-FFF2-40B4-BE49-F238E27FC236}">
                <a16:creationId xmlns:a16="http://schemas.microsoft.com/office/drawing/2014/main" id="{4B1DF0A9-B7E3-A269-60B1-0CF9A572D8AE}"/>
              </a:ext>
            </a:extLst>
          </p:cNvPr>
          <p:cNvSpPr>
            <a:spLocks noChangeArrowheads="1"/>
          </p:cNvSpPr>
          <p:nvPr/>
        </p:nvSpPr>
        <p:spPr bwMode="auto">
          <a:xfrm>
            <a:off x="6934200" y="417195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a:p>
            <a:pPr algn="ctr">
              <a:spcBef>
                <a:spcPct val="0"/>
              </a:spcBef>
              <a:buClrTx/>
              <a:buSzTx/>
              <a:buFontTx/>
              <a:buNone/>
            </a:pPr>
            <a:r>
              <a:rPr lang="en-US" altLang="en-US" sz="2800"/>
              <a:t>trailer</a:t>
            </a:r>
          </a:p>
        </p:txBody>
      </p:sp>
      <p:sp>
        <p:nvSpPr>
          <p:cNvPr id="101384" name="Rectangle 9">
            <a:extLst>
              <a:ext uri="{FF2B5EF4-FFF2-40B4-BE49-F238E27FC236}">
                <a16:creationId xmlns:a16="http://schemas.microsoft.com/office/drawing/2014/main" id="{BDF78305-9827-62FD-25CF-1F1DE88F5307}"/>
              </a:ext>
            </a:extLst>
          </p:cNvPr>
          <p:cNvSpPr>
            <a:spLocks noChangeArrowheads="1"/>
          </p:cNvSpPr>
          <p:nvPr/>
        </p:nvSpPr>
        <p:spPr bwMode="auto">
          <a:xfrm>
            <a:off x="7924800" y="417195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a:p>
            <a:pPr algn="ctr">
              <a:spcBef>
                <a:spcPct val="0"/>
              </a:spcBef>
              <a:buClrTx/>
              <a:buSzTx/>
              <a:buFontTx/>
              <a:buNone/>
            </a:pPr>
            <a:r>
              <a:rPr lang="en-US" altLang="en-US" sz="2800"/>
              <a:t>Auth</a:t>
            </a:r>
          </a:p>
        </p:txBody>
      </p:sp>
      <p:sp>
        <p:nvSpPr>
          <p:cNvPr id="101385" name="Rectangle 10">
            <a:extLst>
              <a:ext uri="{FF2B5EF4-FFF2-40B4-BE49-F238E27FC236}">
                <a16:creationId xmlns:a16="http://schemas.microsoft.com/office/drawing/2014/main" id="{906FA65E-16AE-4C13-6407-4B1152C4A3E6}"/>
              </a:ext>
            </a:extLst>
          </p:cNvPr>
          <p:cNvSpPr>
            <a:spLocks noChangeArrowheads="1"/>
          </p:cNvSpPr>
          <p:nvPr/>
        </p:nvSpPr>
        <p:spPr bwMode="auto">
          <a:xfrm>
            <a:off x="2514600" y="417195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a:p>
            <a:pPr algn="ctr">
              <a:spcBef>
                <a:spcPct val="0"/>
              </a:spcBef>
              <a:buClrTx/>
              <a:buSzTx/>
              <a:buFontTx/>
              <a:buNone/>
            </a:pPr>
            <a:r>
              <a:rPr lang="en-US" altLang="en-US" sz="2800"/>
              <a:t>hdr</a:t>
            </a:r>
          </a:p>
        </p:txBody>
      </p:sp>
      <p:sp>
        <p:nvSpPr>
          <p:cNvPr id="101386" name="Rectangle 11">
            <a:extLst>
              <a:ext uri="{FF2B5EF4-FFF2-40B4-BE49-F238E27FC236}">
                <a16:creationId xmlns:a16="http://schemas.microsoft.com/office/drawing/2014/main" id="{EAF3068F-A675-F779-CA1E-6D0613C7F67B}"/>
              </a:ext>
            </a:extLst>
          </p:cNvPr>
          <p:cNvSpPr>
            <a:spLocks noChangeArrowheads="1"/>
          </p:cNvSpPr>
          <p:nvPr/>
        </p:nvSpPr>
        <p:spPr bwMode="auto">
          <a:xfrm>
            <a:off x="1524000" y="417195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New</a:t>
            </a:r>
          </a:p>
          <a:p>
            <a:pPr algn="ctr">
              <a:spcBef>
                <a:spcPct val="0"/>
              </a:spcBef>
              <a:buClrTx/>
              <a:buSzTx/>
              <a:buFontTx/>
              <a:buNone/>
            </a:pPr>
            <a:r>
              <a:rPr lang="en-US" altLang="en-US" sz="2800"/>
              <a:t>ext hdr</a:t>
            </a:r>
          </a:p>
        </p:txBody>
      </p:sp>
      <p:sp>
        <p:nvSpPr>
          <p:cNvPr id="101387" name="Rectangle 12">
            <a:extLst>
              <a:ext uri="{FF2B5EF4-FFF2-40B4-BE49-F238E27FC236}">
                <a16:creationId xmlns:a16="http://schemas.microsoft.com/office/drawing/2014/main" id="{BBA02EBA-ECB9-C0C1-EB33-BD2AE10BCEA8}"/>
              </a:ext>
            </a:extLst>
          </p:cNvPr>
          <p:cNvSpPr>
            <a:spLocks noChangeArrowheads="1"/>
          </p:cNvSpPr>
          <p:nvPr/>
        </p:nvSpPr>
        <p:spPr bwMode="auto">
          <a:xfrm>
            <a:off x="228600" y="2438400"/>
            <a:ext cx="12954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New </a:t>
            </a:r>
          </a:p>
          <a:p>
            <a:pPr algn="ctr">
              <a:spcBef>
                <a:spcPct val="0"/>
              </a:spcBef>
              <a:buClrTx/>
              <a:buSzTx/>
              <a:buFontTx/>
              <a:buNone/>
            </a:pPr>
            <a:r>
              <a:rPr lang="en-US" altLang="en-US" sz="2800"/>
              <a:t>IP hdr</a:t>
            </a:r>
          </a:p>
        </p:txBody>
      </p:sp>
      <p:sp>
        <p:nvSpPr>
          <p:cNvPr id="101388" name="Rectangle 13">
            <a:extLst>
              <a:ext uri="{FF2B5EF4-FFF2-40B4-BE49-F238E27FC236}">
                <a16:creationId xmlns:a16="http://schemas.microsoft.com/office/drawing/2014/main" id="{39DA1BD8-8918-CAC0-5B44-9723D35770B2}"/>
              </a:ext>
            </a:extLst>
          </p:cNvPr>
          <p:cNvSpPr>
            <a:spLocks noChangeArrowheads="1"/>
          </p:cNvSpPr>
          <p:nvPr/>
        </p:nvSpPr>
        <p:spPr bwMode="auto">
          <a:xfrm>
            <a:off x="4191000" y="243840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TCP</a:t>
            </a:r>
          </a:p>
        </p:txBody>
      </p:sp>
      <p:sp>
        <p:nvSpPr>
          <p:cNvPr id="101389" name="Rectangle 14">
            <a:extLst>
              <a:ext uri="{FF2B5EF4-FFF2-40B4-BE49-F238E27FC236}">
                <a16:creationId xmlns:a16="http://schemas.microsoft.com/office/drawing/2014/main" id="{07181C6D-DE85-2416-1703-2860F573546B}"/>
              </a:ext>
            </a:extLst>
          </p:cNvPr>
          <p:cNvSpPr>
            <a:spLocks noChangeArrowheads="1"/>
          </p:cNvSpPr>
          <p:nvPr/>
        </p:nvSpPr>
        <p:spPr bwMode="auto">
          <a:xfrm>
            <a:off x="5181600" y="243840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Data</a:t>
            </a:r>
          </a:p>
        </p:txBody>
      </p:sp>
      <p:sp>
        <p:nvSpPr>
          <p:cNvPr id="101390" name="Rectangle 15">
            <a:extLst>
              <a:ext uri="{FF2B5EF4-FFF2-40B4-BE49-F238E27FC236}">
                <a16:creationId xmlns:a16="http://schemas.microsoft.com/office/drawing/2014/main" id="{21CE870B-23D0-F205-B8BE-297588F3F8FA}"/>
              </a:ext>
            </a:extLst>
          </p:cNvPr>
          <p:cNvSpPr>
            <a:spLocks noChangeArrowheads="1"/>
          </p:cNvSpPr>
          <p:nvPr/>
        </p:nvSpPr>
        <p:spPr bwMode="auto">
          <a:xfrm>
            <a:off x="6172200" y="243840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a:p>
            <a:pPr algn="ctr">
              <a:spcBef>
                <a:spcPct val="0"/>
              </a:spcBef>
              <a:buClrTx/>
              <a:buSzTx/>
              <a:buFontTx/>
              <a:buNone/>
            </a:pPr>
            <a:r>
              <a:rPr lang="en-US" altLang="en-US" sz="2800"/>
              <a:t>trailer</a:t>
            </a:r>
          </a:p>
        </p:txBody>
      </p:sp>
      <p:sp>
        <p:nvSpPr>
          <p:cNvPr id="101391" name="Rectangle 16">
            <a:extLst>
              <a:ext uri="{FF2B5EF4-FFF2-40B4-BE49-F238E27FC236}">
                <a16:creationId xmlns:a16="http://schemas.microsoft.com/office/drawing/2014/main" id="{CCDD1F70-B563-8C23-5140-3E4F49A9E3E2}"/>
              </a:ext>
            </a:extLst>
          </p:cNvPr>
          <p:cNvSpPr>
            <a:spLocks noChangeArrowheads="1"/>
          </p:cNvSpPr>
          <p:nvPr/>
        </p:nvSpPr>
        <p:spPr bwMode="auto">
          <a:xfrm>
            <a:off x="7162800" y="243840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a:p>
            <a:pPr algn="ctr">
              <a:spcBef>
                <a:spcPct val="0"/>
              </a:spcBef>
              <a:buClrTx/>
              <a:buSzTx/>
              <a:buFontTx/>
              <a:buNone/>
            </a:pPr>
            <a:r>
              <a:rPr lang="en-US" altLang="en-US" sz="2800"/>
              <a:t>Auth</a:t>
            </a:r>
          </a:p>
        </p:txBody>
      </p:sp>
      <p:sp>
        <p:nvSpPr>
          <p:cNvPr id="101392" name="Rectangle 17">
            <a:extLst>
              <a:ext uri="{FF2B5EF4-FFF2-40B4-BE49-F238E27FC236}">
                <a16:creationId xmlns:a16="http://schemas.microsoft.com/office/drawing/2014/main" id="{499F1E92-A20E-29AF-5FF2-2FB2E4D2F16D}"/>
              </a:ext>
            </a:extLst>
          </p:cNvPr>
          <p:cNvSpPr>
            <a:spLocks noChangeArrowheads="1"/>
          </p:cNvSpPr>
          <p:nvPr/>
        </p:nvSpPr>
        <p:spPr bwMode="auto">
          <a:xfrm>
            <a:off x="2514600" y="2438400"/>
            <a:ext cx="16764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Orig</a:t>
            </a:r>
          </a:p>
          <a:p>
            <a:pPr algn="ctr">
              <a:spcBef>
                <a:spcPct val="0"/>
              </a:spcBef>
              <a:buClrTx/>
              <a:buSzTx/>
              <a:buFontTx/>
              <a:buNone/>
            </a:pPr>
            <a:r>
              <a:rPr lang="en-US" altLang="en-US" sz="2800"/>
              <a:t>IP hdr</a:t>
            </a:r>
          </a:p>
        </p:txBody>
      </p:sp>
      <p:sp>
        <p:nvSpPr>
          <p:cNvPr id="101393" name="Rectangle 18">
            <a:extLst>
              <a:ext uri="{FF2B5EF4-FFF2-40B4-BE49-F238E27FC236}">
                <a16:creationId xmlns:a16="http://schemas.microsoft.com/office/drawing/2014/main" id="{E4473867-3C8F-8BEF-299B-637E6D28B1E0}"/>
              </a:ext>
            </a:extLst>
          </p:cNvPr>
          <p:cNvSpPr>
            <a:spLocks noChangeArrowheads="1"/>
          </p:cNvSpPr>
          <p:nvPr/>
        </p:nvSpPr>
        <p:spPr bwMode="auto">
          <a:xfrm>
            <a:off x="1524000" y="243840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ESP</a:t>
            </a:r>
          </a:p>
          <a:p>
            <a:pPr algn="ctr">
              <a:spcBef>
                <a:spcPct val="0"/>
              </a:spcBef>
              <a:buClrTx/>
              <a:buSzTx/>
              <a:buFontTx/>
              <a:buNone/>
            </a:pPr>
            <a:r>
              <a:rPr lang="en-US" altLang="en-US" sz="2800"/>
              <a:t>hdr</a:t>
            </a:r>
          </a:p>
        </p:txBody>
      </p:sp>
      <p:sp>
        <p:nvSpPr>
          <p:cNvPr id="101394" name="Rectangle 19">
            <a:extLst>
              <a:ext uri="{FF2B5EF4-FFF2-40B4-BE49-F238E27FC236}">
                <a16:creationId xmlns:a16="http://schemas.microsoft.com/office/drawing/2014/main" id="{F8874C69-CB29-03FB-8E05-3B05781DDC4C}"/>
              </a:ext>
            </a:extLst>
          </p:cNvPr>
          <p:cNvSpPr>
            <a:spLocks noChangeArrowheads="1"/>
          </p:cNvSpPr>
          <p:nvPr/>
        </p:nvSpPr>
        <p:spPr bwMode="auto">
          <a:xfrm>
            <a:off x="4495800" y="4171950"/>
            <a:ext cx="990600" cy="838200"/>
          </a:xfrm>
          <a:prstGeom prst="rect">
            <a:avLst/>
          </a:prstGeom>
          <a:solidFill>
            <a:schemeClr val="accent1"/>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800"/>
              <a:t>Orig</a:t>
            </a:r>
          </a:p>
          <a:p>
            <a:pPr algn="ctr">
              <a:spcBef>
                <a:spcPct val="0"/>
              </a:spcBef>
              <a:buClrTx/>
              <a:buSzTx/>
              <a:buFontTx/>
              <a:buNone/>
            </a:pPr>
            <a:r>
              <a:rPr lang="en-US" altLang="en-US" sz="2800"/>
              <a:t>ext hdr</a:t>
            </a:r>
          </a:p>
        </p:txBody>
      </p:sp>
      <p:sp>
        <p:nvSpPr>
          <p:cNvPr id="101395" name="Text Box 20">
            <a:extLst>
              <a:ext uri="{FF2B5EF4-FFF2-40B4-BE49-F238E27FC236}">
                <a16:creationId xmlns:a16="http://schemas.microsoft.com/office/drawing/2014/main" id="{7CA2D891-5659-6A43-A954-E04C25837249}"/>
              </a:ext>
            </a:extLst>
          </p:cNvPr>
          <p:cNvSpPr txBox="1">
            <a:spLocks noChangeArrowheads="1"/>
          </p:cNvSpPr>
          <p:nvPr/>
        </p:nvSpPr>
        <p:spPr bwMode="auto">
          <a:xfrm>
            <a:off x="212725" y="1743075"/>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IPv4</a:t>
            </a:r>
          </a:p>
        </p:txBody>
      </p:sp>
      <p:sp>
        <p:nvSpPr>
          <p:cNvPr id="101396" name="Text Box 21">
            <a:extLst>
              <a:ext uri="{FF2B5EF4-FFF2-40B4-BE49-F238E27FC236}">
                <a16:creationId xmlns:a16="http://schemas.microsoft.com/office/drawing/2014/main" id="{023CF8B9-E5D9-6351-40CD-EE7DDAEAAB46}"/>
              </a:ext>
            </a:extLst>
          </p:cNvPr>
          <p:cNvSpPr txBox="1">
            <a:spLocks noChangeArrowheads="1"/>
          </p:cNvSpPr>
          <p:nvPr/>
        </p:nvSpPr>
        <p:spPr bwMode="auto">
          <a:xfrm>
            <a:off x="346075" y="3533775"/>
            <a:ext cx="857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tx2"/>
              </a:buClr>
              <a:buSzPct val="75000"/>
              <a:buFont typeface="Monotype Sorts" pitchFamily="2" charset="2"/>
              <a:buChar char="n"/>
              <a:defRPr sz="3200">
                <a:solidFill>
                  <a:schemeClr val="tx1"/>
                </a:solidFill>
                <a:latin typeface="Times New Roman" panose="02020603050405020304" pitchFamily="18" charset="0"/>
              </a:defRPr>
            </a:lvl1pPr>
            <a:lvl2pPr marL="742950" indent="-285750">
              <a:spcBef>
                <a:spcPct val="20000"/>
              </a:spcBef>
              <a:buClr>
                <a:schemeClr val="folHlink"/>
              </a:buClr>
              <a:buSzPct val="75000"/>
              <a:buFont typeface="Monotype Sorts" pitchFamily="2" charset="2"/>
              <a:buChar char="u"/>
              <a:defRPr sz="2800">
                <a:solidFill>
                  <a:schemeClr val="tx1"/>
                </a:solidFill>
                <a:latin typeface="Times New Roman" panose="02020603050405020304" pitchFamily="18" charset="0"/>
              </a:defRPr>
            </a:lvl2pPr>
            <a:lvl3pPr marL="1143000" indent="-228600">
              <a:spcBef>
                <a:spcPct val="20000"/>
              </a:spcBef>
              <a:buClr>
                <a:schemeClr val="tx2"/>
              </a:buClr>
              <a:buSzPct val="65000"/>
              <a:buFont typeface="Monotype Sorts" pitchFamily="2" charset="2"/>
              <a:buChar char="F"/>
              <a:defRPr sz="2400">
                <a:solidFill>
                  <a:schemeClr val="tx1"/>
                </a:solidFill>
                <a:latin typeface="Times New Roman" panose="02020603050405020304" pitchFamily="18" charset="0"/>
              </a:defRPr>
            </a:lvl3pPr>
            <a:lvl4pPr marL="1600200" indent="-228600">
              <a:spcBef>
                <a:spcPct val="20000"/>
              </a:spcBef>
              <a:buClr>
                <a:schemeClr val="tx1"/>
              </a:buClr>
              <a:buSzPct val="100000"/>
              <a:buChar char="•"/>
              <a:defRPr sz="2000">
                <a:solidFill>
                  <a:schemeClr val="tx1"/>
                </a:solidFill>
                <a:latin typeface="Times New Roman" panose="02020603050405020304" pitchFamily="18" charset="0"/>
              </a:defRPr>
            </a:lvl4pPr>
            <a:lvl5pPr marL="2057400" indent="-228600">
              <a:spcBef>
                <a:spcPct val="20000"/>
              </a:spcBef>
              <a:buClr>
                <a:schemeClr val="tx1"/>
              </a:buClr>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1"/>
              </a:buClr>
              <a:buSzPct val="100000"/>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800"/>
              <a:t>IPv6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464A5F1D-BBFB-E520-2576-DC5ACC8AB832}"/>
              </a:ext>
            </a:extLst>
          </p:cNvPr>
          <p:cNvSpPr>
            <a:spLocks noGrp="1" noChangeArrowheads="1"/>
          </p:cNvSpPr>
          <p:nvPr>
            <p:ph type="title"/>
          </p:nvPr>
        </p:nvSpPr>
        <p:spPr>
          <a:xfrm>
            <a:off x="862013" y="233363"/>
            <a:ext cx="7772400" cy="1143000"/>
          </a:xfrm>
        </p:spPr>
        <p:txBody>
          <a:bodyPr/>
          <a:lstStyle/>
          <a:p>
            <a:r>
              <a:rPr lang="en-US" altLang="en-US"/>
              <a:t>Key Management</a:t>
            </a:r>
            <a:endParaRPr lang="en-AU" altLang="en-US"/>
          </a:p>
        </p:txBody>
      </p:sp>
      <p:sp>
        <p:nvSpPr>
          <p:cNvPr id="941059" name="Rectangle 3">
            <a:extLst>
              <a:ext uri="{FF2B5EF4-FFF2-40B4-BE49-F238E27FC236}">
                <a16:creationId xmlns:a16="http://schemas.microsoft.com/office/drawing/2014/main" id="{36C48A0C-7E84-5203-45FC-0D38FE9F805B}"/>
              </a:ext>
            </a:extLst>
          </p:cNvPr>
          <p:cNvSpPr>
            <a:spLocks noGrp="1" noChangeArrowheads="1"/>
          </p:cNvSpPr>
          <p:nvPr>
            <p:ph type="body" idx="1"/>
          </p:nvPr>
        </p:nvSpPr>
        <p:spPr>
          <a:xfrm>
            <a:off x="485775" y="1630363"/>
            <a:ext cx="8429625" cy="5016500"/>
          </a:xfrm>
        </p:spPr>
        <p:txBody>
          <a:bodyPr/>
          <a:lstStyle/>
          <a:p>
            <a:pPr>
              <a:lnSpc>
                <a:spcPct val="90000"/>
              </a:lnSpc>
              <a:defRPr/>
            </a:pPr>
            <a:r>
              <a:rPr lang="en-US"/>
              <a:t>Handles key generation &amp; distribution</a:t>
            </a:r>
          </a:p>
          <a:p>
            <a:pPr>
              <a:lnSpc>
                <a:spcPct val="90000"/>
              </a:lnSpc>
              <a:defRPr/>
            </a:pPr>
            <a:r>
              <a:rPr lang="en-US"/>
              <a:t>Typically need 2 pairs of keys</a:t>
            </a:r>
          </a:p>
          <a:p>
            <a:pPr lvl="1">
              <a:lnSpc>
                <a:spcPct val="90000"/>
              </a:lnSpc>
              <a:defRPr/>
            </a:pPr>
            <a:r>
              <a:rPr lang="en-US"/>
              <a:t>2 per direction for AH &amp; ESP</a:t>
            </a:r>
          </a:p>
          <a:p>
            <a:pPr>
              <a:lnSpc>
                <a:spcPct val="90000"/>
              </a:lnSpc>
              <a:defRPr/>
            </a:pPr>
            <a:r>
              <a:rPr lang="en-US"/>
              <a:t>Manual key management</a:t>
            </a:r>
          </a:p>
          <a:p>
            <a:pPr lvl="1">
              <a:lnSpc>
                <a:spcPct val="90000"/>
              </a:lnSpc>
              <a:defRPr/>
            </a:pPr>
            <a:r>
              <a:rPr lang="en-US"/>
              <a:t>Sysadmin manually configures every system</a:t>
            </a:r>
          </a:p>
          <a:p>
            <a:pPr>
              <a:lnSpc>
                <a:spcPct val="90000"/>
              </a:lnSpc>
              <a:defRPr/>
            </a:pPr>
            <a:r>
              <a:rPr lang="en-US"/>
              <a:t>Automated key management</a:t>
            </a:r>
          </a:p>
          <a:p>
            <a:pPr lvl="1">
              <a:lnSpc>
                <a:spcPct val="90000"/>
              </a:lnSpc>
              <a:defRPr/>
            </a:pPr>
            <a:r>
              <a:rPr lang="en-US"/>
              <a:t>Automated system for on demand creation of keys for SA’s in large systems</a:t>
            </a:r>
          </a:p>
        </p:txBody>
      </p:sp>
    </p:spTree>
  </p:cSld>
  <p:clrMapOvr>
    <a:masterClrMapping/>
  </p:clrMapOvr>
</p:sld>
</file>

<file path=ppt/theme/theme1.xml><?xml version="1.0" encoding="utf-8"?>
<a:theme xmlns:a="http://schemas.openxmlformats.org/drawingml/2006/main" name="591wF97">
  <a:themeElements>
    <a:clrScheme name="591wF97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fontScheme name="591wF97">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591wF97 1">
        <a:dk1>
          <a:srgbClr val="000000"/>
        </a:dk1>
        <a:lt1>
          <a:srgbClr val="FFFFFF"/>
        </a:lt1>
        <a:dk2>
          <a:srgbClr val="3333FF"/>
        </a:dk2>
        <a:lt2>
          <a:srgbClr val="00FFFF"/>
        </a:lt2>
        <a:accent1>
          <a:srgbClr val="00CCCC"/>
        </a:accent1>
        <a:accent2>
          <a:srgbClr val="CC99FF"/>
        </a:accent2>
        <a:accent3>
          <a:srgbClr val="ADADFF"/>
        </a:accent3>
        <a:accent4>
          <a:srgbClr val="DADADA"/>
        </a:accent4>
        <a:accent5>
          <a:srgbClr val="AAE2E2"/>
        </a:accent5>
        <a:accent6>
          <a:srgbClr val="B98AE7"/>
        </a:accent6>
        <a:hlink>
          <a:srgbClr val="6600CC"/>
        </a:hlink>
        <a:folHlink>
          <a:srgbClr val="6699FF"/>
        </a:folHlink>
      </a:clrScheme>
      <a:clrMap bg1="dk2" tx1="lt1" bg2="dk1" tx2="lt2" accent1="accent1" accent2="accent2" accent3="accent3" accent4="accent4" accent5="accent5" accent6="accent6" hlink="hlink" folHlink="folHlink"/>
    </a:extraClrScheme>
    <a:extraClrScheme>
      <a:clrScheme name="591wF97 2">
        <a:dk1>
          <a:srgbClr val="000000"/>
        </a:dk1>
        <a:lt1>
          <a:srgbClr val="CCECFF"/>
        </a:lt1>
        <a:dk2>
          <a:srgbClr val="330099"/>
        </a:dk2>
        <a:lt2>
          <a:srgbClr val="0099CC"/>
        </a:lt2>
        <a:accent1>
          <a:srgbClr val="009999"/>
        </a:accent1>
        <a:accent2>
          <a:srgbClr val="FF99CC"/>
        </a:accent2>
        <a:accent3>
          <a:srgbClr val="E2F4FF"/>
        </a:accent3>
        <a:accent4>
          <a:srgbClr val="000000"/>
        </a:accent4>
        <a:accent5>
          <a:srgbClr val="AACACA"/>
        </a:accent5>
        <a:accent6>
          <a:srgbClr val="E78AB9"/>
        </a:accent6>
        <a:hlink>
          <a:srgbClr val="6600CC"/>
        </a:hlink>
        <a:folHlink>
          <a:srgbClr val="3366FF"/>
        </a:folHlink>
      </a:clrScheme>
      <a:clrMap bg1="lt1" tx1="dk1" bg2="lt2" tx2="dk2" accent1="accent1" accent2="accent2" accent3="accent3" accent4="accent4" accent5="accent5" accent6="accent6" hlink="hlink" folHlink="folHlink"/>
    </a:extraClrScheme>
    <a:extraClrScheme>
      <a:clrScheme name="591wF97 3">
        <a:dk1>
          <a:srgbClr val="000000"/>
        </a:dk1>
        <a:lt1>
          <a:srgbClr val="FFFFFF"/>
        </a:lt1>
        <a:dk2>
          <a:srgbClr val="000000"/>
        </a:dk2>
        <a:lt2>
          <a:srgbClr val="CBCBCB"/>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30EDD0F8EC9745A4F8E9789A86D3D8" ma:contentTypeVersion="3" ma:contentTypeDescription="Create a new document." ma:contentTypeScope="" ma:versionID="c5dcf0e65b09502e7e7a2955a92ac026">
  <xsd:schema xmlns:xsd="http://www.w3.org/2001/XMLSchema" xmlns:xs="http://www.w3.org/2001/XMLSchema" xmlns:p="http://schemas.microsoft.com/office/2006/metadata/properties" xmlns:ns2="58e49a15-ee46-4812-a9dc-1828e7c0061e" targetNamespace="http://schemas.microsoft.com/office/2006/metadata/properties" ma:root="true" ma:fieldsID="5cbac4acb39b9841d740609236632a2b" ns2:_="">
    <xsd:import namespace="58e49a15-ee46-4812-a9dc-1828e7c0061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e49a15-ee46-4812-a9dc-1828e7c006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AD4520-A0ED-459E-8B57-1950DF47C4A0}">
  <ds:schemaRefs>
    <ds:schemaRef ds:uri="http://schemas.microsoft.com/sharepoint/v3/contenttype/forms"/>
  </ds:schemaRefs>
</ds:datastoreItem>
</file>

<file path=customXml/itemProps2.xml><?xml version="1.0" encoding="utf-8"?>
<ds:datastoreItem xmlns:ds="http://schemas.openxmlformats.org/officeDocument/2006/customXml" ds:itemID="{93E7425A-F6A6-4BA7-8632-8E296E4BA8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e49a15-ee46-4812-a9dc-1828e7c006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C:\MSOffice\Templates\591wF97.pot</Template>
  <TotalTime>11261</TotalTime>
  <Words>3908</Words>
  <Application>Microsoft Office PowerPoint</Application>
  <PresentationFormat>On-screen Show (4:3)</PresentationFormat>
  <Paragraphs>610</Paragraphs>
  <Slides>62</Slides>
  <Notes>24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2" baseType="lpstr">
      <vt:lpstr>Times New Roman</vt:lpstr>
      <vt:lpstr>Arial</vt:lpstr>
      <vt:lpstr>Monotype Sorts</vt:lpstr>
      <vt:lpstr>Times-Roman</vt:lpstr>
      <vt:lpstr>Wingdings</vt:lpstr>
      <vt:lpstr>Helvetica</vt:lpstr>
      <vt:lpstr>Calibri</vt:lpstr>
      <vt:lpstr>SimSun</vt:lpstr>
      <vt:lpstr>591wF97</vt:lpstr>
      <vt:lpstr>Microsoft Clip Gallery</vt:lpstr>
      <vt:lpstr>PowerPoint Presentation</vt:lpstr>
      <vt:lpstr>IP Security</vt:lpstr>
      <vt:lpstr>IPSec</vt:lpstr>
      <vt:lpstr>IPSec Uses</vt:lpstr>
      <vt:lpstr>VPN</vt:lpstr>
      <vt:lpstr>Benefits of IPSec</vt:lpstr>
      <vt:lpstr>IP Security Architecture</vt:lpstr>
      <vt:lpstr>Architecture &amp; Concepts</vt:lpstr>
      <vt:lpstr>PowerPoint Presentation</vt:lpstr>
      <vt:lpstr>Transport Mode</vt:lpstr>
      <vt:lpstr>Tunnel Mode</vt:lpstr>
      <vt:lpstr>IPSec In Depth</vt:lpstr>
      <vt:lpstr>Encapsulated Security Payload (ESP)</vt:lpstr>
      <vt:lpstr>IPSec Encapsulating Security Payload (ESP) in Transport Mode</vt:lpstr>
      <vt:lpstr>IPSec ESP Tunnel Mode</vt:lpstr>
      <vt:lpstr>Authentication Header (AH)</vt:lpstr>
      <vt:lpstr>IPSec Authentication Header (AH) in Transport Mode</vt:lpstr>
      <vt:lpstr>IPSec AH Tunnel Mode</vt:lpstr>
      <vt:lpstr>Internet Key Exchange (IKE)</vt:lpstr>
      <vt:lpstr>Main Mode</vt:lpstr>
      <vt:lpstr>Main Mode (Kerberos)</vt:lpstr>
      <vt:lpstr>Main Mode (Certificate)</vt:lpstr>
      <vt:lpstr>Main Mode (Pre-shared Key)</vt:lpstr>
      <vt:lpstr>Quick Mode</vt:lpstr>
      <vt:lpstr>Quick Mode Negotiation</vt:lpstr>
      <vt:lpstr>Architecture &amp; Concepts</vt:lpstr>
      <vt:lpstr>Security Association - SA</vt:lpstr>
      <vt:lpstr>Security Parameters Index - SPI </vt:lpstr>
      <vt:lpstr>SA Database - SAD</vt:lpstr>
      <vt:lpstr>Security Policy Database - SPD</vt:lpstr>
      <vt:lpstr>Security Policy Database - SPD</vt:lpstr>
      <vt:lpstr>SPD Entry Actions</vt:lpstr>
      <vt:lpstr>SPD Protect Action</vt:lpstr>
      <vt:lpstr>Outbound Processing</vt:lpstr>
      <vt:lpstr>Inbound Processing</vt:lpstr>
      <vt:lpstr>Architecture &amp; Concepts</vt:lpstr>
      <vt:lpstr>Authenticated Header</vt:lpstr>
      <vt:lpstr>IPSec Authenticated Header</vt:lpstr>
      <vt:lpstr>Integrity Check Value - ICV</vt:lpstr>
      <vt:lpstr>AH: Tunnel and Transport Mode</vt:lpstr>
      <vt:lpstr>Encapsulating Security Payload (ESP)</vt:lpstr>
      <vt:lpstr>ESP: Tunnel and Transport Mode</vt:lpstr>
      <vt:lpstr>Outbound Packet Processing</vt:lpstr>
      <vt:lpstr>ESP Transport Example</vt:lpstr>
      <vt:lpstr>Inbound Packet Processing...</vt:lpstr>
      <vt:lpstr>Architecture &amp; Concepts</vt:lpstr>
      <vt:lpstr>IPSec Pros</vt:lpstr>
      <vt:lpstr>IPSec Cons</vt:lpstr>
      <vt:lpstr>NATs</vt:lpstr>
      <vt:lpstr>NAT types</vt:lpstr>
      <vt:lpstr>NAT Example</vt:lpstr>
      <vt:lpstr>Will IPSec Work with NAT ?</vt:lpstr>
      <vt:lpstr>Backup Slides</vt:lpstr>
      <vt:lpstr>Combining Security Associations</vt:lpstr>
      <vt:lpstr>Combining Security Associations</vt:lpstr>
      <vt:lpstr>SA Bundle</vt:lpstr>
      <vt:lpstr>Outbound Packet Processing...</vt:lpstr>
      <vt:lpstr>Inbound Packet Processing</vt:lpstr>
      <vt:lpstr>Anti-replay Feature</vt:lpstr>
      <vt:lpstr>Anti-replay Sliding Window</vt:lpstr>
      <vt:lpstr>ESP Processing - Header Location...</vt:lpstr>
      <vt:lpstr>Key Management</vt:lpstr>
    </vt:vector>
  </TitlesOfParts>
  <Company>MCNC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dc:title>
  <dc:creator>Fengmin Gong</dc:creator>
  <cp:lastModifiedBy>Saharsh Laud</cp:lastModifiedBy>
  <cp:revision>495</cp:revision>
  <dcterms:created xsi:type="dcterms:W3CDTF">1995-06-02T21:27:28Z</dcterms:created>
  <dcterms:modified xsi:type="dcterms:W3CDTF">2026-04-15T11:17:54Z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2</vt:i4>
  </property>
  <property fmtid="{D5CDD505-2E9C-101B-9397-08002B2CF9AE}" pid="4" name="Compression">
    <vt:i4>100</vt:i4>
  </property>
  <property fmtid="{D5CDD505-2E9C-101B-9397-08002B2CF9AE}" pid="5" name="ScreenSize">
    <vt:i4>1</vt:i4>
  </property>
  <property fmtid="{D5CDD505-2E9C-101B-9397-08002B2CF9AE}" pid="6" name="ScreenUsage">
    <vt:i4>2</vt:i4>
  </property>
  <property fmtid="{D5CDD505-2E9C-101B-9397-08002B2CF9AE}" pid="7" name="MailAddress">
    <vt:lpwstr>gong@mcnc.org</vt:lpwstr>
  </property>
  <property fmtid="{D5CDD505-2E9C-101B-9397-08002B2CF9AE}" pid="8" name="HomePage">
    <vt:lpwstr>http://www.mcnc.org</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2</vt:i4>
  </property>
  <property fmtid="{D5CDD505-2E9C-101B-9397-08002B2CF9AE}" pid="21" name="OutputDir">
    <vt:lpwstr>C:\fmg\cs591w</vt:lpwstr>
  </property>
</Properties>
</file>